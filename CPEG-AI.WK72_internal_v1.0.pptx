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4" r:id="rId1"/>
  </p:sldMasterIdLst>
  <p:notesMasterIdLst>
    <p:notesMasterId r:id="rId12"/>
  </p:notesMasterIdLst>
  <p:handoutMasterIdLst>
    <p:handoutMasterId r:id="rId13"/>
  </p:handoutMasterIdLst>
  <p:sldIdLst>
    <p:sldId id="256" r:id="rId2"/>
    <p:sldId id="2147377428" r:id="rId3"/>
    <p:sldId id="306" r:id="rId4"/>
    <p:sldId id="311" r:id="rId5"/>
    <p:sldId id="2147377456" r:id="rId6"/>
    <p:sldId id="2147377463" r:id="rId7"/>
    <p:sldId id="2147377470" r:id="rId8"/>
    <p:sldId id="299" r:id="rId9"/>
    <p:sldId id="300" r:id="rId10"/>
    <p:sldId id="287" r:id="rId1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User" initials="U" lastIdx="1" clrIdx="2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  <a:srgbClr val="FFFFFF"/>
    <a:srgbClr val="D9D9D9"/>
    <a:srgbClr val="DEEBF7"/>
    <a:srgbClr val="0000CC"/>
    <a:srgbClr val="002F77"/>
    <a:srgbClr val="FFC000"/>
    <a:srgbClr val="002060"/>
    <a:srgbClr val="FFF2CC"/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5763" autoAdjust="0"/>
  </p:normalViewPr>
  <p:slideViewPr>
    <p:cSldViewPr snapToGrid="0">
      <p:cViewPr varScale="1">
        <p:scale>
          <a:sx n="82" d="100"/>
          <a:sy n="82" d="100"/>
        </p:scale>
        <p:origin x="65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2026/5/15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69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568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7">
            <a:extLst>
              <a:ext uri="{FF2B5EF4-FFF2-40B4-BE49-F238E27FC236}">
                <a16:creationId xmlns:a16="http://schemas.microsoft.com/office/drawing/2014/main" id="{2D16C9FE-4D6A-E217-10C8-803D673361A6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178"/>
            <a:ext cx="457200" cy="57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38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s for list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87082A3D-08FC-4EF5-9145-7DCFDBB543BD}"/>
              </a:ext>
            </a:extLst>
          </p:cNvPr>
          <p:cNvSpPr/>
          <p:nvPr userDrawn="1"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8F0943-FF36-4C0E-9490-A58E4773E013}"/>
              </a:ext>
            </a:extLst>
          </p:cNvPr>
          <p:cNvSpPr txBox="1"/>
          <p:nvPr userDrawn="1"/>
        </p:nvSpPr>
        <p:spPr>
          <a:xfrm>
            <a:off x="3772452" y="2557117"/>
            <a:ext cx="46987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211805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基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5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BCBDF83-C8B4-FF0D-2FD5-57C97F5327CC}"/>
              </a:ext>
            </a:extLst>
          </p:cNvPr>
          <p:cNvGrpSpPr/>
          <p:nvPr userDrawn="1"/>
        </p:nvGrpSpPr>
        <p:grpSpPr>
          <a:xfrm>
            <a:off x="0" y="6635694"/>
            <a:ext cx="5019048" cy="222306"/>
            <a:chOff x="3586476" y="3246538"/>
            <a:chExt cx="5019048" cy="27699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382ACB-6970-78F3-C91C-B55E26F8F7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>
              <a:off x="3586476" y="3246538"/>
              <a:ext cx="5019048" cy="27699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3E9BE5-D84B-7B1C-823B-6E2ED23D9AA4}"/>
                </a:ext>
              </a:extLst>
            </p:cNvPr>
            <p:cNvSpPr txBox="1"/>
            <p:nvPr userDrawn="1"/>
          </p:nvSpPr>
          <p:spPr>
            <a:xfrm>
              <a:off x="3586476" y="3246539"/>
              <a:ext cx="5019048" cy="2168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2026 FII Confidential. All Rights Reserved.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93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8" r:id="rId2"/>
    <p:sldLayoutId id="2147483677" r:id="rId3"/>
    <p:sldLayoutId id="214748368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思源黑体 CN Heavy" panose="020B0A00000000000000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思源黑体 CN Normal" panose="020B0400000000000000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6">
            <a:extLst>
              <a:ext uri="{FF2B5EF4-FFF2-40B4-BE49-F238E27FC236}">
                <a16:creationId xmlns:a16="http://schemas.microsoft.com/office/drawing/2014/main" id="{972BC272-7DE7-FE9C-2364-E180D01F2F07}"/>
              </a:ext>
            </a:extLst>
          </p:cNvPr>
          <p:cNvSpPr txBox="1"/>
          <p:nvPr/>
        </p:nvSpPr>
        <p:spPr>
          <a:xfrm>
            <a:off x="1349831" y="2505670"/>
            <a:ext cx="6041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CPEG-AI</a:t>
            </a:r>
            <a:r>
              <a:rPr lang="zh-CN" altLang="en-US" sz="5400" b="1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周报</a:t>
            </a:r>
            <a:endParaRPr lang="zh-CN" altLang="en-US" sz="5400" b="1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本框 9">
            <a:extLst>
              <a:ext uri="{FF2B5EF4-FFF2-40B4-BE49-F238E27FC236}">
                <a16:creationId xmlns:a16="http://schemas.microsoft.com/office/drawing/2014/main" id="{8AEECC39-86B4-D157-807C-017D00FC5713}"/>
              </a:ext>
            </a:extLst>
          </p:cNvPr>
          <p:cNvSpPr txBox="1"/>
          <p:nvPr/>
        </p:nvSpPr>
        <p:spPr>
          <a:xfrm>
            <a:off x="1349831" y="4380724"/>
            <a:ext cx="4746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en-US" altLang="zh-CN" sz="20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2026</a:t>
            </a:r>
            <a:r>
              <a:rPr lang="zh-CN" altLang="en-US" sz="20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年</a:t>
            </a:r>
            <a:r>
              <a:rPr lang="en-US" altLang="zh-CN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05</a:t>
            </a:r>
            <a:r>
              <a:rPr lang="zh-CN" altLang="en-US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月</a:t>
            </a:r>
            <a:r>
              <a:rPr lang="en-US" altLang="zh-CN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15</a:t>
            </a:r>
            <a:r>
              <a:rPr lang="zh-CN" altLang="en-US" sz="2000" smtClean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日</a:t>
            </a:r>
            <a:endParaRPr lang="en-US" altLang="zh-TW" sz="20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等线"/>
            </a:endParaRPr>
          </a:p>
        </p:txBody>
      </p:sp>
      <p:sp>
        <p:nvSpPr>
          <p:cNvPr id="7" name="文本框 9">
            <a:extLst>
              <a:ext uri="{FF2B5EF4-FFF2-40B4-BE49-F238E27FC236}">
                <a16:creationId xmlns:a16="http://schemas.microsoft.com/office/drawing/2014/main" id="{6AC86694-6D9F-844E-B18D-BFA658E8E040}"/>
              </a:ext>
            </a:extLst>
          </p:cNvPr>
          <p:cNvSpPr txBox="1"/>
          <p:nvPr/>
        </p:nvSpPr>
        <p:spPr>
          <a:xfrm>
            <a:off x="1349831" y="3774057"/>
            <a:ext cx="54650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hangingPunct="0"/>
            <a:r>
              <a:rPr lang="zh-CN" altLang="en-US" sz="24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报告</a:t>
            </a:r>
            <a:r>
              <a:rPr lang="zh-CN" altLang="en-US" sz="24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人：</a:t>
            </a:r>
            <a:r>
              <a:rPr lang="en-US" altLang="zh-CN" sz="24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  <a:sym typeface="等线"/>
              </a:rPr>
              <a:t>Edward Zhang</a:t>
            </a:r>
            <a:endParaRPr lang="en-US" altLang="zh-CN" sz="24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  <a:sym typeface="等线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6">
            <a:extLst>
              <a:ext uri="{FF2B5EF4-FFF2-40B4-BE49-F238E27FC236}">
                <a16:creationId xmlns:a16="http://schemas.microsoft.com/office/drawing/2014/main" id="{42E4FA53-80B1-C84B-1FA3-E86D8EF03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95737"/>
              </p:ext>
            </p:extLst>
          </p:nvPr>
        </p:nvGraphicFramePr>
        <p:xfrm>
          <a:off x="339592" y="1078366"/>
          <a:ext cx="11556400" cy="5005911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15637">
                  <a:extLst>
                    <a:ext uri="{9D8B030D-6E8A-4147-A177-3AD203B41FA5}">
                      <a16:colId xmlns:a16="http://schemas.microsoft.com/office/drawing/2014/main" val="2530618275"/>
                    </a:ext>
                  </a:extLst>
                </a:gridCol>
                <a:gridCol w="5277995">
                  <a:extLst>
                    <a:ext uri="{9D8B030D-6E8A-4147-A177-3AD203B41FA5}">
                      <a16:colId xmlns:a16="http://schemas.microsoft.com/office/drawing/2014/main" val="526501027"/>
                    </a:ext>
                  </a:extLst>
                </a:gridCol>
                <a:gridCol w="2431384">
                  <a:extLst>
                    <a:ext uri="{9D8B030D-6E8A-4147-A177-3AD203B41FA5}">
                      <a16:colId xmlns:a16="http://schemas.microsoft.com/office/drawing/2014/main" val="2050026107"/>
                    </a:ext>
                  </a:extLst>
                </a:gridCol>
                <a:gridCol w="2431384">
                  <a:extLst>
                    <a:ext uri="{9D8B030D-6E8A-4147-A177-3AD203B41FA5}">
                      <a16:colId xmlns:a16="http://schemas.microsoft.com/office/drawing/2014/main" val="64699189"/>
                    </a:ext>
                  </a:extLst>
                </a:gridCol>
              </a:tblGrid>
              <a:tr h="53196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Team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TW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Content</a:t>
                      </a: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u="none" strike="noStrike" kern="1200" dirty="0">
                          <a:solidFill>
                            <a:schemeClr val="dk1"/>
                          </a:solidFill>
                          <a:effectLst/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+mn-cs"/>
                        </a:rPr>
                        <a:t>Answer</a:t>
                      </a:r>
                      <a:endParaRPr lang="zh-TW" altLang="en-US" sz="1200" u="none" strike="noStrike" kern="1200" dirty="0">
                        <a:solidFill>
                          <a:schemeClr val="dk1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157263"/>
                  </a:ext>
                </a:extLst>
              </a:tr>
              <a:tr h="14913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AI Team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200"/>
                        <a:t>The server has encountered an issue and needs to be addressed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3/4/2026- 6/4/2026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The vendor inspects the status of the server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064569"/>
                  </a:ext>
                </a:extLst>
              </a:tr>
              <a:tr h="14913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7/4/2026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The vendor has confirmed that one GPU in the server is faulty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700038"/>
                  </a:ext>
                </a:extLst>
              </a:tr>
              <a:tr h="14913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altLang="zh-TW" sz="1200" b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8/4/2026 - TBD</a:t>
                      </a:r>
                      <a:endParaRPr lang="en-US" altLang="zh-TW" sz="12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marL="7620" marR="7620" marT="762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None/>
                      </a:pPr>
                      <a:r>
                        <a:rPr lang="en-US" sz="1200"/>
                        <a:t>Vendor confirmed 3 servers are normal; 1 shows signs of damage. A detailed evaluation report will be sent to the buyer by email.</a:t>
                      </a:r>
                    </a:p>
                  </a:txBody>
                  <a:tcPr marL="7620" marR="7620" marT="762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590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C8B6DDA-D1CA-D6A0-AAF8-CD8F0F4A8415}"/>
              </a:ext>
            </a:extLst>
          </p:cNvPr>
          <p:cNvSpPr txBox="1"/>
          <p:nvPr/>
        </p:nvSpPr>
        <p:spPr>
          <a:xfrm flipH="1">
            <a:off x="84679" y="92313"/>
            <a:ext cx="545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TW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Meeting topic reply</a:t>
            </a:r>
            <a:endParaRPr lang="zh-TW" altLang="en-US" dirty="0">
              <a:solidFill>
                <a:srgbClr val="00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2539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64E7-BE4A-105A-2FD6-A214CA343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B619306C-7636-3356-6987-632B740DBFED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5D685-2D1E-FF8E-3611-2199882FBD6F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4DF364-3DAE-DF0C-7A04-DA02C3332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934476"/>
              </p:ext>
            </p:extLst>
          </p:nvPr>
        </p:nvGraphicFramePr>
        <p:xfrm>
          <a:off x="-8875" y="246221"/>
          <a:ext cx="12170396" cy="6272717"/>
        </p:xfrm>
        <a:graphic>
          <a:graphicData uri="http://schemas.openxmlformats.org/drawingml/2006/table">
            <a:tbl>
              <a:tblPr/>
              <a:tblGrid>
                <a:gridCol w="737972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496199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310896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530352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56616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649224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822961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9210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2012644"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Intelligent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Software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>
                          <a:effectLst/>
                          <a:latin typeface="+mj-lt"/>
                        </a:rPr>
                        <a:t>Computer Vision</a:t>
                      </a: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quality inspection product packing for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computer vision to check if the product packaging process is being followed correctly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Amazon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B08-3F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CBD-AE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黄公寿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阮明黃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2026/2/7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The user has confirmed close project, so no further writing is needed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v2.1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Calculate the value and reconfirm the product information of the project</a:t>
                      </a: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/>
                      </a:r>
                      <a:b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723378"/>
                  </a:ext>
                </a:extLst>
              </a:tr>
              <a:tr h="181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 [Fuction A: Smart Inspection for safety phase 2]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(Under Review)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$30,000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810714"/>
                  </a:ext>
                </a:extLst>
              </a:tr>
              <a:tr h="1473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Project[Fuction B: Intelligent monitoring IPCAM for safety]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2026/6/30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2026/5/03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$60,000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31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71806-9A1A-2E87-FB85-A7F29079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89BDB8BB-E708-B5DA-CEBD-F225DAC4EBDC}"/>
              </a:ext>
            </a:extLst>
          </p:cNvPr>
          <p:cNvSpPr txBox="1"/>
          <p:nvPr/>
        </p:nvSpPr>
        <p:spPr>
          <a:xfrm>
            <a:off x="0" y="192024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7337AB-8A92-8539-2AD7-6AF79BB8A8D6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F4CD90-68F9-59B1-A255-0596A4C654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492827"/>
              </p:ext>
            </p:extLst>
          </p:nvPr>
        </p:nvGraphicFramePr>
        <p:xfrm>
          <a:off x="0" y="1169767"/>
          <a:ext cx="12195576" cy="4042313"/>
        </p:xfrm>
        <a:graphic>
          <a:graphicData uri="http://schemas.openxmlformats.org/drawingml/2006/table">
            <a:tbl>
              <a:tblPr/>
              <a:tblGrid>
                <a:gridCol w="573552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539496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01168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349357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451366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451365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29120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817506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11763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858416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11764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466530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19878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63894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62449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613208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188160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90296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1463009"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>
                          <a:effectLst/>
                          <a:latin typeface="+mj-lt"/>
                        </a:rPr>
                        <a:t>Intelligent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vi-VN" sz="1200">
                          <a:effectLst/>
                          <a:latin typeface="+mj-lt"/>
                        </a:rPr>
                        <a:t>Software</a:t>
                      </a: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>
                          <a:effectLst/>
                          <a:latin typeface="+mj-lt"/>
                        </a:rPr>
                        <a:t>Compu</a:t>
                      </a:r>
                      <a:r>
                        <a:rPr lang="en-US" sz="1200" b="0">
                          <a:effectLst/>
                          <a:latin typeface="+mj-lt"/>
                        </a:rPr>
                        <a:t>ter</a:t>
                      </a:r>
                      <a:endParaRPr lang="vi-VN" sz="1200" b="0">
                        <a:effectLst/>
                        <a:latin typeface="+mj-lt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>
                          <a:effectLst/>
                          <a:latin typeface="+mj-lt"/>
                        </a:rPr>
                        <a:t>V</a:t>
                      </a:r>
                      <a:r>
                        <a:rPr lang="en-US" sz="1200" b="0" dirty="0" err="1">
                          <a:effectLst/>
                          <a:latin typeface="+mj-lt"/>
                        </a:rPr>
                        <a:t>ision</a:t>
                      </a:r>
                      <a:endParaRPr lang="en-US" sz="1200" b="0" dirty="0"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endParaRPr lang="en-US" sz="1200" dirty="0"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IP CAM AI Project [Fuction C: Auto BBS phase 3]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Full-Site Safety Monitor with Self-Detection (2/3/4F B08)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Apollo &amp; Rhea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B08 1/2/3/4F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Security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文实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平越豪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2026/3/31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2026/5/05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$16,000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281174"/>
                  </a:ext>
                </a:extLst>
              </a:tr>
              <a:tr h="164128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Check PCB Xray_F12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Verify PCB X-ray images for completeness and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auto-archive them.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Nic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JBD F12 Xray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JBD </a:t>
                      </a:r>
                      <a:r>
                        <a:rPr lang="zh-CN" altLang="en-US" sz="1200">
                          <a:effectLst/>
                        </a:rPr>
                        <a:t>阮玉德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丁仲皇维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2026/6/10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2026/6/20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On-going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v0.1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(1) The Esign project initiation form has been completed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/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(2) Developing project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128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9202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B5A1D-2888-2ACF-B47E-9B280167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AAC47801-1893-D60B-BB55-6133D7F33D7A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8BACFF-FC92-DC8E-8841-DB665E9FDC6D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5D898-4E1B-4E5F-0C11-565851D03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763135"/>
              </p:ext>
            </p:extLst>
          </p:nvPr>
        </p:nvGraphicFramePr>
        <p:xfrm>
          <a:off x="-6620" y="273653"/>
          <a:ext cx="12067297" cy="6355838"/>
        </p:xfrm>
        <a:graphic>
          <a:graphicData uri="http://schemas.openxmlformats.org/drawingml/2006/table">
            <a:tbl>
              <a:tblPr/>
              <a:tblGrid>
                <a:gridCol w="662026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658913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56616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10995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704093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910450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321946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749714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354193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272456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550174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830270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903742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824782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509696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59098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354193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95326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695040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143574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111234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1671172">
                <a:tc rowSpan="3">
                  <a:txBody>
                    <a:bodyPr/>
                    <a:lstStyle/>
                    <a:p>
                      <a:r>
                        <a:rPr lang="en-US" sz="1200" dirty="0">
                          <a:latin typeface="+mj-lt"/>
                        </a:rPr>
                        <a:t>Intelligent</a:t>
                      </a:r>
                    </a:p>
                    <a:p>
                      <a:r>
                        <a:rPr lang="en-US" sz="1200" dirty="0">
                          <a:latin typeface="+mj-lt"/>
                        </a:rPr>
                        <a:t>Software</a:t>
                      </a:r>
                    </a:p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Compu</a:t>
                      </a:r>
                      <a:r>
                        <a:rPr lang="en-US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ter</a:t>
                      </a:r>
                      <a:endParaRPr lang="vi-VN" sz="1200" b="0" kern="120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kern="1200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ision</a:t>
                      </a:r>
                      <a:endParaRPr lang="en-US" sz="1200" b="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Project A - AI quality inspection Kronos product in Test station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computer vision to check if the weighing time on the product meets the standard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Kronos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B08-2F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CBD-ME Duncan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阮明黃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2026/3/17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$18,000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and messages on Wechat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516022"/>
                  </a:ext>
                </a:extLst>
              </a:tr>
              <a:tr h="20341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Project B - AI quality inspection Kronos product in Packing station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computer vision to check if workers are packing products according to the correct procedure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Kronos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B08-2F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CBD-ME Duncan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阮文龙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Open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$18,000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Sent emails and messages on Wechat to remind the user to sign the Esign document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  <a:tr h="1489687">
                <a:tc vMerge="1">
                  <a:txBody>
                    <a:bodyPr/>
                    <a:lstStyle/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DOE-Reflow oven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Predict the temperature for the welding machine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system of Software department (Fulian B09-4F)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ME YunTao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范英秀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2026/01/20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2026/3/10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2026/5/04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(1) Sent emails to remind the user to sign the Esign document 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(2) </a:t>
                      </a:r>
                      <a:r>
                        <a:rPr lang="en-US" sz="1200"/>
                        <a:t>Sent response email to the user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826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000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476C-8838-E323-C17F-42454288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6;p27">
            <a:extLst>
              <a:ext uri="{FF2B5EF4-FFF2-40B4-BE49-F238E27FC236}">
                <a16:creationId xmlns:a16="http://schemas.microsoft.com/office/drawing/2014/main" id="{001ED271-A428-49B4-83F0-6E1C214B6878}"/>
              </a:ext>
            </a:extLst>
          </p:cNvPr>
          <p:cNvSpPr txBox="1"/>
          <p:nvPr/>
        </p:nvSpPr>
        <p:spPr>
          <a:xfrm>
            <a:off x="-6620" y="0"/>
            <a:ext cx="5061699" cy="2462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sp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800" b="1">
                <a:solidFill>
                  <a:srgbClr val="000000"/>
                </a:solidFill>
                <a:latin typeface="Calibri" panose="020F0502020204030204" pitchFamily="34" charset="0"/>
                <a:ea typeface="Microsoft JhengHei" panose="020B0604030504040204" pitchFamily="34" charset="-120"/>
                <a:cs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FII-CNSBG-CPEG-AI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团队</a:t>
            </a:r>
            <a:r>
              <a:rPr kumimoji="0" lang="en-US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Project List 2026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7E421-F995-EC53-3D99-D43749F5D649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1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AB561F-E903-3F7D-8159-861BE6882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137517"/>
              </p:ext>
            </p:extLst>
          </p:nvPr>
        </p:nvGraphicFramePr>
        <p:xfrm>
          <a:off x="45720" y="365099"/>
          <a:ext cx="12100560" cy="6172740"/>
        </p:xfrm>
        <a:graphic>
          <a:graphicData uri="http://schemas.openxmlformats.org/drawingml/2006/table">
            <a:tbl>
              <a:tblPr/>
              <a:tblGrid>
                <a:gridCol w="559870">
                  <a:extLst>
                    <a:ext uri="{9D8B030D-6E8A-4147-A177-3AD203B41FA5}">
                      <a16:colId xmlns:a16="http://schemas.microsoft.com/office/drawing/2014/main" val="2326800749"/>
                    </a:ext>
                  </a:extLst>
                </a:gridCol>
                <a:gridCol w="711146">
                  <a:extLst>
                    <a:ext uri="{9D8B030D-6E8A-4147-A177-3AD203B41FA5}">
                      <a16:colId xmlns:a16="http://schemas.microsoft.com/office/drawing/2014/main" val="653530164"/>
                    </a:ext>
                  </a:extLst>
                </a:gridCol>
                <a:gridCol w="214045">
                  <a:extLst>
                    <a:ext uri="{9D8B030D-6E8A-4147-A177-3AD203B41FA5}">
                      <a16:colId xmlns:a16="http://schemas.microsoft.com/office/drawing/2014/main" val="378138433"/>
                    </a:ext>
                  </a:extLst>
                </a:gridCol>
                <a:gridCol w="344678">
                  <a:extLst>
                    <a:ext uri="{9D8B030D-6E8A-4147-A177-3AD203B41FA5}">
                      <a16:colId xmlns:a16="http://schemas.microsoft.com/office/drawing/2014/main" val="4244644360"/>
                    </a:ext>
                  </a:extLst>
                </a:gridCol>
                <a:gridCol w="520269">
                  <a:extLst>
                    <a:ext uri="{9D8B030D-6E8A-4147-A177-3AD203B41FA5}">
                      <a16:colId xmlns:a16="http://schemas.microsoft.com/office/drawing/2014/main" val="387747367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082114798"/>
                    </a:ext>
                  </a:extLst>
                </a:gridCol>
                <a:gridCol w="496611">
                  <a:extLst>
                    <a:ext uri="{9D8B030D-6E8A-4147-A177-3AD203B41FA5}">
                      <a16:colId xmlns:a16="http://schemas.microsoft.com/office/drawing/2014/main" val="3252164554"/>
                    </a:ext>
                  </a:extLst>
                </a:gridCol>
                <a:gridCol w="761922">
                  <a:extLst>
                    <a:ext uri="{9D8B030D-6E8A-4147-A177-3AD203B41FA5}">
                      <a16:colId xmlns:a16="http://schemas.microsoft.com/office/drawing/2014/main" val="3960269966"/>
                    </a:ext>
                  </a:extLst>
                </a:gridCol>
                <a:gridCol w="399102">
                  <a:extLst>
                    <a:ext uri="{9D8B030D-6E8A-4147-A177-3AD203B41FA5}">
                      <a16:colId xmlns:a16="http://schemas.microsoft.com/office/drawing/2014/main" val="2072345487"/>
                    </a:ext>
                  </a:extLst>
                </a:gridCol>
                <a:gridCol w="394568">
                  <a:extLst>
                    <a:ext uri="{9D8B030D-6E8A-4147-A177-3AD203B41FA5}">
                      <a16:colId xmlns:a16="http://schemas.microsoft.com/office/drawing/2014/main" val="1802924090"/>
                    </a:ext>
                  </a:extLst>
                </a:gridCol>
                <a:gridCol w="666680">
                  <a:extLst>
                    <a:ext uri="{9D8B030D-6E8A-4147-A177-3AD203B41FA5}">
                      <a16:colId xmlns:a16="http://schemas.microsoft.com/office/drawing/2014/main" val="3267191144"/>
                    </a:ext>
                  </a:extLst>
                </a:gridCol>
                <a:gridCol w="691829">
                  <a:extLst>
                    <a:ext uri="{9D8B030D-6E8A-4147-A177-3AD203B41FA5}">
                      <a16:colId xmlns:a16="http://schemas.microsoft.com/office/drawing/2014/main" val="266761317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83365273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702382690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1062866329"/>
                    </a:ext>
                  </a:extLst>
                </a:gridCol>
                <a:gridCol w="484632">
                  <a:extLst>
                    <a:ext uri="{9D8B030D-6E8A-4147-A177-3AD203B41FA5}">
                      <a16:colId xmlns:a16="http://schemas.microsoft.com/office/drawing/2014/main" val="2371782361"/>
                    </a:ext>
                  </a:extLst>
                </a:gridCol>
                <a:gridCol w="265176">
                  <a:extLst>
                    <a:ext uri="{9D8B030D-6E8A-4147-A177-3AD203B41FA5}">
                      <a16:colId xmlns:a16="http://schemas.microsoft.com/office/drawing/2014/main" val="3104502250"/>
                    </a:ext>
                  </a:extLst>
                </a:gridCol>
                <a:gridCol w="557784">
                  <a:extLst>
                    <a:ext uri="{9D8B030D-6E8A-4147-A177-3AD203B41FA5}">
                      <a16:colId xmlns:a16="http://schemas.microsoft.com/office/drawing/2014/main" val="457101644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4029481211"/>
                    </a:ext>
                  </a:extLst>
                </a:gridCol>
                <a:gridCol w="1987296">
                  <a:extLst>
                    <a:ext uri="{9D8B030D-6E8A-4147-A177-3AD203B41FA5}">
                      <a16:colId xmlns:a16="http://schemas.microsoft.com/office/drawing/2014/main" val="3548347657"/>
                    </a:ext>
                  </a:extLst>
                </a:gridCol>
              </a:tblGrid>
              <a:tr h="92286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Technical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Direction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Type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Prio.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Scene function description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Client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Product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Line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Address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Completed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SOW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Due date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launch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endParaRPr lang="en-US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date</a:t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vi-VN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sz="1200" b="1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200" b="1" kern="1200" dirty="0" err="1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Esign</a:t>
                      </a:r>
                      <a:endParaRPr lang="en-US" sz="1200" b="1" kern="1200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Project</a:t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Esign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/>
                      </a:r>
                      <a:b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status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Ver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 err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Prj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PO-FC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vi-VN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Value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(USD)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Acceptance</a:t>
                      </a:r>
                      <a:endParaRPr lang="vi-VN" sz="1200" b="1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criteria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Note</a:t>
                      </a:r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628097"/>
                  </a:ext>
                </a:extLst>
              </a:tr>
              <a:tr h="129696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Smart Translation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Translation language options: Chinese, Vietnamese, and English.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N/A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system of Software department (Fulian B09-4F)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 QA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范英秀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2026/01/24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2026/03/11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2026/4/06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2026/5/30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Closed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v1.0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$10,000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1</a:t>
                      </a:r>
                      <a:r>
                        <a:rPr lang="en-US" sz="1200" smtClean="0">
                          <a:effectLst/>
                        </a:rPr>
                        <a:t>) </a:t>
                      </a:r>
                      <a:r>
                        <a:rPr lang="en-US" sz="1200"/>
                        <a:t>The program needs to be installed on the </a:t>
                      </a:r>
                      <a:r>
                        <a:rPr lang="en-US" sz="1200" smtClean="0"/>
                        <a:t>server.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mtClean="0">
                          <a:effectLst/>
                        </a:rPr>
                        <a:t>(2) Data is currently being transferred to the server.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11037"/>
                  </a:ext>
                </a:extLst>
              </a:tr>
              <a:tr h="291628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17713" marR="17713" marT="11809" marB="1180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P1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Lighthouse </a:t>
                      </a:r>
                      <a:r>
                        <a:rPr lang="zh-CN" altLang="en-US" sz="1200">
                          <a:effectLst/>
                        </a:rPr>
                        <a:t>服務器降本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Install 5 usecase website for lighthouse on DT server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CBD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Fulian B08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CBD-DT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zh-CN" altLang="en-US" sz="1200">
                          <a:effectLst/>
                        </a:rPr>
                        <a:t>黃趙五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AI </a:t>
                      </a:r>
                      <a:r>
                        <a:rPr lang="zh-CN" altLang="en-US" sz="1200">
                          <a:effectLst/>
                        </a:rPr>
                        <a:t>陳文俊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2026/6/30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Already</a:t>
                      </a:r>
                      <a:r>
                        <a:rPr lang="en-US" sz="1200" baseline="0" smtClean="0">
                          <a:effectLst/>
                        </a:rPr>
                        <a:t> </a:t>
                      </a:r>
                      <a:r>
                        <a:rPr lang="en-US" sz="1200" smtClean="0">
                          <a:effectLst/>
                        </a:rPr>
                        <a:t>approved </a:t>
                      </a:r>
                      <a:r>
                        <a:rPr lang="en-US" sz="1200">
                          <a:effectLst/>
                        </a:rPr>
                        <a:t>by the AI​&amp;DT </a:t>
                      </a:r>
                      <a:r>
                        <a:rPr lang="en-US" sz="1200" smtClean="0">
                          <a:effectLst/>
                        </a:rPr>
                        <a:t>managers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2026/4/10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smtClean="0">
                          <a:effectLst/>
                        </a:rPr>
                        <a:t>2026/7/10</a:t>
                      </a:r>
                      <a:endParaRPr lang="en-US" sz="1200">
                        <a:effectLst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On going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v2.2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$32,000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Based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on Esign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>
                          <a:effectLst/>
                        </a:rPr>
                        <a:t>Use Case </a:t>
                      </a:r>
                      <a:r>
                        <a:rPr lang="en-US" sz="1200" smtClean="0">
                          <a:effectLst/>
                        </a:rPr>
                        <a:t>1,3,5: </a:t>
                      </a:r>
                      <a:r>
                        <a:rPr lang="en-US" sz="1200">
                          <a:effectLst/>
                        </a:rPr>
                        <a:t>All functionalities operate normally</a:t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Use Case 4: The </a:t>
                      </a:r>
                      <a:r>
                        <a:rPr lang="en-US" sz="1200" smtClean="0">
                          <a:effectLst/>
                        </a:rPr>
                        <a:t>LLM, Onmiverse </a:t>
                      </a:r>
                      <a:r>
                        <a:rPr lang="en-US" sz="1200">
                          <a:effectLst/>
                        </a:rPr>
                        <a:t>is not available. Onmiverse was updated to take data from new port 49100 --&gt; new application has summited to request access new </a:t>
                      </a:r>
                      <a:r>
                        <a:rPr lang="en-US" sz="1200" smtClean="0">
                          <a:effectLst/>
                        </a:rPr>
                        <a:t>port</a:t>
                      </a:r>
                      <a:r>
                        <a:rPr lang="en-US" sz="1200">
                          <a:effectLst/>
                        </a:rPr>
                        <a:t/>
                      </a:r>
                      <a:br>
                        <a:rPr lang="en-US" sz="1200">
                          <a:effectLst/>
                        </a:rPr>
                      </a:br>
                      <a:r>
                        <a:rPr lang="en-US" sz="1200">
                          <a:effectLst/>
                        </a:rPr>
                        <a:t>Use Case 2: Onmiverser is still not working due to lack of chiller IP --&gt; new application has summited to request access new IP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447825"/>
                  </a:ext>
                </a:extLst>
              </a:tr>
              <a:tr h="1000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Multi-AI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software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all AI software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Maintain all AI software developed in 2025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Customer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Product Line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All Users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AI 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阮明黃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TBD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$50,000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Based on Esign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The quotation details have been sent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881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73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F73B-8152-C995-1805-9C498A63F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B3B9272-294D-319F-9A71-98CA123DF099}"/>
              </a:ext>
            </a:extLst>
          </p:cNvPr>
          <p:cNvSpPr/>
          <p:nvPr/>
        </p:nvSpPr>
        <p:spPr>
          <a:xfrm>
            <a:off x="9954883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E1471-308D-DB31-8AB1-4B35567A3D00}"/>
              </a:ext>
            </a:extLst>
          </p:cNvPr>
          <p:cNvSpPr txBox="1"/>
          <p:nvPr/>
        </p:nvSpPr>
        <p:spPr>
          <a:xfrm flipH="1">
            <a:off x="-8150" y="0"/>
            <a:ext cx="8545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6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6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C6E5B-6A26-4E25-8F7A-E4BD3489CD6B}"/>
              </a:ext>
            </a:extLst>
          </p:cNvPr>
          <p:cNvSpPr txBox="1"/>
          <p:nvPr/>
        </p:nvSpPr>
        <p:spPr>
          <a:xfrm flipH="1">
            <a:off x="10658475" y="6581001"/>
            <a:ext cx="153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406196"/>
              </a:buClr>
            </a:pPr>
            <a:r>
              <a:rPr lang="en-US" altLang="zh-CN" sz="120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2</a:t>
            </a:r>
            <a:endParaRPr lang="en-US" altLang="zh-CN" sz="12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D1B683C-4351-8E4C-E79D-562BE952BB09}"/>
              </a:ext>
            </a:extLst>
          </p:cNvPr>
          <p:cNvGraphicFramePr>
            <a:graphicFrameLocks noGrp="1"/>
          </p:cNvGraphicFramePr>
          <p:nvPr/>
        </p:nvGraphicFramePr>
        <p:xfrm>
          <a:off x="1" y="1135674"/>
          <a:ext cx="12191999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543">
                  <a:extLst>
                    <a:ext uri="{9D8B030D-6E8A-4147-A177-3AD203B41FA5}">
                      <a16:colId xmlns:a16="http://schemas.microsoft.com/office/drawing/2014/main" val="3301111309"/>
                    </a:ext>
                  </a:extLst>
                </a:gridCol>
                <a:gridCol w="656087">
                  <a:extLst>
                    <a:ext uri="{9D8B030D-6E8A-4147-A177-3AD203B41FA5}">
                      <a16:colId xmlns:a16="http://schemas.microsoft.com/office/drawing/2014/main" val="1661291378"/>
                    </a:ext>
                  </a:extLst>
                </a:gridCol>
                <a:gridCol w="1232560">
                  <a:extLst>
                    <a:ext uri="{9D8B030D-6E8A-4147-A177-3AD203B41FA5}">
                      <a16:colId xmlns:a16="http://schemas.microsoft.com/office/drawing/2014/main" val="418241053"/>
                    </a:ext>
                  </a:extLst>
                </a:gridCol>
                <a:gridCol w="1224132">
                  <a:extLst>
                    <a:ext uri="{9D8B030D-6E8A-4147-A177-3AD203B41FA5}">
                      <a16:colId xmlns:a16="http://schemas.microsoft.com/office/drawing/2014/main" val="594005979"/>
                    </a:ext>
                  </a:extLst>
                </a:gridCol>
                <a:gridCol w="716072">
                  <a:extLst>
                    <a:ext uri="{9D8B030D-6E8A-4147-A177-3AD203B41FA5}">
                      <a16:colId xmlns:a16="http://schemas.microsoft.com/office/drawing/2014/main" val="3971821460"/>
                    </a:ext>
                  </a:extLst>
                </a:gridCol>
                <a:gridCol w="1930977">
                  <a:extLst>
                    <a:ext uri="{9D8B030D-6E8A-4147-A177-3AD203B41FA5}">
                      <a16:colId xmlns:a16="http://schemas.microsoft.com/office/drawing/2014/main" val="2254512465"/>
                    </a:ext>
                  </a:extLst>
                </a:gridCol>
                <a:gridCol w="5592628">
                  <a:extLst>
                    <a:ext uri="{9D8B030D-6E8A-4147-A177-3AD203B41FA5}">
                      <a16:colId xmlns:a16="http://schemas.microsoft.com/office/drawing/2014/main" val="1884921257"/>
                    </a:ext>
                  </a:extLst>
                </a:gridCol>
              </a:tblGrid>
              <a:tr h="15786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Project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Use case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IP/Port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b="1" u="none" strike="noStrike" dirty="0">
                          <a:effectLst/>
                        </a:rPr>
                        <a:t>Functionality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Responsible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u="none" strike="noStrike" dirty="0">
                          <a:effectLst/>
                        </a:rPr>
                        <a:t>Describe Current Status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01372"/>
                  </a:ext>
                </a:extLst>
              </a:tr>
              <a:tr h="157865">
                <a:tc row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LightHouse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10.72.75.16:443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文宝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390938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191345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18275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10.72.75.16:8081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64766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88081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173919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10.72.75.14:8081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endParaRPr lang="vi-VN" sz="1200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r>
                        <a:rPr lang="en-US" sz="1200" u="none" strike="noStrike" dirty="0">
                          <a:effectLst/>
                        </a:rPr>
                        <a:t> data has been moved to the new server (72.75.14)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30316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355996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43172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4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10.72.75.18:443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Login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/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endParaRPr lang="en-US" sz="1200" u="none" strike="noStrike" dirty="0">
                        <a:effectLst/>
                      </a:endParaRPr>
                    </a:p>
                    <a:p>
                      <a:pPr algn="ctr" fontAlgn="b">
                        <a:buNone/>
                      </a:pPr>
                      <a:r>
                        <a:rPr lang="zh-CN" altLang="en-US" sz="1200" u="none" strike="noStrike" dirty="0">
                          <a:effectLst/>
                        </a:rPr>
                        <a:t>徐逸兴</a:t>
                      </a:r>
                      <a:r>
                        <a:rPr lang="en-US" altLang="zh-CN" sz="1200" u="none" strike="noStrike" dirty="0">
                          <a:effectLst/>
                        </a:rPr>
                        <a:t>, </a:t>
                      </a:r>
                      <a:r>
                        <a:rPr lang="en-US" sz="1200" u="none" strike="noStrike" dirty="0">
                          <a:effectLst/>
                        </a:rPr>
                        <a:t>Panda,</a:t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zh-CN" altLang="en-US" sz="1200" u="none" strike="noStrike" dirty="0">
                          <a:effectLst/>
                        </a:rPr>
                        <a:t>陳冠瑋</a:t>
                      </a:r>
                      <a:r>
                        <a:rPr lang="en-US" altLang="zh-CN" sz="1200" u="none" strike="noStrike" dirty="0">
                          <a:effectLst/>
                        </a:rPr>
                        <a:t>(</a:t>
                      </a:r>
                      <a:r>
                        <a:rPr lang="en-US" sz="1200" u="none" strike="noStrike" dirty="0">
                          <a:effectLst/>
                        </a:rPr>
                        <a:t>Kuan-Wei Chen) Peter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1. Real-time data is only available on the main </a:t>
                      </a:r>
                      <a:r>
                        <a:rPr lang="vi-VN" sz="1200" u="none" strike="noStrike" dirty="0">
                          <a:effectLst/>
                        </a:rPr>
                        <a:t>UI,</a:t>
                      </a:r>
                      <a:r>
                        <a:rPr lang="en-US" sz="1200" u="none" strike="noStrike" dirty="0">
                          <a:effectLst/>
                        </a:rPr>
                        <a:t> sub-UI do not display this data.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2. The LLM currently is not working.(This feature link with Case 5)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3. </a:t>
                      </a: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r>
                        <a:rPr lang="en-US" sz="1200" u="none" strike="noStrike" dirty="0">
                          <a:effectLst/>
                        </a:rPr>
                        <a:t> data was transferred to the new server (72.75.14) and then to 72.75.41.</a:t>
                      </a:r>
                      <a:r>
                        <a:rPr lang="vi-VN" sz="1200" u="none" strike="noStrike" dirty="0">
                          <a:effectLst/>
                        </a:rPr>
                        <a:t> The Onmiverse function </a:t>
                      </a:r>
                      <a:r>
                        <a:rPr lang="en-US" sz="1200" u="none" strike="noStrike" dirty="0">
                          <a:effectLst/>
                        </a:rPr>
                        <a:t>is not yet operational.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46313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Real-time data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vi-VN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505943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34591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Onmiverse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512849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57250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10.72.75.31:8081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Login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安之君</a:t>
                      </a:r>
                      <a:r>
                        <a:rPr lang="en-US" sz="1200" u="none" strike="noStrike" dirty="0">
                          <a:effectLst/>
                        </a:rPr>
                        <a:t>, Panda, </a:t>
                      </a:r>
                      <a:r>
                        <a:rPr lang="en-US" sz="1200" u="none" strike="noStrike" dirty="0" err="1">
                          <a:effectLst/>
                        </a:rPr>
                        <a:t>AnyScript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/>
                      </a:r>
                      <a:br>
                        <a:rPr lang="en-US" sz="1200" u="none" strike="noStrike" dirty="0">
                          <a:effectLst/>
                        </a:rPr>
                      </a:br>
                      <a:r>
                        <a:rPr lang="en-US" sz="1200" u="none" strike="noStrike" dirty="0">
                          <a:effectLst/>
                        </a:rPr>
                        <a:t>The requested application for LLM has been approved, we will continue to fix it.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006516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Real-time data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543097"/>
                  </a:ext>
                </a:extLst>
              </a:tr>
              <a:tr h="1578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LLM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On-going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827242"/>
                  </a:ext>
                </a:extLst>
              </a:tr>
              <a:tr h="31572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Web UI Interaction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Done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77048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3CD4A6E-F259-4164-D711-A8424C8486CD}"/>
              </a:ext>
            </a:extLst>
          </p:cNvPr>
          <p:cNvSpPr txBox="1"/>
          <p:nvPr/>
        </p:nvSpPr>
        <p:spPr>
          <a:xfrm>
            <a:off x="526211" y="536332"/>
            <a:ext cx="17942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I. </a:t>
            </a:r>
            <a:r>
              <a:rPr lang="vi-VN" altLang="zh-CN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 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93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7A51-3277-003D-E9FF-07B4B40D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0">
            <a:extLst>
              <a:ext uri="{FF2B5EF4-FFF2-40B4-BE49-F238E27FC236}">
                <a16:creationId xmlns:a16="http://schemas.microsoft.com/office/drawing/2014/main" id="{81AA8804-D2B0-B9C4-C611-16729E38F163}"/>
              </a:ext>
            </a:extLst>
          </p:cNvPr>
          <p:cNvGraphicFramePr/>
          <p:nvPr/>
        </p:nvGraphicFramePr>
        <p:xfrm>
          <a:off x="1311" y="320041"/>
          <a:ext cx="12190689" cy="6309360"/>
        </p:xfrm>
        <a:graphic>
          <a:graphicData uri="http://schemas.openxmlformats.org/drawingml/2006/table">
            <a:tbl>
              <a:tblPr/>
              <a:tblGrid>
                <a:gridCol w="392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35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409839024"/>
                    </a:ext>
                  </a:extLst>
                </a:gridCol>
              </a:tblGrid>
              <a:tr h="20432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Case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Function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Progress </a:t>
                      </a: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(Green: Done/Closed; Yellow: Ongoing; Other color: Open)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Due </a:t>
                      </a:r>
                      <a:r>
                        <a:rPr lang="vi-VN" sz="1200" b="1" strike="noStrike" spc="-1" dirty="0">
                          <a:solidFill>
                            <a:schemeClr val="tx1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date</a:t>
                      </a:r>
                      <a:endParaRPr lang="en-US" sz="1200" b="1" strike="noStrike" spc="-1" dirty="0">
                        <a:solidFill>
                          <a:schemeClr val="tx1"/>
                        </a:solidFill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51"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2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Onmiverse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2. Setting server and create new VM (75.42) to store data of case 2 OMV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Done-Panda-26/04/07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+mj-lt"/>
                        </a:rPr>
                        <a:t> 3. </a:t>
                      </a:r>
                      <a:r>
                        <a:rPr lang="en-US" sz="1200" dirty="0">
                          <a:latin typeface="+mj-lt"/>
                        </a:rPr>
                        <a:t>Transfer data from old server (93.48) to new server (75.14) and then to VM42 (</a:t>
                      </a:r>
                      <a:r>
                        <a:rPr lang="vi-VN" sz="1200" dirty="0">
                          <a:latin typeface="+mj-lt"/>
                        </a:rPr>
                        <a:t>75</a:t>
                      </a:r>
                      <a:r>
                        <a:rPr lang="en-US" sz="1200" dirty="0">
                          <a:latin typeface="+mj-lt"/>
                        </a:rPr>
                        <a:t>.42)</a:t>
                      </a:r>
                      <a:r>
                        <a:rPr lang="vi-VN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–</a:t>
                      </a:r>
                      <a:r>
                        <a:rPr lang="vi-VN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en-US" altLang="zh-CN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TARG </a:t>
                      </a:r>
                      <a:r>
                        <a:rPr lang="zh-CN" altLang="en-US" sz="1200" b="0" strike="noStrike" spc="-1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陳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冠瑋</a:t>
                      </a:r>
                      <a:r>
                        <a:rPr lang="en-US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Kuan-Wei Chen) Peter-26/04/13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26/04/15</a:t>
                      </a:r>
                      <a:endParaRPr lang="en-US" sz="1200" b="0" strike="noStrike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9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dirty="0">
                          <a:latin typeface="+mj-lt"/>
                        </a:rPr>
                        <a:t> 4. </a:t>
                      </a:r>
                      <a:r>
                        <a:rPr lang="en-US" sz="1200" dirty="0">
                          <a:latin typeface="+mj-lt"/>
                        </a:rPr>
                        <a:t>Get chiller MQTT data source address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–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On 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陳冠瑋</a:t>
                      </a:r>
                      <a:r>
                        <a:rPr lang="en-US" altLang="zh-C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endParaRPr lang="vi-VN" altLang="zh-CN" sz="1200" b="0" strike="noStrike" spc="-1" dirty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   (1)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OMV Use case 2 receives data from more than 4 different IP addresses; we are compiling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them into a list 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before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submitting it.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The application has been submitted and is awaiting approval.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–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ue 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ate</a:t>
                      </a: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:</a:t>
                      </a:r>
                      <a:r>
                        <a:rPr lang="vi-VN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 days 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-US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 is the actual number of days it takes for the application to be approved.</a:t>
                      </a:r>
                      <a:r>
                        <a:rPr lang="vi-VN" sz="1200" b="0" strike="noStrike" spc="-1" dirty="0">
                          <a:solidFill>
                            <a:srgbClr val="0000CC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)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D+5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869006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5. Re-configure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and deploy OMV </a:t>
                      </a:r>
                      <a:r>
                        <a:rPr lang="vi-VN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web- TARG</a:t>
                      </a:r>
                      <a:r>
                        <a:rPr lang="en-US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zh-CN" altLang="en-US" sz="1200" b="0" strike="noStrike" spc="-1">
                          <a:latin typeface="+mj-lt"/>
                          <a:ea typeface="Microsoft JhengHei" panose="020B0604030504040204" pitchFamily="34" charset="-120"/>
                        </a:rPr>
                        <a:t>陳</a:t>
                      </a:r>
                      <a:r>
                        <a:rPr lang="zh-CN" alt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冠瑋</a:t>
                      </a:r>
                      <a:r>
                        <a:rPr lang="en-US" altLang="zh-C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Kuan-Wei Chen) Peter, </a:t>
                      </a:r>
                      <a:r>
                        <a:rPr lang="zh-CN" alt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strike="noStrike" spc="-1" dirty="0">
                          <a:solidFill>
                            <a:srgbClr val="000000"/>
                          </a:solidFill>
                          <a:latin typeface="+mj-lt"/>
                          <a:ea typeface="Microsoft JhengHei" panose="020B0604030504040204" pitchFamily="34" charset="-120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35277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6. Run OMV Kit app service &amp; web service (change port to 8080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)- TARG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D+8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510920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7. 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Update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i-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frame on main website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en-US" altLang="zh-CN" sz="1200" b="0" strike="noStrike" kern="1200" spc="-1" dirty="0" err="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AnyScript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D+11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61946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8. Test website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function- TARG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Peter,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D+16</a:t>
                      </a:r>
                    </a:p>
                  </a:txBody>
                  <a:tcPr marL="4320" marR="43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15401"/>
                  </a:ext>
                </a:extLst>
              </a:tr>
              <a:tr h="476751">
                <a:tc row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Onmiverse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1. Create access application to transfer data 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r>
                        <a:rPr lang="vi-VN" altLang="zh-C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-26/04/08</a:t>
                      </a:r>
                      <a:endParaRPr lang="vi-VN" sz="1200" b="0" strike="noStrike" spc="-1" dirty="0">
                        <a:highlight>
                          <a:srgbClr val="00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2. Setting server 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&amp;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create new VM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75.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41)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to store data of case 4 OMV– </a:t>
                      </a:r>
                      <a:r>
                        <a:rPr lang="vi-VN" sz="1200" b="0" strike="noStrike" spc="-1" dirty="0">
                          <a:highlight>
                            <a:srgbClr val="00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Done-Panda-26/04/07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Transfer data from old server (93.48) to new server (75.14) and then to VM42 (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75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.42)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–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Done-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TARG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陳冠瑋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(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Kuan-Wei Chen) Peter-26/04/13</a:t>
                      </a: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26/04/15</a:t>
                      </a:r>
                      <a:endParaRPr lang="en-US" sz="1200" b="0" strike="noStrike" kern="1200" spc="-1" dirty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endParaRPr lang="vi-VN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4. Test website function –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 going-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鄧潘英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, TARG</a:t>
                      </a:r>
                      <a:r>
                        <a:rPr lang="en-US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Peter, TARG</a:t>
                      </a:r>
                      <a:r>
                        <a:rPr 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Panda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   (1) (1) </a:t>
                      </a:r>
                      <a:r>
                        <a:rPr lang="en-US" sz="1200"/>
                        <a:t>Omniverse service </a:t>
                      </a:r>
                      <a:r>
                        <a:rPr lang="en-US" sz="1200" dirty="0"/>
                        <a:t>retrieves data from server 72.75.41 via ports 8080 and 49100.</a:t>
                      </a:r>
                      <a:r>
                        <a:rPr lang="vi-VN" sz="1200" dirty="0"/>
                        <a:t> </a:t>
                      </a:r>
                      <a:r>
                        <a:rPr lang="en-US" sz="1200" dirty="0"/>
                        <a:t>Currently, only port 8080 is</a:t>
                      </a:r>
                      <a:r>
                        <a:rPr lang="vi-VN" sz="1200" dirty="0"/>
                        <a:t> </a:t>
                      </a:r>
                      <a:r>
                        <a:rPr lang="en-US" sz="1200"/>
                        <a:t>accessible </a:t>
                      </a:r>
                    </a:p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vi-VN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Waiting for the access application to open port 49100-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ue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ate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:</a:t>
                      </a:r>
                      <a:r>
                        <a:rPr lang="vi-VN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en-US" sz="1200" b="0" strike="noStrike" kern="1200" spc="-1" dirty="0">
                          <a:solidFill>
                            <a:srgbClr val="0000CC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 </a:t>
                      </a:r>
                      <a:r>
                        <a:rPr lang="vi-VN" sz="1200" b="0" strike="noStrike" kern="1200" spc="-1" dirty="0">
                          <a:solidFill>
                            <a:srgbClr val="0000CC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days</a:t>
                      </a:r>
                      <a:endParaRPr lang="vi-VN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138256"/>
                  </a:ext>
                </a:extLst>
              </a:tr>
              <a:tr h="340536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LLM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S</a:t>
                      </a:r>
                      <a:r>
                        <a:rPr lang="en-US" sz="1200" b="0" strike="noStrike" spc="-1" dirty="0" err="1">
                          <a:latin typeface="+mj-lt"/>
                          <a:ea typeface="Microsoft JhengHei" panose="020B0604030504040204" pitchFamily="34" charset="-120"/>
                        </a:rPr>
                        <a:t>ubmit</a:t>
                      </a:r>
                      <a:r>
                        <a:rPr lang="en-US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 internet application for IOC access with updated port</a:t>
                      </a: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- </a:t>
                      </a:r>
                      <a:r>
                        <a:rPr lang="vi-V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On-going- 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阮功俊英</a:t>
                      </a:r>
                      <a:r>
                        <a:rPr lang="vi-VN" altLang="zh-CN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,</a:t>
                      </a:r>
                      <a:r>
                        <a:rPr lang="zh-CN" altLang="en-US" sz="1200" b="0" strike="noStrike" spc="-1" dirty="0">
                          <a:highlight>
                            <a:srgbClr val="FFFF00"/>
                          </a:highlight>
                          <a:latin typeface="+mj-lt"/>
                          <a:ea typeface="Microsoft JhengHei" panose="020B0604030504040204" pitchFamily="34" charset="-120"/>
                        </a:rPr>
                        <a:t> 潘落興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spc="-1" dirty="0">
                          <a:latin typeface="+mj-lt"/>
                          <a:ea typeface="Microsoft JhengHei" panose="020B0604030504040204" pitchFamily="34" charset="-12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The application has been submitted and is awaiting approval.</a:t>
                      </a:r>
                      <a:endParaRPr lang="vi-VN" altLang="zh-CN" sz="1200" b="0" strike="noStrike" spc="-1" dirty="0">
                        <a:highlight>
                          <a:srgbClr val="FFFF00"/>
                        </a:highlight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92795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2. Deploy ioc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service-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Ongoing- 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</a:t>
                      </a:r>
                      <a:r>
                        <a:rPr lang="en-US" altLang="zh-C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G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D+7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396005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3. Test LLM function -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鄧潘英 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D+12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16985"/>
                  </a:ext>
                </a:extLst>
              </a:tr>
              <a:tr h="340536"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5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LLM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>
                          <a:tab pos="0" algn="l"/>
                        </a:tabLst>
                        <a:defRPr/>
                      </a:pPr>
                      <a:r>
                        <a:rPr lang="vi-VN" sz="1200" dirty="0"/>
                        <a:t>S</a:t>
                      </a:r>
                      <a:r>
                        <a:rPr lang="en-US" sz="1200" dirty="0" err="1"/>
                        <a:t>ubmit</a:t>
                      </a:r>
                      <a:r>
                        <a:rPr lang="en-US" sz="1200" dirty="0"/>
                        <a:t> internet application for IOC access with updated port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On-going- 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,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潘落興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altLang="zh-C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sz="1200" b="0" strike="noStrike" kern="1200" spc="-1" dirty="0">
                          <a:solidFill>
                            <a:srgbClr val="000000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The application has been submitted and is awaiting approval.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276119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2. Deploy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ioc service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- </a:t>
                      </a:r>
                      <a:r>
                        <a:rPr lang="vi-V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Ongoing- </a:t>
                      </a:r>
                      <a:r>
                        <a:rPr 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TAR</a:t>
                      </a:r>
                      <a:r>
                        <a:rPr lang="en-US" altLang="zh-CN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G</a:t>
                      </a:r>
                      <a:r>
                        <a:rPr lang="zh-CN" altLang="en-US" sz="1200" b="0" strike="noStrike" kern="1200" spc="-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袁小利</a:t>
                      </a:r>
                      <a:endParaRPr lang="vi-VN" altLang="zh-CN" sz="1200" b="0" strike="noStrike" kern="1200" spc="-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D+7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405660"/>
                  </a:ext>
                </a:extLst>
              </a:tr>
              <a:tr h="20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3. Test LLM function -</a:t>
                      </a:r>
                      <a:r>
                        <a:rPr lang="zh-CN" altLang="en-US" sz="1200" b="0" strike="noStrike" kern="1200" spc="-1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  <a:cs typeface="+mn-cs"/>
                        </a:rPr>
                        <a:t>阮功俊英</a:t>
                      </a:r>
                      <a:endParaRPr lang="en-US" sz="1200" b="0" strike="noStrike" kern="1200" spc="-1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vi-VN" sz="1200" b="0" strike="noStrike" spc="-1" dirty="0">
                          <a:latin typeface="+mj-lt"/>
                          <a:ea typeface="Microsoft JhengHei" panose="020B0604030504040204" pitchFamily="34" charset="-120"/>
                        </a:rPr>
                        <a:t>D+12</a:t>
                      </a:r>
                      <a:endParaRPr lang="en-US" sz="1200" b="0" strike="noStrike" spc="-1" dirty="0">
                        <a:latin typeface="+mj-lt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785805"/>
                  </a:ext>
                </a:extLst>
              </a:tr>
            </a:tbl>
          </a:graphicData>
        </a:graphic>
      </p:graphicFrame>
      <p:sp>
        <p:nvSpPr>
          <p:cNvPr id="5" name="TextBox 1">
            <a:extLst>
              <a:ext uri="{FF2B5EF4-FFF2-40B4-BE49-F238E27FC236}">
                <a16:creationId xmlns:a16="http://schemas.microsoft.com/office/drawing/2014/main" id="{275C97E4-0265-7162-D193-862814B8655F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C9A3E-CB50-1690-7C1B-855D5D94C448}"/>
              </a:ext>
            </a:extLst>
          </p:cNvPr>
          <p:cNvSpPr txBox="1"/>
          <p:nvPr/>
        </p:nvSpPr>
        <p:spPr>
          <a:xfrm flipH="1">
            <a:off x="-8149" y="0"/>
            <a:ext cx="10533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45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DB2F8-87E4-5CC9-66BB-F6A3C2A7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1E06B5D4-40D4-005D-EA69-CCDA71C9BA48}"/>
              </a:ext>
            </a:extLst>
          </p:cNvPr>
          <p:cNvSpPr/>
          <p:nvPr/>
        </p:nvSpPr>
        <p:spPr>
          <a:xfrm>
            <a:off x="9954882" y="0"/>
            <a:ext cx="2237117" cy="2755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r"/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OT： DT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黃趙五</a:t>
            </a:r>
            <a:r>
              <a:rPr lang="en-US" altLang="zh-CN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; </a:t>
            </a:r>
            <a:r>
              <a:rPr 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AT: AI </a:t>
            </a:r>
            <a:r>
              <a:rPr lang="zh-CN" altLang="en-US" sz="1200" spc="-1" dirty="0">
                <a:solidFill>
                  <a:srgbClr val="00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潘洛興</a:t>
            </a:r>
            <a:endParaRPr lang="en-US" sz="1200" b="0" strike="noStrike" spc="-1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62445-E7EF-5744-C4A6-F05487032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6964"/>
            <a:ext cx="12192000" cy="2408572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4176C1-CA24-6889-9377-D4CD18E5994B}"/>
              </a:ext>
            </a:extLst>
          </p:cNvPr>
          <p:cNvSpPr txBox="1"/>
          <p:nvPr/>
        </p:nvSpPr>
        <p:spPr>
          <a:xfrm>
            <a:off x="5135350" y="3762375"/>
            <a:ext cx="22941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dirty="0">
                <a:latin typeface="+mn-ea"/>
              </a:rPr>
              <a:t>Fig 1. Acess Application Form</a:t>
            </a:r>
            <a:endParaRPr lang="en-US" sz="1200" dirty="0">
              <a:latin typeface="+mn-ea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5DA78981-7711-0CCA-A689-6DCFC4AF3118}"/>
              </a:ext>
            </a:extLst>
          </p:cNvPr>
          <p:cNvSpPr txBox="1"/>
          <p:nvPr/>
        </p:nvSpPr>
        <p:spPr>
          <a:xfrm flipH="1">
            <a:off x="-8149" y="0"/>
            <a:ext cx="6499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406196"/>
              </a:buClr>
            </a:pPr>
            <a:r>
              <a:rPr lang="en-US" altLang="zh-CN" sz="1200">
                <a:solidFill>
                  <a:srgbClr val="0000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Times New Roman" panose="02020603050405020304" pitchFamily="18" charset="0"/>
              </a:rPr>
              <a:t>Phase 1: Install usecase 1,2,3,5 on DT's Server_10.72.75.14 (2x GPU-PRO6000)</a:t>
            </a:r>
            <a:endParaRPr lang="en-US" altLang="zh-CN" sz="1200" dirty="0">
              <a:solidFill>
                <a:srgbClr val="0000CC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79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346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陈文俊 Foxconn 报告模板">
      <a:majorFont>
        <a:latin typeface="Microsoft JhengHei"/>
        <a:ea typeface="Microsoft JhengHei"/>
        <a:cs typeface=""/>
      </a:majorFont>
      <a:minorFont>
        <a:latin typeface="Microsoft JhengHei"/>
        <a:ea typeface="Microsoft Jheng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120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ccf059-af5d-4b92-932d-3690a1231c55}" enabled="1" method="Standard" siteId="{cb3d8dcd-2ed2-4bad-89a5-e0a7195fb6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2105</TotalTime>
  <Words>1922</Words>
  <Application>Microsoft Office PowerPoint</Application>
  <PresentationFormat>Widescreen</PresentationFormat>
  <Paragraphs>483</Paragraphs>
  <Slides>10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等线</vt:lpstr>
      <vt:lpstr>Microsoft JhengHei</vt:lpstr>
      <vt:lpstr>微软雅黑</vt:lpstr>
      <vt:lpstr>宋体</vt:lpstr>
      <vt:lpstr>思源黑体 CN Heavy</vt:lpstr>
      <vt:lpstr>思源黑体 CN Normal</vt:lpstr>
      <vt:lpstr>Arial</vt:lpstr>
      <vt:lpstr>Calibri</vt:lpstr>
      <vt:lpstr>Times New Roman</vt:lpstr>
      <vt:lpstr>Wingdings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VAN TUAN TRAN</dc:creator>
  <cp:lastModifiedBy>Nguyen Thi Lan Anh</cp:lastModifiedBy>
  <cp:revision>595</cp:revision>
  <dcterms:created xsi:type="dcterms:W3CDTF">2026-02-07T01:58:58Z</dcterms:created>
  <dcterms:modified xsi:type="dcterms:W3CDTF">2026-05-15T06:29:18Z</dcterms:modified>
</cp:coreProperties>
</file>
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29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78E8-4F5B-7A70-934C-0F307943AF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76A75E-8228-61E0-ECE1-14B8914CF8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96881-6752-556A-59AE-4443FA026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FA29-F68D-4BEC-AE4C-4D2374FC63B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A1974-2A34-0A2D-EE13-51E8894F4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2F949-4459-13A0-452F-A98125C66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9CEA-8CC5-4FF5-9C56-39FE179A3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24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2FF73-59E8-0924-6D0E-A4C07FA2D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AC71D-BE7D-9755-3458-41C738E4B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4833C-6BEB-1314-0040-7897C3E92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FA29-F68D-4BEC-AE4C-4D2374FC63B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40272-F87C-2296-C2A5-6509E9170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B5EC0-7083-A45E-D3CD-4B66541F0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9CEA-8CC5-4FF5-9C56-39FE179A3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85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247F2-4C95-DDF5-3E66-E5418DE29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48D6E-610D-B8CF-17A4-94C61B1C1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3E720-54DC-38BE-4878-BB73C96D8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FA29-F68D-4BEC-AE4C-4D2374FC63B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75325-88EB-D2D9-0224-798109BFD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093C7-421E-7003-8761-BFECD4764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9CEA-8CC5-4FF5-9C56-39FE179A3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010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8162E-274C-D473-82D2-4373FB38F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9D53F-4953-F017-C0B4-CF8F1BDE93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34DA2E-AC8E-8259-22CE-2A5014AF5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63629F-E343-5A5E-43B6-7D4917F46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FA29-F68D-4BEC-AE4C-4D2374FC63B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80F785-3DFD-ACF7-B82E-8CD36DEE6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E4639-43C8-F714-CD95-977F4E21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9CEA-8CC5-4FF5-9C56-39FE179A3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95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ECE27-0F10-3560-48FA-1CADFF43C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389A35-32CE-8491-8095-F414B2B60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83D7F-479E-EECA-E640-53144EF53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5E966C-EE60-1482-20CC-61C0BFDEB5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AC9FFD-9EE1-17EB-880C-ABA6580ED9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507326-6D27-1504-470E-F042C449C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FA29-F68D-4BEC-AE4C-4D2374FC63B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27B465-8196-01B9-0B70-E1F832818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BE31A8-2063-76D4-5226-D15F5E68E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9CEA-8CC5-4FF5-9C56-39FE179A3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741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77105-5D11-97FD-10E8-BD35BCD2E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D1A0E-D03D-3BD8-2F58-CEB1D45E2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FA29-F68D-4BEC-AE4C-4D2374FC63B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6D662A-5E8E-72B3-1981-144C5168D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B0B0B9-2F58-4C0A-14E9-3368B2C6E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9CEA-8CC5-4FF5-9C56-39FE179A3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891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16135C-C4EB-92F6-3573-D64FC0739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FA29-F68D-4BEC-AE4C-4D2374FC63B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041ABB-FA4F-6D7F-8A98-2900F60A5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2F5B1-8850-9919-32B2-06204FFA1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9CEA-8CC5-4FF5-9C56-39FE179A3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49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97DFF-DA37-C946-DFFE-A8677F5B8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38599-4257-F041-2AC9-4860A00DF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A3D72E-F77E-8ABD-B9B4-C468C1B85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343074-9661-F4DF-13D1-66AE5C094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FA29-F68D-4BEC-AE4C-4D2374FC63B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1F9DF-8998-4FC9-AD98-A50CBE19F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90A64-BCF6-830E-DFCA-92550CA2C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9CEA-8CC5-4FF5-9C56-39FE179A3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947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E19E7-D51E-89A4-926C-C5F94FD29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BB2FB8-9401-7110-6293-6BBC9541FE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5D562-5DAF-0418-A92E-16E2D04D3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B55C0-6CBD-A5E0-523E-27C6780AD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FA29-F68D-4BEC-AE4C-4D2374FC63B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1F8D9-BD6F-6FF7-1721-BA10EC3C7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C744D-A1D1-3FC7-64D9-69C83250B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9CEA-8CC5-4FF5-9C56-39FE179A3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855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A2D03-A877-8FA1-4671-B66F46764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7E489-4B46-E50A-53A5-0A3DC6A68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F5384-FD4A-9287-1E74-C41534479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FA29-F68D-4BEC-AE4C-4D2374FC63B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A0275-C0A1-31F9-0F62-79B73BCA5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C0F22-E78B-262F-7071-63505FC9C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9CEA-8CC5-4FF5-9C56-39FE179A3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08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212B0C-2AF2-D5D2-0145-0318B9875B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E372FD-2A47-E657-C82F-C1C87D879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F8336-03EB-9526-4206-2D7EA7EE9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FA29-F68D-4BEC-AE4C-4D2374FC63B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677F2-6A96-4022-727B-0BBF33E87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62E3F-9338-6B19-DE37-615AD6588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9CEA-8CC5-4FF5-9C56-39FE179A3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948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Whit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0386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EF0795-8B7F-013C-E1A8-E311E0B67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0D814-2933-DCD5-0938-2E6C1E004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A2247-3D6E-AAE2-2C9C-3EB45E5D8C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0FA29-F68D-4BEC-AE4C-4D2374FC63B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31DE1-8AD7-8B86-9C11-58C5451DA4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A35F7-FD6A-BAF3-C89C-197910975D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4C9CEA-8CC5-4FF5-9C56-39FE179A3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806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9F73B-8152-C995-1805-9C498A63F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7B3B9272-294D-319F-9A71-98CA123DF099}"/>
              </a:ext>
            </a:extLst>
          </p:cNvPr>
          <p:cNvSpPr/>
          <p:nvPr/>
        </p:nvSpPr>
        <p:spPr>
          <a:xfrm>
            <a:off x="9954883" y="0"/>
            <a:ext cx="2237117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r"/>
            <a:r>
              <a:rPr 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OT： DT </a:t>
            </a:r>
            <a:r>
              <a:rPr lang="zh-CN" alt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黃趙五</a:t>
            </a:r>
            <a:r>
              <a:rPr lang="en-US" altLang="zh-CN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; </a:t>
            </a:r>
            <a:r>
              <a:rPr 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AT: AI </a:t>
            </a:r>
            <a:r>
              <a:rPr lang="zh-CN" alt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潘洛興</a:t>
            </a:r>
            <a:endParaRPr lang="en-US" sz="1200" b="0" strike="noStrike" spc="-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8E1471-308D-DB31-8AB1-4B35567A3D00}"/>
              </a:ext>
            </a:extLst>
          </p:cNvPr>
          <p:cNvSpPr txBox="1"/>
          <p:nvPr/>
        </p:nvSpPr>
        <p:spPr>
          <a:xfrm flipH="1">
            <a:off x="2974657" y="4445928"/>
            <a:ext cx="62345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406196"/>
              </a:buClr>
            </a:pPr>
            <a:r>
              <a:rPr lang="vi-VN" altLang="zh-CN" sz="1200" dirty="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Table 1: </a:t>
            </a:r>
            <a:r>
              <a:rPr lang="en-US" altLang="zh-CN" sz="1200" dirty="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Phase </a:t>
            </a:r>
            <a:r>
              <a:rPr lang="vi-VN" altLang="zh-CN" sz="1200" dirty="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1-</a:t>
            </a:r>
            <a:r>
              <a:rPr lang="en-US" altLang="zh-CN" sz="1200" dirty="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Install use</a:t>
            </a:r>
            <a:r>
              <a:rPr lang="vi-VN" altLang="zh-CN" sz="1200" dirty="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case 1,2,3,5 on DT's Server_10.72.75.14 (2x GPU-PRO6000)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FC6E5B-6A26-4E25-8F7A-E4BD3489CD6B}"/>
              </a:ext>
            </a:extLst>
          </p:cNvPr>
          <p:cNvSpPr txBox="1"/>
          <p:nvPr/>
        </p:nvSpPr>
        <p:spPr>
          <a:xfrm flipH="1">
            <a:off x="10658475" y="6581001"/>
            <a:ext cx="1533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406196"/>
              </a:buClr>
            </a:pPr>
            <a:r>
              <a:rPr lang="en-US" altLang="zh-CN" sz="12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2</a:t>
            </a:r>
            <a:endParaRPr lang="en-US" altLang="zh-CN" sz="1200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D1B683C-4351-8E4C-E79D-562BE952B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021861"/>
              </p:ext>
            </p:extLst>
          </p:nvPr>
        </p:nvGraphicFramePr>
        <p:xfrm>
          <a:off x="2" y="938436"/>
          <a:ext cx="12191998" cy="347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2825">
                  <a:extLst>
                    <a:ext uri="{9D8B030D-6E8A-4147-A177-3AD203B41FA5}">
                      <a16:colId xmlns:a16="http://schemas.microsoft.com/office/drawing/2014/main" val="3301111309"/>
                    </a:ext>
                  </a:extLst>
                </a:gridCol>
                <a:gridCol w="603235">
                  <a:extLst>
                    <a:ext uri="{9D8B030D-6E8A-4147-A177-3AD203B41FA5}">
                      <a16:colId xmlns:a16="http://schemas.microsoft.com/office/drawing/2014/main" val="1661291378"/>
                    </a:ext>
                  </a:extLst>
                </a:gridCol>
                <a:gridCol w="1168702">
                  <a:extLst>
                    <a:ext uri="{9D8B030D-6E8A-4147-A177-3AD203B41FA5}">
                      <a16:colId xmlns:a16="http://schemas.microsoft.com/office/drawing/2014/main" val="418241053"/>
                    </a:ext>
                  </a:extLst>
                </a:gridCol>
                <a:gridCol w="1248926">
                  <a:extLst>
                    <a:ext uri="{9D8B030D-6E8A-4147-A177-3AD203B41FA5}">
                      <a16:colId xmlns:a16="http://schemas.microsoft.com/office/drawing/2014/main" val="594005979"/>
                    </a:ext>
                  </a:extLst>
                </a:gridCol>
                <a:gridCol w="622912">
                  <a:extLst>
                    <a:ext uri="{9D8B030D-6E8A-4147-A177-3AD203B41FA5}">
                      <a16:colId xmlns:a16="http://schemas.microsoft.com/office/drawing/2014/main" val="3971821460"/>
                    </a:ext>
                  </a:extLst>
                </a:gridCol>
                <a:gridCol w="1970089">
                  <a:extLst>
                    <a:ext uri="{9D8B030D-6E8A-4147-A177-3AD203B41FA5}">
                      <a16:colId xmlns:a16="http://schemas.microsoft.com/office/drawing/2014/main" val="2254512465"/>
                    </a:ext>
                  </a:extLst>
                </a:gridCol>
                <a:gridCol w="5815309">
                  <a:extLst>
                    <a:ext uri="{9D8B030D-6E8A-4147-A177-3AD203B41FA5}">
                      <a16:colId xmlns:a16="http://schemas.microsoft.com/office/drawing/2014/main" val="1884921257"/>
                    </a:ext>
                  </a:extLst>
                </a:gridCol>
              </a:tblGrid>
              <a:tr h="1252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Project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Use case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IP/Port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200" b="1" u="none" strike="noStrike" dirty="0">
                          <a:effectLst/>
                        </a:rPr>
                        <a:t>Functionality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Status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Responsible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Describe Current Status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01372"/>
                  </a:ext>
                </a:extLst>
              </a:tr>
              <a:tr h="125269">
                <a:tc rowSpan="1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 err="1">
                          <a:effectLst/>
                          <a:latin typeface="+mn-lt"/>
                        </a:rPr>
                        <a:t>LightHouse</a:t>
                      </a:r>
                      <a:endParaRPr lang="vi-VN" sz="1200" b="0" i="0" u="none" strike="noStrike" dirty="0">
                        <a:solidFill>
                          <a:schemeClr val="dk1"/>
                        </a:solidFill>
                        <a:effectLst/>
                        <a:latin typeface="+mn-lt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vi-V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10.72.75.16:443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Login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文宝</a:t>
                      </a:r>
                      <a:r>
                        <a:rPr lang="en-US" altLang="zh-CN" sz="1200" u="none" strike="noStrike" dirty="0">
                          <a:effectLst/>
                        </a:rPr>
                        <a:t>, </a:t>
                      </a:r>
                      <a:r>
                        <a:rPr lang="en-US" sz="1200" u="none" strike="noStrike" dirty="0">
                          <a:effectLst/>
                        </a:rPr>
                        <a:t>Panda, </a:t>
                      </a:r>
                      <a:r>
                        <a:rPr lang="en-US" sz="1200" u="none" strike="noStrike" dirty="0" err="1">
                          <a:effectLst/>
                        </a:rPr>
                        <a:t>AnyScript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390938"/>
                  </a:ext>
                </a:extLst>
              </a:tr>
              <a:tr h="1252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LLM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191345"/>
                  </a:ext>
                </a:extLst>
              </a:tr>
              <a:tr h="284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Web UI Interaction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182751"/>
                  </a:ext>
                </a:extLst>
              </a:tr>
              <a:tr h="968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10.72.75.16:8081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Login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1647669"/>
                  </a:ext>
                </a:extLst>
              </a:tr>
              <a:tr h="1252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200" u="none" strike="noStrike" dirty="0">
                          <a:effectLst/>
                        </a:rPr>
                        <a:t>3</a:t>
                      </a:r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u="none" strike="noStrike">
                          <a:effectLst/>
                        </a:rPr>
                        <a:t>10.72.75.16:8081</a:t>
                      </a:r>
                      <a:endParaRPr lang="en-US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Login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261286"/>
                  </a:ext>
                </a:extLst>
              </a:tr>
              <a:tr h="1252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LLM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880819"/>
                  </a:ext>
                </a:extLst>
              </a:tr>
              <a:tr h="1252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Web UI Interaction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173919"/>
                  </a:ext>
                </a:extLst>
              </a:tr>
              <a:tr h="1252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10.72.75.14:8081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Login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徐逸兴</a:t>
                      </a:r>
                      <a:r>
                        <a:rPr lang="en-US" altLang="zh-CN" sz="1200" u="none" strike="noStrike" dirty="0">
                          <a:effectLst/>
                        </a:rPr>
                        <a:t>, </a:t>
                      </a:r>
                      <a:r>
                        <a:rPr lang="en-US" sz="1200" u="none" strike="noStrike" dirty="0">
                          <a:effectLst/>
                        </a:rPr>
                        <a:t>Panda, </a:t>
                      </a:r>
                      <a:r>
                        <a:rPr lang="en-US" sz="1200" u="none" strike="noStrike" dirty="0" err="1">
                          <a:effectLst/>
                        </a:rPr>
                        <a:t>AnyScript</a:t>
                      </a:r>
                      <a:r>
                        <a:rPr lang="en-US" sz="1200" u="none" strike="noStrike" dirty="0">
                          <a:effectLst/>
                        </a:rPr>
                        <a:t>, </a:t>
                      </a:r>
                      <a:endParaRPr lang="vi-VN" sz="1200" u="none" strike="noStrike" dirty="0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陳冠瑋</a:t>
                      </a:r>
                      <a:r>
                        <a:rPr lang="en-US" altLang="zh-CN" sz="1200" u="none" strike="noStrike" dirty="0">
                          <a:effectLst/>
                        </a:rPr>
                        <a:t>(</a:t>
                      </a:r>
                      <a:r>
                        <a:rPr lang="en-US" sz="1200" u="none" strike="noStrike" dirty="0">
                          <a:effectLst/>
                        </a:rPr>
                        <a:t>Kuan-Wei Chen) Peter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200" dirty="0"/>
                        <a:t>A network access request has been submitted to allow connectivity from IP 159.138.228.193 to the server IP 10.72.75.14.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03162"/>
                  </a:ext>
                </a:extLst>
              </a:tr>
              <a:tr h="1252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Web UI Interaction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8243172"/>
                  </a:ext>
                </a:extLst>
              </a:tr>
              <a:tr h="1252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Onmiverse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504395"/>
                  </a:ext>
                </a:extLst>
              </a:tr>
              <a:tr h="1252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4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10.72.75.18:443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Login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徐逸兴</a:t>
                      </a:r>
                      <a:r>
                        <a:rPr lang="en-US" altLang="zh-CN" sz="1200" u="none" strike="noStrike" dirty="0">
                          <a:effectLst/>
                        </a:rPr>
                        <a:t>, </a:t>
                      </a:r>
                      <a:r>
                        <a:rPr lang="en-US" sz="1200" u="none" strike="noStrike" dirty="0">
                          <a:effectLst/>
                        </a:rPr>
                        <a:t>Panda,</a:t>
                      </a:r>
                      <a:br>
                        <a:rPr lang="en-US" sz="1200" u="none" strike="noStrike" dirty="0">
                          <a:effectLst/>
                        </a:rPr>
                      </a:br>
                      <a:r>
                        <a:rPr lang="zh-CN" altLang="en-US" sz="1200" u="none" strike="noStrike" dirty="0">
                          <a:effectLst/>
                        </a:rPr>
                        <a:t>陳冠瑋</a:t>
                      </a:r>
                      <a:r>
                        <a:rPr lang="en-US" altLang="zh-CN" sz="1200" u="none" strike="noStrike" dirty="0">
                          <a:effectLst/>
                        </a:rPr>
                        <a:t>(</a:t>
                      </a:r>
                      <a:r>
                        <a:rPr lang="en-US" sz="1200" u="none" strike="noStrike" dirty="0">
                          <a:effectLst/>
                        </a:rPr>
                        <a:t>Kuan-Wei Chen) Peter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200" u="none" strike="noStrike" dirty="0">
                          <a:effectLst/>
                        </a:rPr>
                        <a:t>1. </a:t>
                      </a:r>
                      <a:r>
                        <a:rPr lang="en-US" sz="1200" u="none" strike="noStrike" dirty="0">
                          <a:effectLst/>
                        </a:rPr>
                        <a:t>LLM currently is not working.(This feature link with Case 5)</a:t>
                      </a:r>
                      <a:endParaRPr lang="vi-VN" sz="1200" u="none" strike="noStrike" dirty="0">
                        <a:effectLst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vi-VN" sz="12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 Onmiverse can display 3D scene of old server.</a:t>
                      </a:r>
                      <a:endParaRPr lang="en-US" sz="1200" u="none" strike="noStrike" dirty="0">
                        <a:effectLst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463136"/>
                  </a:ext>
                </a:extLst>
              </a:tr>
              <a:tr h="1252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Real-time data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505943"/>
                  </a:ext>
                </a:extLst>
              </a:tr>
              <a:tr h="1252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LLM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On-going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334591"/>
                  </a:ext>
                </a:extLst>
              </a:tr>
              <a:tr h="1252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Onmiverse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3768429"/>
                  </a:ext>
                </a:extLst>
              </a:tr>
              <a:tr h="1252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Web UI Interaction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8257250"/>
                  </a:ext>
                </a:extLst>
              </a:tr>
              <a:tr h="1252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5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10.72.75.31:8081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Login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安之君</a:t>
                      </a:r>
                      <a:r>
                        <a:rPr lang="en-US" sz="1200" u="none" strike="noStrike" dirty="0">
                          <a:effectLst/>
                        </a:rPr>
                        <a:t>, Panda, </a:t>
                      </a:r>
                      <a:r>
                        <a:rPr lang="en-US" sz="1200" u="none" strike="noStrike" dirty="0" err="1">
                          <a:effectLst/>
                        </a:rPr>
                        <a:t>AnyScript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ctr">
                        <a:buNone/>
                      </a:pPr>
                      <a:br>
                        <a:rPr lang="en-US" sz="1200" u="none" strike="noStrike" dirty="0">
                          <a:effectLst/>
                        </a:rPr>
                      </a:b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006516"/>
                  </a:ext>
                </a:extLst>
              </a:tr>
              <a:tr h="1252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Real-time data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543097"/>
                  </a:ext>
                </a:extLst>
              </a:tr>
              <a:tr h="1252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LLM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827242"/>
                  </a:ext>
                </a:extLst>
              </a:tr>
              <a:tr h="1252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Web UI Interaction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77048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3CD4A6E-F259-4164-D711-A8424C8486CD}"/>
              </a:ext>
            </a:extLst>
          </p:cNvPr>
          <p:cNvSpPr txBox="1"/>
          <p:nvPr/>
        </p:nvSpPr>
        <p:spPr>
          <a:xfrm>
            <a:off x="526211" y="536332"/>
            <a:ext cx="17942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I. </a:t>
            </a:r>
            <a:r>
              <a:rPr lang="vi-VN" altLang="zh-CN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Overview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611D595-1F6D-5CC9-9947-A3044F38F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867798"/>
              </p:ext>
            </p:extLst>
          </p:nvPr>
        </p:nvGraphicFramePr>
        <p:xfrm>
          <a:off x="-8152" y="4864178"/>
          <a:ext cx="12200150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8926">
                  <a:extLst>
                    <a:ext uri="{9D8B030D-6E8A-4147-A177-3AD203B41FA5}">
                      <a16:colId xmlns:a16="http://schemas.microsoft.com/office/drawing/2014/main" val="3301111309"/>
                    </a:ext>
                  </a:extLst>
                </a:gridCol>
                <a:gridCol w="658118">
                  <a:extLst>
                    <a:ext uri="{9D8B030D-6E8A-4147-A177-3AD203B41FA5}">
                      <a16:colId xmlns:a16="http://schemas.microsoft.com/office/drawing/2014/main" val="1661291378"/>
                    </a:ext>
                  </a:extLst>
                </a:gridCol>
                <a:gridCol w="1310296">
                  <a:extLst>
                    <a:ext uri="{9D8B030D-6E8A-4147-A177-3AD203B41FA5}">
                      <a16:colId xmlns:a16="http://schemas.microsoft.com/office/drawing/2014/main" val="418241053"/>
                    </a:ext>
                  </a:extLst>
                </a:gridCol>
                <a:gridCol w="988453">
                  <a:extLst>
                    <a:ext uri="{9D8B030D-6E8A-4147-A177-3AD203B41FA5}">
                      <a16:colId xmlns:a16="http://schemas.microsoft.com/office/drawing/2014/main" val="594005979"/>
                    </a:ext>
                  </a:extLst>
                </a:gridCol>
                <a:gridCol w="708424">
                  <a:extLst>
                    <a:ext uri="{9D8B030D-6E8A-4147-A177-3AD203B41FA5}">
                      <a16:colId xmlns:a16="http://schemas.microsoft.com/office/drawing/2014/main" val="3971821460"/>
                    </a:ext>
                  </a:extLst>
                </a:gridCol>
                <a:gridCol w="2083040">
                  <a:extLst>
                    <a:ext uri="{9D8B030D-6E8A-4147-A177-3AD203B41FA5}">
                      <a16:colId xmlns:a16="http://schemas.microsoft.com/office/drawing/2014/main" val="2254512465"/>
                    </a:ext>
                  </a:extLst>
                </a:gridCol>
                <a:gridCol w="5532893">
                  <a:extLst>
                    <a:ext uri="{9D8B030D-6E8A-4147-A177-3AD203B41FA5}">
                      <a16:colId xmlns:a16="http://schemas.microsoft.com/office/drawing/2014/main" val="1884921257"/>
                    </a:ext>
                  </a:extLst>
                </a:gridCol>
              </a:tblGrid>
              <a:tr h="1578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Project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Use case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IP/Port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200" b="1" u="none" strike="noStrike" dirty="0">
                          <a:effectLst/>
                        </a:rPr>
                        <a:t>Functionality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Status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Responsible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Describe Current Status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01372"/>
                  </a:ext>
                </a:extLst>
              </a:tr>
              <a:tr h="15786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 err="1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LightHouse</a:t>
                      </a:r>
                      <a:endParaRPr lang="vi-VN" sz="1200" b="0" i="0" u="none" strike="noStrike" dirty="0">
                        <a:solidFill>
                          <a:schemeClr val="dk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vi-V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20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10.72.75.14:8081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 err="1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Onmiverse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On-going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徐逸兴</a:t>
                      </a:r>
                      <a:r>
                        <a:rPr lang="en-US" altLang="zh-CN" sz="1200" u="none" strike="noStrike" dirty="0">
                          <a:effectLst/>
                        </a:rPr>
                        <a:t>, </a:t>
                      </a:r>
                      <a:r>
                        <a:rPr lang="en-US" sz="1200" u="none" strike="noStrike" dirty="0">
                          <a:effectLst/>
                        </a:rPr>
                        <a:t>Panda, </a:t>
                      </a:r>
                      <a:r>
                        <a:rPr lang="en-US" sz="1200" u="none" strike="noStrike" dirty="0" err="1">
                          <a:effectLst/>
                        </a:rPr>
                        <a:t>AnyScript</a:t>
                      </a:r>
                      <a:r>
                        <a:rPr lang="en-US" sz="1200" u="none" strike="noStrike" dirty="0">
                          <a:effectLst/>
                        </a:rPr>
                        <a:t>, </a:t>
                      </a:r>
                      <a:endParaRPr lang="vi-VN" sz="1200" u="none" strike="noStrike" dirty="0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陳冠瑋</a:t>
                      </a:r>
                      <a:r>
                        <a:rPr lang="en-US" altLang="zh-CN" sz="1200" u="none" strike="noStrike" dirty="0">
                          <a:effectLst/>
                        </a:rPr>
                        <a:t>(</a:t>
                      </a:r>
                      <a:r>
                        <a:rPr lang="en-US" sz="1200" u="none" strike="noStrike" dirty="0">
                          <a:effectLst/>
                        </a:rPr>
                        <a:t>Kuan-Wei Chen) Peter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 network access request has been submitted to allow connectivity from IP 159.138.228.193 to the server IP 10.72.75.14.</a:t>
                      </a:r>
                      <a:endParaRPr lang="en-US" sz="120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355996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dirty="0"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20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10.72.75.18:443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 err="1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Onmiverse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On-going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u="none" strike="noStrike" dirty="0">
                          <a:effectLst/>
                        </a:rPr>
                        <a:t>徐逸兴</a:t>
                      </a:r>
                      <a:r>
                        <a:rPr lang="en-US" altLang="zh-CN" sz="1200" u="none" strike="noStrike" dirty="0">
                          <a:effectLst/>
                        </a:rPr>
                        <a:t>, </a:t>
                      </a:r>
                      <a:r>
                        <a:rPr lang="en-US" sz="1200" u="none" strike="noStrike" dirty="0">
                          <a:effectLst/>
                        </a:rPr>
                        <a:t>Panda,</a:t>
                      </a:r>
                      <a:br>
                        <a:rPr lang="en-US" sz="1200" u="none" strike="noStrike" dirty="0">
                          <a:effectLst/>
                        </a:rPr>
                      </a:br>
                      <a:r>
                        <a:rPr lang="zh-CN" altLang="en-US" sz="1200" u="none" strike="noStrike" dirty="0">
                          <a:effectLst/>
                        </a:rPr>
                        <a:t>陳冠瑋</a:t>
                      </a:r>
                      <a:r>
                        <a:rPr lang="en-US" altLang="zh-CN" sz="1200" u="none" strike="noStrike" dirty="0">
                          <a:effectLst/>
                        </a:rPr>
                        <a:t>(</a:t>
                      </a:r>
                      <a:r>
                        <a:rPr lang="en-US" sz="1200" u="none" strike="noStrike" dirty="0">
                          <a:effectLst/>
                        </a:rPr>
                        <a:t>Kuan-Wei Chen) Peter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Already moving data to new server.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5128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2411E2A-F537-D6B0-0FB9-F3450D9DA319}"/>
              </a:ext>
            </a:extLst>
          </p:cNvPr>
          <p:cNvSpPr txBox="1"/>
          <p:nvPr/>
        </p:nvSpPr>
        <p:spPr>
          <a:xfrm>
            <a:off x="0" y="0"/>
            <a:ext cx="24121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406196"/>
              </a:buClr>
            </a:pPr>
            <a:r>
              <a:rPr lang="vi-VN" altLang="zh-CN" sz="1600" dirty="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Lighthouse Installation</a:t>
            </a:r>
            <a:endParaRPr lang="en-US" altLang="zh-CN" sz="1600" dirty="0">
              <a:solidFill>
                <a:srgbClr val="0000CC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0BB88A-0F12-C33C-1D8E-AAE4643EDB27}"/>
              </a:ext>
            </a:extLst>
          </p:cNvPr>
          <p:cNvSpPr txBox="1"/>
          <p:nvPr/>
        </p:nvSpPr>
        <p:spPr>
          <a:xfrm>
            <a:off x="2246451" y="5964209"/>
            <a:ext cx="76909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406196"/>
              </a:buClr>
            </a:pPr>
            <a:r>
              <a:rPr lang="vi-VN" altLang="zh-CN" sz="1200" dirty="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Table 2: </a:t>
            </a:r>
            <a:r>
              <a:rPr lang="en-US" altLang="zh-CN" sz="1200" dirty="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Phase </a:t>
            </a:r>
            <a:r>
              <a:rPr lang="vi-VN" altLang="zh-CN" sz="1200" dirty="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2-</a:t>
            </a:r>
            <a:r>
              <a:rPr lang="en-US" altLang="zh-CN" sz="1200" dirty="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Install </a:t>
            </a:r>
            <a:r>
              <a:rPr lang="vi-VN" altLang="zh-CN" sz="1200" dirty="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new </a:t>
            </a:r>
            <a:r>
              <a:rPr lang="en-US" altLang="zh-CN" sz="1200" dirty="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Omniverse program of use case 2&amp;4 to Server 10.72.92.47 (2x GPU-PRO6000)</a:t>
            </a:r>
          </a:p>
        </p:txBody>
      </p:sp>
    </p:spTree>
    <p:extLst>
      <p:ext uri="{BB962C8B-B14F-4D97-AF65-F5344CB8AC3E}">
        <p14:creationId xmlns:p14="http://schemas.microsoft.com/office/powerpoint/2010/main" val="3617932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47A51-3277-003D-E9FF-07B4B40D0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0">
            <a:extLst>
              <a:ext uri="{FF2B5EF4-FFF2-40B4-BE49-F238E27FC236}">
                <a16:creationId xmlns:a16="http://schemas.microsoft.com/office/drawing/2014/main" id="{81AA8804-D2B0-B9C4-C611-16729E38F1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0070349"/>
              </p:ext>
            </p:extLst>
          </p:nvPr>
        </p:nvGraphicFramePr>
        <p:xfrm>
          <a:off x="1311" y="302205"/>
          <a:ext cx="12190689" cy="6675120"/>
        </p:xfrm>
        <a:graphic>
          <a:graphicData uri="http://schemas.openxmlformats.org/drawingml/2006/table">
            <a:tbl>
              <a:tblPr/>
              <a:tblGrid>
                <a:gridCol w="392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163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409839024"/>
                    </a:ext>
                  </a:extLst>
                </a:gridCol>
              </a:tblGrid>
              <a:tr h="23527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1" strike="noStrike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Case</a:t>
                      </a:r>
                      <a:endParaRPr lang="en-US" sz="1200" b="1" strike="noStrike" spc="-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vi-VN" sz="1200" b="1" strike="noStrike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</a:t>
                      </a:r>
                      <a:endParaRPr lang="en-US" sz="1200" b="1" strike="noStrike" spc="-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vi-VN" sz="1200" b="1" strike="noStrike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Progress </a:t>
                      </a:r>
                      <a:r>
                        <a:rPr lang="en-US" sz="1200" b="1" strike="noStrike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(Green: Done/Closed; Yellow: Ongoing; Other color: Open)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1" strike="noStrike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Due </a:t>
                      </a:r>
                      <a:r>
                        <a:rPr lang="vi-VN" sz="1200" b="1" strike="noStrike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date</a:t>
                      </a:r>
                      <a:endParaRPr lang="en-US" sz="1200" b="1" strike="noStrike" spc="-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982">
                <a:tc row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</a:t>
                      </a:r>
                      <a:r>
                        <a:rPr lang="en-US" sz="1200" b="0" strike="noStrike" spc="-1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mn</a:t>
                      </a: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iverse</a:t>
                      </a:r>
                      <a:endParaRPr lang="en-US" sz="12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1. Create access application to transfer data – </a:t>
                      </a:r>
                      <a:r>
                        <a:rPr lang="vi-VN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Done-</a:t>
                      </a:r>
                      <a:r>
                        <a:rPr lang="zh-CN" altLang="en-US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阮功俊英</a:t>
                      </a:r>
                      <a:r>
                        <a:rPr lang="vi-VN" altLang="zh-CN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zh-CN" altLang="en-US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 潘落興</a:t>
                      </a:r>
                      <a:r>
                        <a:rPr lang="vi-VN" altLang="zh-CN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-26/04/08</a:t>
                      </a:r>
                      <a:endParaRPr lang="vi-VN" sz="1200" b="0" strike="noStrike" spc="-1" dirty="0"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2. Setting server and create new VM (75.42) to store data of case 2 OMV – </a:t>
                      </a:r>
                      <a:r>
                        <a:rPr lang="vi-VN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Done-Panda-26/04/07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3. </a:t>
                      </a:r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Transfer data from old server (93.48) to new server (75.14) and then to VM42 (</a:t>
                      </a:r>
                      <a:r>
                        <a:rPr lang="vi-V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</a:t>
                      </a:r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.42)</a:t>
                      </a: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</a:t>
                      </a:r>
                      <a:r>
                        <a:rPr lang="vi-VN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Done-</a:t>
                      </a:r>
                      <a:r>
                        <a:rPr lang="en-US" altLang="zh-CN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TARG </a:t>
                      </a:r>
                      <a:r>
                        <a:rPr lang="zh-CN" altLang="en-US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陳冠瑋</a:t>
                      </a:r>
                      <a:r>
                        <a:rPr lang="en-US" altLang="zh-CN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vi-VN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Kuan-Wei Chen) Peter-26/04/13</a:t>
                      </a:r>
                      <a:endParaRPr lang="vi-VN" sz="12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26/04/15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58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4. </a:t>
                      </a:r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Get chiller MQTT data source address</a:t>
                      </a: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</a:t>
                      </a:r>
                      <a:r>
                        <a:rPr lang="vi-VN" sz="1200" b="0" strike="noStrike" spc="-1" dirty="0"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 going- </a:t>
                      </a:r>
                      <a:r>
                        <a:rPr lang="zh-CN" altLang="en-US" sz="1200" b="0" strike="noStrike" spc="-1" dirty="0"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陳冠瑋</a:t>
                      </a:r>
                      <a:r>
                        <a:rPr lang="en-US" altLang="zh-CN" sz="1200" b="0" strike="noStrike" spc="-1" dirty="0"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vi-VN" sz="1200" b="0" strike="noStrike" spc="-1" dirty="0"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Kuan-Wei Chen) Peter, </a:t>
                      </a:r>
                      <a:r>
                        <a:rPr lang="zh-CN" altLang="en-US" sz="1200" b="0" strike="noStrike" spc="-1" dirty="0"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阮功俊英</a:t>
                      </a:r>
                      <a:r>
                        <a:rPr lang="vi-VN" altLang="zh-CN" sz="1200" b="0" strike="noStrike" spc="-1" dirty="0"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zh-CN" altLang="en-US" sz="1200" b="0" strike="noStrike" spc="-1" dirty="0"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潘落興</a:t>
                      </a:r>
                      <a:endParaRPr lang="vi-VN" altLang="zh-CN" sz="1200" b="0" strike="noStrike" spc="-1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</a:t>
                      </a:r>
                      <a:r>
                        <a:rPr lang="vi-VN" sz="1200" b="0" strike="noStrike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(1) </a:t>
                      </a:r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</a:t>
                      </a:r>
                      <a:r>
                        <a:rPr lang="vi-V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old </a:t>
                      </a:r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application was rejected on 26/04/28 due to port 80 being considered high risk.</a:t>
                      </a:r>
                      <a:r>
                        <a:rPr lang="vi-V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This impacts OMV deployment, as all related OMV ports are included in the same application</a:t>
                      </a:r>
                      <a:r>
                        <a:rPr lang="vi-V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vi-V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vi-V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New application was recreated with port separate from those associated with IOC and submitted on 26/05/07</a:t>
                      </a:r>
                      <a:r>
                        <a:rPr lang="vi-VN" sz="1200" b="0" strike="noStrike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 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  <a:r>
                        <a:rPr lang="vi-VN" sz="1200" b="0" strike="noStrike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ue 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  <a:r>
                        <a:rPr lang="vi-VN" sz="1200" b="0" strike="noStrike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ate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</a:t>
                      </a:r>
                      <a:r>
                        <a:rPr lang="vi-VN" sz="1200" b="0" strike="noStrike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0" strike="noStrike" spc="-1" dirty="0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 days </a:t>
                      </a:r>
                      <a:r>
                        <a:rPr lang="vi-VN" sz="1200" b="0" strike="noStrike" spc="-1" dirty="0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200" b="0" strike="noStrike" spc="-1" dirty="0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 is the actual number of days it takes for the application to be approved.</a:t>
                      </a:r>
                      <a:r>
                        <a:rPr lang="vi-VN" sz="1200" b="0" strike="noStrike" spc="-1" dirty="0">
                          <a:solidFill>
                            <a:srgbClr val="0000C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D+5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869006"/>
                  </a:ext>
                </a:extLst>
              </a:tr>
              <a:tr h="2352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en-US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5. Re-configure</a:t>
                      </a:r>
                      <a:r>
                        <a:rPr lang="en-US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and deploy OMV </a:t>
                      </a: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web- TARG</a:t>
                      </a:r>
                      <a:r>
                        <a:rPr lang="en-US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zh-CN" altLang="en-US" sz="1200" b="0" strike="noStrike" spc="-1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陳冠瑋</a:t>
                      </a:r>
                      <a:r>
                        <a:rPr lang="en-US" altLang="zh-C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Kuan-Wei Chen) Peter, </a:t>
                      </a:r>
                      <a:r>
                        <a:rPr lang="zh-CN" altLang="en-US" sz="1200" b="0" strike="noStrike" spc="-1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阮功俊英</a:t>
                      </a:r>
                      <a:endParaRPr lang="vi-VN" sz="12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D+8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735277"/>
                  </a:ext>
                </a:extLst>
              </a:tr>
              <a:tr h="2352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6. Run OMV Kit app service &amp; web service- TARG</a:t>
                      </a:r>
                      <a:r>
                        <a:rPr lang="en-US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陳冠瑋</a:t>
                      </a:r>
                      <a:r>
                        <a:rPr lang="en-US" altLang="zh-C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Kuan-Wei Chen) Peter, 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阮功俊英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200" b="0" strike="noStrike" kern="1200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D+8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510920"/>
                  </a:ext>
                </a:extLst>
              </a:tr>
              <a:tr h="2352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7. </a:t>
                      </a:r>
                      <a:r>
                        <a:rPr lang="en-US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Update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i-</a:t>
                      </a:r>
                      <a:r>
                        <a:rPr lang="en-US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frame on main website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</a:t>
                      </a:r>
                      <a:r>
                        <a:rPr lang="en-US" altLang="zh-CN" sz="1200" b="0" strike="noStrike" kern="1200" spc="-1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AnyScript</a:t>
                      </a:r>
                      <a:endParaRPr lang="vi-VN" sz="1200" b="0" strike="noStrike" kern="1200" spc="-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200" b="0" strike="noStrike" kern="1200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D+11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461946"/>
                  </a:ext>
                </a:extLst>
              </a:tr>
              <a:tr h="2352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8. Test website function- TARG</a:t>
                      </a:r>
                      <a:r>
                        <a:rPr lang="en-US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陳冠瑋</a:t>
                      </a:r>
                      <a:r>
                        <a:rPr lang="en-US" altLang="zh-C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Kuan-Wei Chen) Peter, 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阮功俊英</a:t>
                      </a:r>
                      <a:endParaRPr lang="en-US" sz="1200" b="0" strike="noStrike" kern="1200" spc="-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200" b="0" strike="noStrike" kern="1200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D+16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115401"/>
                  </a:ext>
                </a:extLst>
              </a:tr>
              <a:tr h="548982">
                <a:tc row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</a:t>
                      </a:r>
                      <a:r>
                        <a:rPr lang="en-US" sz="1200" b="0" strike="noStrike" spc="-1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mn</a:t>
                      </a: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iverse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 Create access application to transfer data – </a:t>
                      </a:r>
                      <a:r>
                        <a:rPr lang="vi-VN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Done-</a:t>
                      </a:r>
                      <a:r>
                        <a:rPr lang="zh-CN" altLang="en-US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阮功俊英</a:t>
                      </a:r>
                      <a:r>
                        <a:rPr lang="vi-VN" altLang="zh-CN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zh-CN" altLang="en-US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 潘落興</a:t>
                      </a:r>
                      <a:r>
                        <a:rPr lang="vi-VN" altLang="zh-CN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-26/04/08</a:t>
                      </a:r>
                      <a:endParaRPr lang="vi-VN" sz="1200" b="0" strike="noStrike" spc="-1" dirty="0"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 Setting server </a:t>
                      </a:r>
                      <a:r>
                        <a:rPr lang="en-US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&amp;</a:t>
                      </a: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create new VM</a:t>
                      </a:r>
                      <a:r>
                        <a:rPr lang="en-US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</a:t>
                      </a: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75.</a:t>
                      </a:r>
                      <a:r>
                        <a:rPr lang="en-US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41)</a:t>
                      </a: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to store data of case 4 OMV– </a:t>
                      </a:r>
                      <a:r>
                        <a:rPr lang="vi-VN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Done-Panda-26/04/07</a:t>
                      </a:r>
                      <a:endParaRPr lang="vi-VN" sz="12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3.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Transfer data from old server (93.48) to new server (75.14) and then to VM42 (</a:t>
                      </a:r>
                      <a:r>
                        <a:rPr lang="vi-VN" sz="12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.42)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Done-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TARG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陳冠瑋</a:t>
                      </a:r>
                      <a:r>
                        <a:rPr lang="en-US" altLang="zh-C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Kuan-Wei Chen) Peter-26/04/13</a:t>
                      </a:r>
                      <a:endParaRPr lang="vi-VN" sz="12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26/04/15</a:t>
                      </a:r>
                      <a:endParaRPr lang="en-US" sz="1200" b="0" strike="noStrike" kern="1200" spc="-1" dirty="0">
                        <a:solidFill>
                          <a:srgbClr val="000000"/>
                        </a:solidFill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endParaRPr lang="vi-VN" sz="12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1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 Test website function –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 going-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鄧潘英</a:t>
                      </a:r>
                      <a:r>
                        <a:rPr lang="vi-VN" altLang="zh-C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TARG</a:t>
                      </a:r>
                      <a:r>
                        <a:rPr lang="en-US" altLang="zh-C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Peter, TARG</a:t>
                      </a:r>
                      <a:r>
                        <a:rPr lang="en-US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Panda, Iverson(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博丞</a:t>
                      </a:r>
                      <a:r>
                        <a:rPr lang="en-US" altLang="zh-C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vi-VN" altLang="zh-CN" sz="1200" b="0" strike="noStrike" kern="1200" spc="-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(1) We have re-</a:t>
                      </a:r>
                      <a:r>
                        <a:rPr lang="en-US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tested using </a:t>
                      </a:r>
                      <a:r>
                        <a:rPr lang="en-US" sz="1200" b="0" strike="noStrike" kern="1200" spc="-1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tmux</a:t>
                      </a:r>
                      <a:r>
                        <a:rPr lang="en-US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restarting the Kit app, and reconnecting through the URL, but the Omniverse connection issue still persists.</a:t>
                      </a:r>
                      <a:endParaRPr lang="vi-VN" sz="1200" b="0" strike="noStrike" kern="1200" spc="-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D+5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138256"/>
                  </a:ext>
                </a:extLst>
              </a:tr>
              <a:tr h="3921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LLM</a:t>
                      </a:r>
                      <a:endParaRPr lang="en-US" sz="12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 S</a:t>
                      </a:r>
                      <a:r>
                        <a:rPr lang="en-US" sz="1200" b="0" strike="noStrike" spc="-1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ubmit</a:t>
                      </a:r>
                      <a:r>
                        <a:rPr lang="en-US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internet application for IOC access with updated port</a:t>
                      </a: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</a:t>
                      </a:r>
                      <a:r>
                        <a:rPr lang="vi-VN" sz="1200" b="0" strike="noStrike" spc="-1" dirty="0"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On-going- </a:t>
                      </a:r>
                      <a:r>
                        <a:rPr lang="zh-CN" altLang="en-US" sz="1200" b="0" strike="noStrike" spc="-1" dirty="0"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阮功俊英</a:t>
                      </a:r>
                      <a:r>
                        <a:rPr lang="vi-VN" altLang="zh-CN" sz="1200" b="0" strike="noStrike" spc="-1" dirty="0"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zh-CN" altLang="en-US" sz="1200" b="0" strike="noStrike" spc="-1" dirty="0"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 潘落興</a:t>
                      </a:r>
                      <a:endParaRPr lang="vi-VN" altLang="zh-CN" sz="1200" b="0" strike="noStrike" kern="1200" spc="-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(1) </a:t>
                      </a:r>
                      <a:r>
                        <a:rPr lang="en-US" sz="1200" b="0" strike="noStrike" kern="1200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application has been submitted and </a:t>
                      </a:r>
                      <a:r>
                        <a:rPr lang="vi-VN" sz="1200" b="0" strike="noStrike" kern="1200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was rejected on 26/04/28 due to port 80 (IOC-related) being considered high risk </a:t>
                      </a:r>
                      <a:r>
                        <a:rPr lang="vi-VN" sz="1200" b="0" strike="noStrike" kern="1200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 Woking </a:t>
                      </a:r>
                      <a:r>
                        <a:rPr lang="en-US" sz="1200" b="0" strike="noStrike" kern="1200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with the security team to conduct an information security assessment and reconfirm the request before resubmission.</a:t>
                      </a:r>
                      <a:endParaRPr lang="vi-VN" altLang="zh-CN" sz="1200" b="0" strike="noStrike" spc="-1" dirty="0"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  <a:endParaRPr lang="en-US" sz="12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92795"/>
                  </a:ext>
                </a:extLst>
              </a:tr>
              <a:tr h="2352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 Deploy ioc service-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Ongoing- </a:t>
                      </a:r>
                      <a:r>
                        <a:rPr lang="en-US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</a:t>
                      </a:r>
                      <a:r>
                        <a:rPr lang="en-US" altLang="zh-C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袁小利</a:t>
                      </a:r>
                      <a:endParaRPr lang="vi-VN" altLang="zh-CN" sz="1200" b="0" strike="noStrike" kern="1200" spc="-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D+7</a:t>
                      </a:r>
                      <a:endParaRPr lang="en-US" sz="12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96005"/>
                  </a:ext>
                </a:extLst>
              </a:tr>
              <a:tr h="7058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3. Test LLM function –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Ongoing-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鄧潘英</a:t>
                      </a:r>
                      <a:r>
                        <a:rPr lang="vi-VN" altLang="zh-C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altLang="zh-C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(1) The LLM is still not available, on 26/05/08, we tried to update the LLM API address and tested but the interface at that address is unavailable </a:t>
                      </a:r>
                      <a:r>
                        <a:rPr lang="vi-VN" altLang="zh-C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 Need to use the interface of IOC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    (2) The server is currently shutdown after reboot on 26/05/08, reason for rebooting is that one GPU is unavailable.  cannot test kit service.</a:t>
                      </a:r>
                      <a:endParaRPr lang="en-US" sz="1200" b="0" strike="noStrike" kern="1200" spc="-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D+12</a:t>
                      </a:r>
                      <a:endParaRPr lang="en-US" sz="12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16985"/>
                  </a:ext>
                </a:extLst>
              </a:tr>
              <a:tr h="235278"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2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LLM</a:t>
                      </a:r>
                      <a:endParaRPr lang="en-US" sz="12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0" algn="l"/>
                        </a:tabLst>
                        <a:defRPr/>
                      </a:pPr>
                      <a:r>
                        <a:rPr lang="vi-VN" sz="1200" strike="sngStrik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  <a:r>
                        <a:rPr lang="en-US" sz="1200" strike="sngStrike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ubmit</a:t>
                      </a:r>
                      <a:r>
                        <a:rPr lang="en-US" sz="1200" strike="sngStrik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internet application for IOC access with updated port</a:t>
                      </a:r>
                      <a:r>
                        <a:rPr lang="vi-VN" sz="1200" b="0" strike="sng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</a:t>
                      </a:r>
                      <a:r>
                        <a:rPr lang="vi-VN" sz="1200" b="0" strike="sng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On-going- </a:t>
                      </a:r>
                      <a:r>
                        <a:rPr lang="zh-CN" altLang="en-US" sz="1200" b="0" strike="sng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阮功俊英</a:t>
                      </a:r>
                      <a:r>
                        <a:rPr lang="vi-VN" altLang="zh-CN" sz="1200" b="0" strike="sng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zh-CN" altLang="en-US" sz="1200" b="0" strike="sng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 潘落興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sng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  <a:endParaRPr lang="en-US" sz="1200" b="0" strike="sng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276119"/>
                  </a:ext>
                </a:extLst>
              </a:tr>
              <a:tr h="2352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sng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 Deploy ioc service</a:t>
                      </a:r>
                      <a:r>
                        <a:rPr lang="en-US" sz="1200" b="0" strike="sng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vi-VN" sz="1200" b="0" strike="sng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</a:t>
                      </a:r>
                      <a:r>
                        <a:rPr lang="vi-VN" sz="1200" b="0" strike="sng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Ongoing- </a:t>
                      </a:r>
                      <a:r>
                        <a:rPr lang="en-US" sz="1200" b="0" strike="sng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</a:t>
                      </a:r>
                      <a:r>
                        <a:rPr lang="en-US" altLang="zh-CN" sz="1200" b="0" strike="sng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r>
                        <a:rPr lang="zh-CN" altLang="en-US" sz="1200" b="0" strike="sng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袁小利</a:t>
                      </a:r>
                      <a:endParaRPr lang="vi-VN" altLang="zh-CN" sz="1200" b="0" strike="sngStrike" kern="1200" spc="-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sng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D+7</a:t>
                      </a:r>
                      <a:endParaRPr lang="en-US" sz="1200" b="0" strike="sng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405660"/>
                  </a:ext>
                </a:extLst>
              </a:tr>
              <a:tr h="3921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3. Test LLM function –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Done-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阮功俊英</a:t>
                      </a:r>
                      <a:r>
                        <a:rPr lang="vi-VN" altLang="zh-C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</a:t>
                      </a:r>
                      <a:r>
                        <a:rPr lang="vi-VN" altLang="zh-CN" sz="1200" b="0" strike="noStrike" kern="1200" spc="-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 The LLM can response.</a:t>
                      </a:r>
                      <a:endParaRPr lang="en-US" sz="1200" b="0" strike="noStrike" kern="1200" spc="-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sng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D+12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spc="-1" dirty="0"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26/05/04</a:t>
                      </a:r>
                      <a:endParaRPr lang="en-US" sz="1200" b="0" strike="noStrike" spc="-1" dirty="0"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85805"/>
                  </a:ext>
                </a:extLst>
              </a:tr>
            </a:tbl>
          </a:graphicData>
        </a:graphic>
      </p:graphicFrame>
      <p:sp>
        <p:nvSpPr>
          <p:cNvPr id="5" name="TextBox 1">
            <a:extLst>
              <a:ext uri="{FF2B5EF4-FFF2-40B4-BE49-F238E27FC236}">
                <a16:creationId xmlns:a16="http://schemas.microsoft.com/office/drawing/2014/main" id="{275C97E4-0265-7162-D193-862814B8655F}"/>
              </a:ext>
            </a:extLst>
          </p:cNvPr>
          <p:cNvSpPr/>
          <p:nvPr/>
        </p:nvSpPr>
        <p:spPr>
          <a:xfrm>
            <a:off x="9954882" y="0"/>
            <a:ext cx="2237117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r"/>
            <a:r>
              <a:rPr 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OT： DT </a:t>
            </a:r>
            <a:r>
              <a:rPr lang="zh-CN" alt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黃趙五</a:t>
            </a:r>
            <a:r>
              <a:rPr lang="en-US" altLang="zh-CN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; </a:t>
            </a:r>
            <a:r>
              <a:rPr 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AT: AI </a:t>
            </a:r>
            <a:r>
              <a:rPr lang="zh-CN" alt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潘洛興</a:t>
            </a:r>
            <a:endParaRPr lang="en-US" sz="1200" b="0" strike="noStrike" spc="-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893C07-A6C1-3116-25E5-A9DD2B9A7C80}"/>
              </a:ext>
            </a:extLst>
          </p:cNvPr>
          <p:cNvSpPr txBox="1"/>
          <p:nvPr/>
        </p:nvSpPr>
        <p:spPr>
          <a:xfrm>
            <a:off x="0" y="0"/>
            <a:ext cx="24121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406196"/>
              </a:buClr>
            </a:pPr>
            <a:r>
              <a:rPr lang="vi-VN" altLang="zh-CN" sz="1600" dirty="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Lighthouse Installation</a:t>
            </a:r>
            <a:endParaRPr lang="en-US" altLang="zh-CN" sz="1600" dirty="0">
              <a:solidFill>
                <a:srgbClr val="0000CC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455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2904</TotalTime>
  <Words>976</Words>
  <Application>Microsoft Office PowerPoint</Application>
  <PresentationFormat>Widescreen</PresentationFormat>
  <Paragraphs>143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Microsoft JhengHei</vt:lpstr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PM AI</dc:creator>
  <cp:lastModifiedBy>PM AI</cp:lastModifiedBy>
  <cp:revision>7</cp:revision>
  <dcterms:created xsi:type="dcterms:W3CDTF">2026-05-06T10:10:25Z</dcterms:created>
  <dcterms:modified xsi:type="dcterms:W3CDTF">2026-05-08T10:35:11Z</dcterms:modified>
</cp:coreProperties>
</file>
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4" r:id="rId1"/>
  </p:sldMasterIdLst>
  <p:notesMasterIdLst>
    <p:notesMasterId r:id="rId12"/>
  </p:notesMasterIdLst>
  <p:handoutMasterIdLst>
    <p:handoutMasterId r:id="rId13"/>
  </p:handoutMasterIdLst>
  <p:sldIdLst>
    <p:sldId id="256" r:id="rId2"/>
    <p:sldId id="2147377428" r:id="rId3"/>
    <p:sldId id="306" r:id="rId4"/>
    <p:sldId id="311" r:id="rId5"/>
    <p:sldId id="2147377456" r:id="rId6"/>
    <p:sldId id="2147377463" r:id="rId7"/>
    <p:sldId id="2147377470" r:id="rId8"/>
    <p:sldId id="299" r:id="rId9"/>
    <p:sldId id="300" r:id="rId10"/>
    <p:sldId id="287" r:id="rId11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  <p:cmAuthor id="3" name="User" initials="U" lastIdx="1" clrIdx="2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FFFFF"/>
    <a:srgbClr val="D9D9D9"/>
    <a:srgbClr val="DEEBF7"/>
    <a:srgbClr val="0000CC"/>
    <a:srgbClr val="002F77"/>
    <a:srgbClr val="FFC000"/>
    <a:srgbClr val="002060"/>
    <a:srgbClr val="FFF2CC"/>
    <a:srgbClr val="3B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763" autoAdjust="0"/>
  </p:normalViewPr>
  <p:slideViewPr>
    <p:cSldViewPr snapToGrid="0">
      <p:cViewPr>
        <p:scale>
          <a:sx n="75" d="100"/>
          <a:sy n="75" d="100"/>
        </p:scale>
        <p:origin x="912" y="21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47B5-ADAF-41B0-8E25-798150F70C66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3EC7-D770-4470-B266-BEBD01C74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69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568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7">
            <a:extLst>
              <a:ext uri="{FF2B5EF4-FFF2-40B4-BE49-F238E27FC236}">
                <a16:creationId xmlns:a16="http://schemas.microsoft.com/office/drawing/2014/main" id="{2D16C9FE-4D6A-E217-10C8-803D673361A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178"/>
            <a:ext cx="457200" cy="57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8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s for list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87082A3D-08FC-4EF5-9145-7DCFDBB543BD}"/>
              </a:ext>
            </a:extLst>
          </p:cNvPr>
          <p:cNvSpPr/>
          <p:nvPr userDrawn="1"/>
        </p:nvSpPr>
        <p:spPr>
          <a:xfrm>
            <a:off x="2658110" y="1480345"/>
            <a:ext cx="6715760" cy="3652728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lumMod val="75000"/>
                  <a:alpha val="0"/>
                </a:schemeClr>
              </a:gs>
              <a:gs pos="0">
                <a:schemeClr val="accent1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8F0943-FF36-4C0E-9490-A58E4773E013}"/>
              </a:ext>
            </a:extLst>
          </p:cNvPr>
          <p:cNvSpPr txBox="1"/>
          <p:nvPr userDrawn="1"/>
        </p:nvSpPr>
        <p:spPr>
          <a:xfrm>
            <a:off x="3772452" y="2557117"/>
            <a:ext cx="4698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211805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基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5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BCBDF83-C8B4-FF0D-2FD5-57C97F5327CC}"/>
              </a:ext>
            </a:extLst>
          </p:cNvPr>
          <p:cNvGrpSpPr/>
          <p:nvPr userDrawn="1"/>
        </p:nvGrpSpPr>
        <p:grpSpPr>
          <a:xfrm>
            <a:off x="0" y="6635694"/>
            <a:ext cx="5019048" cy="222306"/>
            <a:chOff x="3586476" y="3246538"/>
            <a:chExt cx="5019048" cy="2769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F382ACB-6970-78F3-C91C-B55E26F8F7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3586476" y="3246538"/>
              <a:ext cx="5019048" cy="27699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93E9BE5-D84B-7B1C-823B-6E2ED23D9AA4}"/>
                </a:ext>
              </a:extLst>
            </p:cNvPr>
            <p:cNvSpPr txBox="1"/>
            <p:nvPr userDrawn="1"/>
          </p:nvSpPr>
          <p:spPr>
            <a:xfrm>
              <a:off x="3586476" y="3246539"/>
              <a:ext cx="5019048" cy="216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2026 FII Confidential. All Rights Reserved.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93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78" r:id="rId2"/>
    <p:sldLayoutId id="2147483677" r:id="rId3"/>
    <p:sldLayoutId id="214748368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6">
            <a:extLst>
              <a:ext uri="{FF2B5EF4-FFF2-40B4-BE49-F238E27FC236}">
                <a16:creationId xmlns:a16="http://schemas.microsoft.com/office/drawing/2014/main" id="{972BC272-7DE7-FE9C-2364-E180D01F2F07}"/>
              </a:ext>
            </a:extLst>
          </p:cNvPr>
          <p:cNvSpPr txBox="1"/>
          <p:nvPr/>
        </p:nvSpPr>
        <p:spPr>
          <a:xfrm>
            <a:off x="1349831" y="2505670"/>
            <a:ext cx="6041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CPEG-AI</a:t>
            </a:r>
            <a:r>
              <a:rPr lang="zh-CN" altLang="en-US" sz="5400" b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周报</a:t>
            </a:r>
            <a:endParaRPr lang="zh-CN" altLang="en-US" sz="5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文本框 9">
            <a:extLst>
              <a:ext uri="{FF2B5EF4-FFF2-40B4-BE49-F238E27FC236}">
                <a16:creationId xmlns:a16="http://schemas.microsoft.com/office/drawing/2014/main" id="{8AEECC39-86B4-D157-807C-017D00FC5713}"/>
              </a:ext>
            </a:extLst>
          </p:cNvPr>
          <p:cNvSpPr txBox="1"/>
          <p:nvPr/>
        </p:nvSpPr>
        <p:spPr>
          <a:xfrm>
            <a:off x="1349831" y="4380724"/>
            <a:ext cx="4746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en-US" altLang="zh-CN" sz="20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等线"/>
              </a:rPr>
              <a:t>2026</a:t>
            </a:r>
            <a:r>
              <a:rPr lang="zh-CN" altLang="en-US" sz="20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等线"/>
              </a:rPr>
              <a:t>年</a:t>
            </a:r>
            <a:r>
              <a:rPr lang="en-US" altLang="zh-CN" sz="200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等线"/>
              </a:rPr>
              <a:t>05</a:t>
            </a:r>
            <a:r>
              <a:rPr lang="zh-CN" altLang="en-US" sz="200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月</a:t>
            </a:r>
            <a:r>
              <a:rPr lang="en-US" altLang="zh-CN" sz="200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15</a:t>
            </a:r>
            <a:r>
              <a:rPr lang="zh-CN" altLang="en-US" sz="200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日</a:t>
            </a:r>
            <a:endParaRPr lang="en-US" altLang="zh-TW" sz="20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等线"/>
            </a:endParaRPr>
          </a:p>
        </p:txBody>
      </p:sp>
      <p:sp>
        <p:nvSpPr>
          <p:cNvPr id="7" name="文本框 9">
            <a:extLst>
              <a:ext uri="{FF2B5EF4-FFF2-40B4-BE49-F238E27FC236}">
                <a16:creationId xmlns:a16="http://schemas.microsoft.com/office/drawing/2014/main" id="{6AC86694-6D9F-844E-B18D-BFA658E8E040}"/>
              </a:ext>
            </a:extLst>
          </p:cNvPr>
          <p:cNvSpPr txBox="1"/>
          <p:nvPr/>
        </p:nvSpPr>
        <p:spPr>
          <a:xfrm>
            <a:off x="1349831" y="3774057"/>
            <a:ext cx="5465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zh-CN" altLang="en-US" sz="24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等线"/>
              </a:rPr>
              <a:t>报告</a:t>
            </a:r>
            <a:r>
              <a:rPr lang="zh-CN" altLang="en-US" sz="24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等线"/>
              </a:rPr>
              <a:t>人：</a:t>
            </a:r>
            <a:r>
              <a:rPr lang="en-US" altLang="zh-CN" sz="24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等线"/>
              </a:rPr>
              <a:t>Edward Zhang</a:t>
            </a:r>
            <a:endParaRPr lang="en-US" altLang="zh-CN" sz="24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等线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6">
            <a:extLst>
              <a:ext uri="{FF2B5EF4-FFF2-40B4-BE49-F238E27FC236}">
                <a16:creationId xmlns:a16="http://schemas.microsoft.com/office/drawing/2014/main" id="{42E4FA53-80B1-C84B-1FA3-E86D8EF03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595737"/>
              </p:ext>
            </p:extLst>
          </p:nvPr>
        </p:nvGraphicFramePr>
        <p:xfrm>
          <a:off x="339592" y="1078366"/>
          <a:ext cx="11556400" cy="500591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15637">
                  <a:extLst>
                    <a:ext uri="{9D8B030D-6E8A-4147-A177-3AD203B41FA5}">
                      <a16:colId xmlns:a16="http://schemas.microsoft.com/office/drawing/2014/main" val="2530618275"/>
                    </a:ext>
                  </a:extLst>
                </a:gridCol>
                <a:gridCol w="5277995">
                  <a:extLst>
                    <a:ext uri="{9D8B030D-6E8A-4147-A177-3AD203B41FA5}">
                      <a16:colId xmlns:a16="http://schemas.microsoft.com/office/drawing/2014/main" val="526501027"/>
                    </a:ext>
                  </a:extLst>
                </a:gridCol>
                <a:gridCol w="2431384">
                  <a:extLst>
                    <a:ext uri="{9D8B030D-6E8A-4147-A177-3AD203B41FA5}">
                      <a16:colId xmlns:a16="http://schemas.microsoft.com/office/drawing/2014/main" val="2050026107"/>
                    </a:ext>
                  </a:extLst>
                </a:gridCol>
                <a:gridCol w="2431384">
                  <a:extLst>
                    <a:ext uri="{9D8B030D-6E8A-4147-A177-3AD203B41FA5}">
                      <a16:colId xmlns:a16="http://schemas.microsoft.com/office/drawing/2014/main" val="64699189"/>
                    </a:ext>
                  </a:extLst>
                </a:gridCol>
              </a:tblGrid>
              <a:tr h="53196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Team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Content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Answer</a:t>
                      </a:r>
                      <a:endParaRPr lang="zh-TW" alt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157263"/>
                  </a:ext>
                </a:extLst>
              </a:tr>
              <a:tr h="149131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Team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/>
                        <a:t>The server has encountered an issue and needs to be addressed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None/>
                      </a:pPr>
                      <a:r>
                        <a:rPr lang="en-US" altLang="zh-TW" sz="1200" b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3/4/2026- 6/4/2026</a:t>
                      </a:r>
                      <a:endParaRPr lang="en-US" altLang="zh-TW" sz="12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None/>
                      </a:pPr>
                      <a:r>
                        <a:rPr lang="en-US" sz="1200"/>
                        <a:t>The vendor inspects the status of the server</a:t>
                      </a:r>
                      <a:endParaRPr lang="en-US" altLang="zh-TW" sz="12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064569"/>
                  </a:ext>
                </a:extLst>
              </a:tr>
              <a:tr h="14913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None/>
                      </a:pPr>
                      <a:r>
                        <a:rPr lang="en-US" altLang="zh-TW" sz="1200" b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7/4/2026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None/>
                      </a:pPr>
                      <a:r>
                        <a:rPr lang="en-US" sz="1200"/>
                        <a:t>The vendor has confirmed that one GPU in the server is faulty</a:t>
                      </a:r>
                      <a:endParaRPr lang="en-US" altLang="zh-TW" sz="12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700038"/>
                  </a:ext>
                </a:extLst>
              </a:tr>
              <a:tr h="14913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None/>
                      </a:pPr>
                      <a:r>
                        <a:rPr lang="en-US" altLang="zh-TW" sz="1200" b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8/4/2026 - TBD</a:t>
                      </a:r>
                      <a:endParaRPr lang="en-US" altLang="zh-TW" sz="12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None/>
                      </a:pPr>
                      <a:r>
                        <a:rPr lang="en-US" sz="1200"/>
                        <a:t>Vendor confirmed 3 servers are normal; 1 shows signs of damage. A detailed evaluation report will be sent to the buyer by email.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590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C8B6DDA-D1CA-D6A0-AAF8-CD8F0F4A8415}"/>
              </a:ext>
            </a:extLst>
          </p:cNvPr>
          <p:cNvSpPr txBox="1"/>
          <p:nvPr/>
        </p:nvSpPr>
        <p:spPr>
          <a:xfrm flipH="1">
            <a:off x="84679" y="92313"/>
            <a:ext cx="545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TW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Meeting topic reply</a:t>
            </a:r>
            <a:endParaRPr lang="zh-TW" altLang="en-US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253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64E7-BE4A-105A-2FD6-A214CA343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6;p27">
            <a:extLst>
              <a:ext uri="{FF2B5EF4-FFF2-40B4-BE49-F238E27FC236}">
                <a16:creationId xmlns:a16="http://schemas.microsoft.com/office/drawing/2014/main" id="{B619306C-7636-3356-6987-632B740DBFED}"/>
              </a:ext>
            </a:extLst>
          </p:cNvPr>
          <p:cNvSpPr txBox="1"/>
          <p:nvPr/>
        </p:nvSpPr>
        <p:spPr>
          <a:xfrm>
            <a:off x="-6620" y="0"/>
            <a:ext cx="5061699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2800" b="1">
                <a:solidFill>
                  <a:srgbClr val="00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FII-CNSBG-CPEG-AI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团队</a:t>
            </a: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Project List 2026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5D685-2D1E-FF8E-3611-2199882FBD6F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4DF364-3DAE-DF0C-7A04-DA02C3332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504250"/>
              </p:ext>
            </p:extLst>
          </p:nvPr>
        </p:nvGraphicFramePr>
        <p:xfrm>
          <a:off x="-8875" y="246221"/>
          <a:ext cx="12170396" cy="5595743"/>
        </p:xfrm>
        <a:graphic>
          <a:graphicData uri="http://schemas.openxmlformats.org/drawingml/2006/table">
            <a:tbl>
              <a:tblPr/>
              <a:tblGrid>
                <a:gridCol w="737972">
                  <a:extLst>
                    <a:ext uri="{9D8B030D-6E8A-4147-A177-3AD203B41FA5}">
                      <a16:colId xmlns:a16="http://schemas.microsoft.com/office/drawing/2014/main" val="2326800749"/>
                    </a:ext>
                  </a:extLst>
                </a:gridCol>
                <a:gridCol w="496199">
                  <a:extLst>
                    <a:ext uri="{9D8B030D-6E8A-4147-A177-3AD203B41FA5}">
                      <a16:colId xmlns:a16="http://schemas.microsoft.com/office/drawing/2014/main" val="653530164"/>
                    </a:ext>
                  </a:extLst>
                </a:gridCol>
                <a:gridCol w="310896">
                  <a:extLst>
                    <a:ext uri="{9D8B030D-6E8A-4147-A177-3AD203B41FA5}">
                      <a16:colId xmlns:a16="http://schemas.microsoft.com/office/drawing/2014/main" val="378138433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424464436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387747367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3082114798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3252164554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396026996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72345487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80292409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3267191144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667613177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8336527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3702382690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1062866329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371782361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3104502250"/>
                    </a:ext>
                  </a:extLst>
                </a:gridCol>
                <a:gridCol w="649224">
                  <a:extLst>
                    <a:ext uri="{9D8B030D-6E8A-4147-A177-3AD203B41FA5}">
                      <a16:colId xmlns:a16="http://schemas.microsoft.com/office/drawing/2014/main" val="457101644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4029481211"/>
                    </a:ext>
                  </a:extLst>
                </a:gridCol>
                <a:gridCol w="822961">
                  <a:extLst>
                    <a:ext uri="{9D8B030D-6E8A-4147-A177-3AD203B41FA5}">
                      <a16:colId xmlns:a16="http://schemas.microsoft.com/office/drawing/2014/main" val="3548347657"/>
                    </a:ext>
                  </a:extLst>
                </a:gridCol>
              </a:tblGrid>
              <a:tr h="55311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Technical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Direction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Type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Prio.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Scene function description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Client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Product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Line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address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SOW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launch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 date</a:t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vi-VN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close</a:t>
                      </a: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 err="1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Esign</a:t>
                      </a:r>
                      <a:endParaRPr lang="en-US" sz="1200" b="1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Ver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Prj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PO-FC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Value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(USD)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Acceptance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criteria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628097"/>
                  </a:ext>
                </a:extLst>
              </a:tr>
              <a:tr h="1083998">
                <a:tc rowSpan="3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Intelligent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Software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Computer Vision</a:t>
                      </a:r>
                      <a:endParaRPr lang="en-US" sz="1200" dirty="0"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quality inspection product packing for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/>
                        <a:t>Use computer vision to check the packaging process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Amazon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B08-3F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CBD-AE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黄公寿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阮明黃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2026/2/7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User</a:t>
                      </a:r>
                      <a:r>
                        <a:rPr lang="en-US" sz="1200" baseline="0" smtClean="0">
                          <a:effectLst/>
                        </a:rPr>
                        <a:t> </a:t>
                      </a:r>
                      <a:r>
                        <a:rPr lang="en-US" sz="1200" smtClean="0">
                          <a:effectLst/>
                        </a:rPr>
                        <a:t>confirmed to</a:t>
                      </a:r>
                      <a:r>
                        <a:rPr lang="en-US" sz="1200" baseline="0" smtClean="0">
                          <a:effectLst/>
                        </a:rPr>
                        <a:t> </a:t>
                      </a:r>
                      <a:r>
                        <a:rPr lang="en-US" sz="1200" smtClean="0">
                          <a:effectLst/>
                        </a:rPr>
                        <a:t>close project.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2026/5/31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Closed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v2.1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$10,000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Calculate the value and reconfirm the product information of the project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/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723378"/>
                  </a:ext>
                </a:extLst>
              </a:tr>
              <a:tr h="8851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IP CAM AI Project [Fuction A: Smart Inspection for safety phase 2]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Full-Site Safety Monitor with Self-Detection (2/3/4F B08)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Apollo &amp; Rhea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B08 2/3/4F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Security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文实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平越豪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2026/3/16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2026/6/5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Open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$30,000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Sent emails to remind the user to sign the eSign document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810714"/>
                  </a:ext>
                </a:extLst>
              </a:tr>
              <a:tr h="77733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IP CAM AI Project[Fuction B: Intelligent monitoring IPCAM for safety]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Full-Site Safety Monitor with Self-Detection (2/3/4F B08)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Apollo &amp; Rhea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B08 2/3/4F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Security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文实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平越豪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2026/6/30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2026/3/18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2026/7/10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$60,000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Sent emails to remind the user to sign the eSign document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211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31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71806-9A1A-2E87-FB85-A7F29079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6;p27">
            <a:extLst>
              <a:ext uri="{FF2B5EF4-FFF2-40B4-BE49-F238E27FC236}">
                <a16:creationId xmlns:a16="http://schemas.microsoft.com/office/drawing/2014/main" id="{89BDB8BB-E708-B5DA-CEBD-F225DAC4EBDC}"/>
              </a:ext>
            </a:extLst>
          </p:cNvPr>
          <p:cNvSpPr txBox="1"/>
          <p:nvPr/>
        </p:nvSpPr>
        <p:spPr>
          <a:xfrm>
            <a:off x="0" y="192024"/>
            <a:ext cx="5061699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2800" b="1">
                <a:solidFill>
                  <a:srgbClr val="00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FII-CNSBG-CPEG-AI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团队</a:t>
            </a: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Project List 2026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337AB-8A92-8539-2AD7-6AF79BB8A8D6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F4CD90-68F9-59B1-A255-0596A4C65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606466"/>
              </p:ext>
            </p:extLst>
          </p:nvPr>
        </p:nvGraphicFramePr>
        <p:xfrm>
          <a:off x="0" y="1169767"/>
          <a:ext cx="12195576" cy="3391658"/>
        </p:xfrm>
        <a:graphic>
          <a:graphicData uri="http://schemas.openxmlformats.org/drawingml/2006/table">
            <a:tbl>
              <a:tblPr/>
              <a:tblGrid>
                <a:gridCol w="573552">
                  <a:extLst>
                    <a:ext uri="{9D8B030D-6E8A-4147-A177-3AD203B41FA5}">
                      <a16:colId xmlns:a16="http://schemas.microsoft.com/office/drawing/2014/main" val="2326800749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653530164"/>
                    </a:ext>
                  </a:extLst>
                </a:gridCol>
                <a:gridCol w="201168">
                  <a:extLst>
                    <a:ext uri="{9D8B030D-6E8A-4147-A177-3AD203B41FA5}">
                      <a16:colId xmlns:a16="http://schemas.microsoft.com/office/drawing/2014/main" val="37813843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2446443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877473672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3082114798"/>
                    </a:ext>
                  </a:extLst>
                </a:gridCol>
                <a:gridCol w="349357">
                  <a:extLst>
                    <a:ext uri="{9D8B030D-6E8A-4147-A177-3AD203B41FA5}">
                      <a16:colId xmlns:a16="http://schemas.microsoft.com/office/drawing/2014/main" val="3252164554"/>
                    </a:ext>
                  </a:extLst>
                </a:gridCol>
                <a:gridCol w="451366">
                  <a:extLst>
                    <a:ext uri="{9D8B030D-6E8A-4147-A177-3AD203B41FA5}">
                      <a16:colId xmlns:a16="http://schemas.microsoft.com/office/drawing/2014/main" val="3960269966"/>
                    </a:ext>
                  </a:extLst>
                </a:gridCol>
                <a:gridCol w="451365">
                  <a:extLst>
                    <a:ext uri="{9D8B030D-6E8A-4147-A177-3AD203B41FA5}">
                      <a16:colId xmlns:a16="http://schemas.microsoft.com/office/drawing/2014/main" val="2072345487"/>
                    </a:ext>
                  </a:extLst>
                </a:gridCol>
                <a:gridCol w="329120">
                  <a:extLst>
                    <a:ext uri="{9D8B030D-6E8A-4147-A177-3AD203B41FA5}">
                      <a16:colId xmlns:a16="http://schemas.microsoft.com/office/drawing/2014/main" val="1802924090"/>
                    </a:ext>
                  </a:extLst>
                </a:gridCol>
                <a:gridCol w="817506">
                  <a:extLst>
                    <a:ext uri="{9D8B030D-6E8A-4147-A177-3AD203B41FA5}">
                      <a16:colId xmlns:a16="http://schemas.microsoft.com/office/drawing/2014/main" val="3267191144"/>
                    </a:ext>
                  </a:extLst>
                </a:gridCol>
                <a:gridCol w="811763">
                  <a:extLst>
                    <a:ext uri="{9D8B030D-6E8A-4147-A177-3AD203B41FA5}">
                      <a16:colId xmlns:a16="http://schemas.microsoft.com/office/drawing/2014/main" val="2667613177"/>
                    </a:ext>
                  </a:extLst>
                </a:gridCol>
                <a:gridCol w="858416">
                  <a:extLst>
                    <a:ext uri="{9D8B030D-6E8A-4147-A177-3AD203B41FA5}">
                      <a16:colId xmlns:a16="http://schemas.microsoft.com/office/drawing/2014/main" val="2083365273"/>
                    </a:ext>
                  </a:extLst>
                </a:gridCol>
                <a:gridCol w="811764">
                  <a:extLst>
                    <a:ext uri="{9D8B030D-6E8A-4147-A177-3AD203B41FA5}">
                      <a16:colId xmlns:a16="http://schemas.microsoft.com/office/drawing/2014/main" val="3702382690"/>
                    </a:ext>
                  </a:extLst>
                </a:gridCol>
                <a:gridCol w="466530">
                  <a:extLst>
                    <a:ext uri="{9D8B030D-6E8A-4147-A177-3AD203B41FA5}">
                      <a16:colId xmlns:a16="http://schemas.microsoft.com/office/drawing/2014/main" val="1062866329"/>
                    </a:ext>
                  </a:extLst>
                </a:gridCol>
                <a:gridCol w="419878">
                  <a:extLst>
                    <a:ext uri="{9D8B030D-6E8A-4147-A177-3AD203B41FA5}">
                      <a16:colId xmlns:a16="http://schemas.microsoft.com/office/drawing/2014/main" val="2371782361"/>
                    </a:ext>
                  </a:extLst>
                </a:gridCol>
                <a:gridCol w="363894">
                  <a:extLst>
                    <a:ext uri="{9D8B030D-6E8A-4147-A177-3AD203B41FA5}">
                      <a16:colId xmlns:a16="http://schemas.microsoft.com/office/drawing/2014/main" val="3104502250"/>
                    </a:ext>
                  </a:extLst>
                </a:gridCol>
                <a:gridCol w="562449">
                  <a:extLst>
                    <a:ext uri="{9D8B030D-6E8A-4147-A177-3AD203B41FA5}">
                      <a16:colId xmlns:a16="http://schemas.microsoft.com/office/drawing/2014/main" val="457101644"/>
                    </a:ext>
                  </a:extLst>
                </a:gridCol>
                <a:gridCol w="613208">
                  <a:extLst>
                    <a:ext uri="{9D8B030D-6E8A-4147-A177-3AD203B41FA5}">
                      <a16:colId xmlns:a16="http://schemas.microsoft.com/office/drawing/2014/main" val="4029481211"/>
                    </a:ext>
                  </a:extLst>
                </a:gridCol>
                <a:gridCol w="1188160">
                  <a:extLst>
                    <a:ext uri="{9D8B030D-6E8A-4147-A177-3AD203B41FA5}">
                      <a16:colId xmlns:a16="http://schemas.microsoft.com/office/drawing/2014/main" val="3548347657"/>
                    </a:ext>
                  </a:extLst>
                </a:gridCol>
              </a:tblGrid>
              <a:tr h="3297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Technical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Direction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Type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Prio.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Scene function description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Client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Product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Line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address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SOW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launch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 date</a:t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vi-VN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close</a:t>
                      </a: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 err="1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Esign</a:t>
                      </a:r>
                      <a:endParaRPr lang="en-US" sz="1200" b="1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Ver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Prj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PO-FC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Value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(USD)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Acceptance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criteria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628097"/>
                  </a:ext>
                </a:extLst>
              </a:tr>
              <a:tr h="514306">
                <a:tc row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vi-VN" sz="1200">
                          <a:effectLst/>
                          <a:latin typeface="+mj-lt"/>
                        </a:rPr>
                        <a:t>Intelligent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vi-VN" sz="1200">
                          <a:effectLst/>
                          <a:latin typeface="+mj-lt"/>
                        </a:rPr>
                        <a:t>Software</a:t>
                      </a:r>
                      <a:endParaRPr lang="en-US" sz="1200" dirty="0"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>
                          <a:effectLst/>
                          <a:latin typeface="+mj-lt"/>
                        </a:rPr>
                        <a:t>Compu</a:t>
                      </a:r>
                      <a:r>
                        <a:rPr lang="en-US" sz="1200" b="0">
                          <a:effectLst/>
                          <a:latin typeface="+mj-lt"/>
                        </a:rPr>
                        <a:t>ter</a:t>
                      </a:r>
                      <a:endParaRPr lang="vi-VN" sz="1200" b="0">
                        <a:effectLst/>
                        <a:latin typeface="+mj-lt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>
                          <a:effectLst/>
                          <a:latin typeface="+mj-lt"/>
                        </a:rPr>
                        <a:t>V</a:t>
                      </a:r>
                      <a:r>
                        <a:rPr lang="en-US" sz="1200" b="0" dirty="0" err="1">
                          <a:effectLst/>
                          <a:latin typeface="+mj-lt"/>
                        </a:rPr>
                        <a:t>ision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endParaRPr lang="en-US" sz="1200" dirty="0"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IP CAM AI Project [Fuction C: Auto BBS phase 3]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Full-Site Safety Monitor with Self-Detection (2/3/4F B08)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Apollo &amp; Rhea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B08 1/2/3/4F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Security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文实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平越豪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2026/3/31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2026/3/20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2026/6/15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v1.4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$16,000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Sent emails to remind the user to sign the eSign document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281174"/>
                  </a:ext>
                </a:extLst>
              </a:tr>
              <a:tr h="57697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Check PCB Xray_F12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Verify PCB X-ray images for completeness and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auto-archive them.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Nic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JBD F12 Xray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JBD </a:t>
                      </a:r>
                      <a:r>
                        <a:rPr lang="zh-CN" altLang="en-US" sz="1200">
                          <a:effectLst/>
                        </a:rPr>
                        <a:t>阮玉德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丁仲皇维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2026/6/10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2026/6/20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v0.1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$10,000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(1) </a:t>
                      </a:r>
                      <a:r>
                        <a:rPr lang="en-US" sz="1200" smtClean="0">
                          <a:effectLst/>
                        </a:rPr>
                        <a:t>Coding</a:t>
                      </a:r>
                      <a:r>
                        <a:rPr lang="en-US" sz="1200" baseline="0" smtClean="0">
                          <a:effectLst/>
                        </a:rPr>
                        <a:t> is finished, wait the user the get the IP for final setup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128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202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B5A1D-2888-2ACF-B47E-9B280167B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6;p27">
            <a:extLst>
              <a:ext uri="{FF2B5EF4-FFF2-40B4-BE49-F238E27FC236}">
                <a16:creationId xmlns:a16="http://schemas.microsoft.com/office/drawing/2014/main" id="{AAC47801-1893-D60B-BB55-6133D7F33D7A}"/>
              </a:ext>
            </a:extLst>
          </p:cNvPr>
          <p:cNvSpPr txBox="1"/>
          <p:nvPr/>
        </p:nvSpPr>
        <p:spPr>
          <a:xfrm>
            <a:off x="-6620" y="0"/>
            <a:ext cx="5061699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2800" b="1">
                <a:solidFill>
                  <a:srgbClr val="00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FII-CNSBG-CPEG-AI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团队</a:t>
            </a: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Project List 2026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8BACFF-FC92-DC8E-8841-DB665E9FDC6D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E5D898-4E1B-4E5F-0C11-565851D03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089256"/>
              </p:ext>
            </p:extLst>
          </p:nvPr>
        </p:nvGraphicFramePr>
        <p:xfrm>
          <a:off x="-6620" y="273653"/>
          <a:ext cx="12067297" cy="6355838"/>
        </p:xfrm>
        <a:graphic>
          <a:graphicData uri="http://schemas.openxmlformats.org/drawingml/2006/table">
            <a:tbl>
              <a:tblPr/>
              <a:tblGrid>
                <a:gridCol w="662026">
                  <a:extLst>
                    <a:ext uri="{9D8B030D-6E8A-4147-A177-3AD203B41FA5}">
                      <a16:colId xmlns:a16="http://schemas.microsoft.com/office/drawing/2014/main" val="2326800749"/>
                    </a:ext>
                  </a:extLst>
                </a:gridCol>
                <a:gridCol w="658913">
                  <a:extLst>
                    <a:ext uri="{9D8B030D-6E8A-4147-A177-3AD203B41FA5}">
                      <a16:colId xmlns:a16="http://schemas.microsoft.com/office/drawing/2014/main" val="653530164"/>
                    </a:ext>
                  </a:extLst>
                </a:gridCol>
                <a:gridCol w="256616">
                  <a:extLst>
                    <a:ext uri="{9D8B030D-6E8A-4147-A177-3AD203B41FA5}">
                      <a16:colId xmlns:a16="http://schemas.microsoft.com/office/drawing/2014/main" val="378138433"/>
                    </a:ext>
                  </a:extLst>
                </a:gridCol>
                <a:gridCol w="310995">
                  <a:extLst>
                    <a:ext uri="{9D8B030D-6E8A-4147-A177-3AD203B41FA5}">
                      <a16:colId xmlns:a16="http://schemas.microsoft.com/office/drawing/2014/main" val="4244644360"/>
                    </a:ext>
                  </a:extLst>
                </a:gridCol>
                <a:gridCol w="704093">
                  <a:extLst>
                    <a:ext uri="{9D8B030D-6E8A-4147-A177-3AD203B41FA5}">
                      <a16:colId xmlns:a16="http://schemas.microsoft.com/office/drawing/2014/main" val="3877473672"/>
                    </a:ext>
                  </a:extLst>
                </a:gridCol>
                <a:gridCol w="910450">
                  <a:extLst>
                    <a:ext uri="{9D8B030D-6E8A-4147-A177-3AD203B41FA5}">
                      <a16:colId xmlns:a16="http://schemas.microsoft.com/office/drawing/2014/main" val="3082114798"/>
                    </a:ext>
                  </a:extLst>
                </a:gridCol>
                <a:gridCol w="321946">
                  <a:extLst>
                    <a:ext uri="{9D8B030D-6E8A-4147-A177-3AD203B41FA5}">
                      <a16:colId xmlns:a16="http://schemas.microsoft.com/office/drawing/2014/main" val="3252164554"/>
                    </a:ext>
                  </a:extLst>
                </a:gridCol>
                <a:gridCol w="749714">
                  <a:extLst>
                    <a:ext uri="{9D8B030D-6E8A-4147-A177-3AD203B41FA5}">
                      <a16:colId xmlns:a16="http://schemas.microsoft.com/office/drawing/2014/main" val="3960269966"/>
                    </a:ext>
                  </a:extLst>
                </a:gridCol>
                <a:gridCol w="354193">
                  <a:extLst>
                    <a:ext uri="{9D8B030D-6E8A-4147-A177-3AD203B41FA5}">
                      <a16:colId xmlns:a16="http://schemas.microsoft.com/office/drawing/2014/main" val="2072345487"/>
                    </a:ext>
                  </a:extLst>
                </a:gridCol>
                <a:gridCol w="272456">
                  <a:extLst>
                    <a:ext uri="{9D8B030D-6E8A-4147-A177-3AD203B41FA5}">
                      <a16:colId xmlns:a16="http://schemas.microsoft.com/office/drawing/2014/main" val="1802924090"/>
                    </a:ext>
                  </a:extLst>
                </a:gridCol>
                <a:gridCol w="550174">
                  <a:extLst>
                    <a:ext uri="{9D8B030D-6E8A-4147-A177-3AD203B41FA5}">
                      <a16:colId xmlns:a16="http://schemas.microsoft.com/office/drawing/2014/main" val="3267191144"/>
                    </a:ext>
                  </a:extLst>
                </a:gridCol>
                <a:gridCol w="830270">
                  <a:extLst>
                    <a:ext uri="{9D8B030D-6E8A-4147-A177-3AD203B41FA5}">
                      <a16:colId xmlns:a16="http://schemas.microsoft.com/office/drawing/2014/main" val="2667613177"/>
                    </a:ext>
                  </a:extLst>
                </a:gridCol>
                <a:gridCol w="903742">
                  <a:extLst>
                    <a:ext uri="{9D8B030D-6E8A-4147-A177-3AD203B41FA5}">
                      <a16:colId xmlns:a16="http://schemas.microsoft.com/office/drawing/2014/main" val="2083365273"/>
                    </a:ext>
                  </a:extLst>
                </a:gridCol>
                <a:gridCol w="824782">
                  <a:extLst>
                    <a:ext uri="{9D8B030D-6E8A-4147-A177-3AD203B41FA5}">
                      <a16:colId xmlns:a16="http://schemas.microsoft.com/office/drawing/2014/main" val="3702382690"/>
                    </a:ext>
                  </a:extLst>
                </a:gridCol>
                <a:gridCol w="509696">
                  <a:extLst>
                    <a:ext uri="{9D8B030D-6E8A-4147-A177-3AD203B41FA5}">
                      <a16:colId xmlns:a16="http://schemas.microsoft.com/office/drawing/2014/main" val="1062866329"/>
                    </a:ext>
                  </a:extLst>
                </a:gridCol>
                <a:gridCol w="459098">
                  <a:extLst>
                    <a:ext uri="{9D8B030D-6E8A-4147-A177-3AD203B41FA5}">
                      <a16:colId xmlns:a16="http://schemas.microsoft.com/office/drawing/2014/main" val="2371782361"/>
                    </a:ext>
                  </a:extLst>
                </a:gridCol>
                <a:gridCol w="354193">
                  <a:extLst>
                    <a:ext uri="{9D8B030D-6E8A-4147-A177-3AD203B41FA5}">
                      <a16:colId xmlns:a16="http://schemas.microsoft.com/office/drawing/2014/main" val="3104502250"/>
                    </a:ext>
                  </a:extLst>
                </a:gridCol>
                <a:gridCol w="595326">
                  <a:extLst>
                    <a:ext uri="{9D8B030D-6E8A-4147-A177-3AD203B41FA5}">
                      <a16:colId xmlns:a16="http://schemas.microsoft.com/office/drawing/2014/main" val="457101644"/>
                    </a:ext>
                  </a:extLst>
                </a:gridCol>
                <a:gridCol w="695040">
                  <a:extLst>
                    <a:ext uri="{9D8B030D-6E8A-4147-A177-3AD203B41FA5}">
                      <a16:colId xmlns:a16="http://schemas.microsoft.com/office/drawing/2014/main" val="4029481211"/>
                    </a:ext>
                  </a:extLst>
                </a:gridCol>
                <a:gridCol w="1143574">
                  <a:extLst>
                    <a:ext uri="{9D8B030D-6E8A-4147-A177-3AD203B41FA5}">
                      <a16:colId xmlns:a16="http://schemas.microsoft.com/office/drawing/2014/main" val="3548347657"/>
                    </a:ext>
                  </a:extLst>
                </a:gridCol>
              </a:tblGrid>
              <a:tr h="84046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Technical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Direction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Type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Prio.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Scene function description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Client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Product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Line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address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SOW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launch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 date</a:t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vi-VN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close</a:t>
                      </a: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 err="1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Esign</a:t>
                      </a:r>
                      <a:endParaRPr lang="en-US" sz="1200" b="1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Ver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Prj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PO-FC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Value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(USD)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Acceptance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criteria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628097"/>
                  </a:ext>
                </a:extLst>
              </a:tr>
              <a:tr h="1262705">
                <a:tc rowSpan="3"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Intelligent</a:t>
                      </a:r>
                    </a:p>
                    <a:p>
                      <a:r>
                        <a:rPr lang="en-US" sz="1200" dirty="0">
                          <a:latin typeface="+mj-lt"/>
                        </a:rPr>
                        <a:t>Software</a:t>
                      </a:r>
                    </a:p>
                    <a:p>
                      <a:endParaRPr dirty="0"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Compu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ter</a:t>
                      </a:r>
                      <a:endParaRPr lang="vi-VN" sz="1200" b="0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ision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endParaRPr dirty="0"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Project A - AI quality inspection Kronos product in Test station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Use computer vision to check if the weighing time on the product meets the standard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Kronos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Fulian B08-2F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CBD-ME Duncan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阮明黃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2026/6/12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$18,000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Sent emails and messages on Wechat to remind the user to sign the Esign document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516022"/>
                  </a:ext>
                </a:extLst>
              </a:tr>
              <a:tr h="15369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Project B - AI quality inspection Kronos product in Packing station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Use computer vision to check if workers are packing products according to the correct procedure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Kronos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Fulian B08-2F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CBD-ME Duncan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阮文龙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2026/3/18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2026/4/10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2026/6/17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$18,000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Sent emails and messages on Wechat to remind the user to sign the Esign document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211037"/>
                  </a:ext>
                </a:extLst>
              </a:tr>
              <a:tr h="1125578">
                <a:tc vMerge="1">
                  <a:txBody>
                    <a:bodyPr/>
                    <a:lstStyle/>
                    <a:p>
                      <a:endParaRPr dirty="0"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DOE-Reflow oven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Predict the temperature for the welding machine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system of Software department (Fulian B09-4F)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ME YunTao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范英秀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2026/01/20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2026/3/10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2026/7/31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Closed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v1.0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$10,000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(1) Sent emails to remind the user to sign the Esign document 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(2) </a:t>
                      </a:r>
                      <a:r>
                        <a:rPr lang="en-US" sz="1200"/>
                        <a:t>Sent response email to the user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826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000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D476C-8838-E323-C17F-42454288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6;p27">
            <a:extLst>
              <a:ext uri="{FF2B5EF4-FFF2-40B4-BE49-F238E27FC236}">
                <a16:creationId xmlns:a16="http://schemas.microsoft.com/office/drawing/2014/main" id="{001ED271-A428-49B4-83F0-6E1C214B6878}"/>
              </a:ext>
            </a:extLst>
          </p:cNvPr>
          <p:cNvSpPr txBox="1"/>
          <p:nvPr/>
        </p:nvSpPr>
        <p:spPr>
          <a:xfrm>
            <a:off x="-6620" y="0"/>
            <a:ext cx="5061699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2800" b="1">
                <a:solidFill>
                  <a:srgbClr val="00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FII-CNSBG-CPEG-AI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团队</a:t>
            </a: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Project List 2026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B7E421-F995-EC53-3D99-D43749F5D649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AB561F-E903-3F7D-8159-861BE6882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605995"/>
              </p:ext>
            </p:extLst>
          </p:nvPr>
        </p:nvGraphicFramePr>
        <p:xfrm>
          <a:off x="45720" y="365099"/>
          <a:ext cx="12100560" cy="4574714"/>
        </p:xfrm>
        <a:graphic>
          <a:graphicData uri="http://schemas.openxmlformats.org/drawingml/2006/table">
            <a:tbl>
              <a:tblPr/>
              <a:tblGrid>
                <a:gridCol w="559870">
                  <a:extLst>
                    <a:ext uri="{9D8B030D-6E8A-4147-A177-3AD203B41FA5}">
                      <a16:colId xmlns:a16="http://schemas.microsoft.com/office/drawing/2014/main" val="2326800749"/>
                    </a:ext>
                  </a:extLst>
                </a:gridCol>
                <a:gridCol w="711146">
                  <a:extLst>
                    <a:ext uri="{9D8B030D-6E8A-4147-A177-3AD203B41FA5}">
                      <a16:colId xmlns:a16="http://schemas.microsoft.com/office/drawing/2014/main" val="653530164"/>
                    </a:ext>
                  </a:extLst>
                </a:gridCol>
                <a:gridCol w="214045">
                  <a:extLst>
                    <a:ext uri="{9D8B030D-6E8A-4147-A177-3AD203B41FA5}">
                      <a16:colId xmlns:a16="http://schemas.microsoft.com/office/drawing/2014/main" val="378138433"/>
                    </a:ext>
                  </a:extLst>
                </a:gridCol>
                <a:gridCol w="344678">
                  <a:extLst>
                    <a:ext uri="{9D8B030D-6E8A-4147-A177-3AD203B41FA5}">
                      <a16:colId xmlns:a16="http://schemas.microsoft.com/office/drawing/2014/main" val="4244644360"/>
                    </a:ext>
                  </a:extLst>
                </a:gridCol>
                <a:gridCol w="520269">
                  <a:extLst>
                    <a:ext uri="{9D8B030D-6E8A-4147-A177-3AD203B41FA5}">
                      <a16:colId xmlns:a16="http://schemas.microsoft.com/office/drawing/2014/main" val="387747367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082114798"/>
                    </a:ext>
                  </a:extLst>
                </a:gridCol>
                <a:gridCol w="496611">
                  <a:extLst>
                    <a:ext uri="{9D8B030D-6E8A-4147-A177-3AD203B41FA5}">
                      <a16:colId xmlns:a16="http://schemas.microsoft.com/office/drawing/2014/main" val="3252164554"/>
                    </a:ext>
                  </a:extLst>
                </a:gridCol>
                <a:gridCol w="761922">
                  <a:extLst>
                    <a:ext uri="{9D8B030D-6E8A-4147-A177-3AD203B41FA5}">
                      <a16:colId xmlns:a16="http://schemas.microsoft.com/office/drawing/2014/main" val="3960269966"/>
                    </a:ext>
                  </a:extLst>
                </a:gridCol>
                <a:gridCol w="399102">
                  <a:extLst>
                    <a:ext uri="{9D8B030D-6E8A-4147-A177-3AD203B41FA5}">
                      <a16:colId xmlns:a16="http://schemas.microsoft.com/office/drawing/2014/main" val="2072345487"/>
                    </a:ext>
                  </a:extLst>
                </a:gridCol>
                <a:gridCol w="394568">
                  <a:extLst>
                    <a:ext uri="{9D8B030D-6E8A-4147-A177-3AD203B41FA5}">
                      <a16:colId xmlns:a16="http://schemas.microsoft.com/office/drawing/2014/main" val="1802924090"/>
                    </a:ext>
                  </a:extLst>
                </a:gridCol>
                <a:gridCol w="666680">
                  <a:extLst>
                    <a:ext uri="{9D8B030D-6E8A-4147-A177-3AD203B41FA5}">
                      <a16:colId xmlns:a16="http://schemas.microsoft.com/office/drawing/2014/main" val="3267191144"/>
                    </a:ext>
                  </a:extLst>
                </a:gridCol>
                <a:gridCol w="691829">
                  <a:extLst>
                    <a:ext uri="{9D8B030D-6E8A-4147-A177-3AD203B41FA5}">
                      <a16:colId xmlns:a16="http://schemas.microsoft.com/office/drawing/2014/main" val="2667613177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83365273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3702382690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1062866329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371782361"/>
                    </a:ext>
                  </a:extLst>
                </a:gridCol>
                <a:gridCol w="265176">
                  <a:extLst>
                    <a:ext uri="{9D8B030D-6E8A-4147-A177-3AD203B41FA5}">
                      <a16:colId xmlns:a16="http://schemas.microsoft.com/office/drawing/2014/main" val="3104502250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45710164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29481211"/>
                    </a:ext>
                  </a:extLst>
                </a:gridCol>
                <a:gridCol w="1987296">
                  <a:extLst>
                    <a:ext uri="{9D8B030D-6E8A-4147-A177-3AD203B41FA5}">
                      <a16:colId xmlns:a16="http://schemas.microsoft.com/office/drawing/2014/main" val="3548347657"/>
                    </a:ext>
                  </a:extLst>
                </a:gridCol>
              </a:tblGrid>
              <a:tr h="92286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Technical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Direction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Type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Prio.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Scene function description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Client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Product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Line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Address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SOW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launch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 date</a:t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vi-VN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close</a:t>
                      </a: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 err="1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Esign</a:t>
                      </a:r>
                      <a:endParaRPr lang="en-US" sz="1200" b="1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Ver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Prj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PO-FC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Value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(USD)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Acceptance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criteria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628097"/>
                  </a:ext>
                </a:extLst>
              </a:tr>
              <a:tr h="376393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Smart Translation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Translation language options: Chinese, Vietnamese, and English.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system of Software department (Fulian B09-4F)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Fulian B08 QA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范英秀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2026/01/24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2026/03/11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2026/5/30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Closed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v1.0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$10,000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effectLst/>
                        </a:rPr>
                        <a:t>Data </a:t>
                      </a:r>
                      <a:r>
                        <a:rPr lang="en-US" sz="1200" smtClean="0">
                          <a:effectLst/>
                        </a:rPr>
                        <a:t>is currently being transferred to the server.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2110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Lighthouse </a:t>
                      </a:r>
                      <a:r>
                        <a:rPr lang="zh-CN" altLang="en-US" sz="1200">
                          <a:effectLst/>
                        </a:rPr>
                        <a:t>服務器降本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Install 5 usecase website for lighthouse on DT server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Fulian CBD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Fulian B08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CBD-DT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黃趙五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陳文俊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2026/6/30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Already</a:t>
                      </a:r>
                      <a:r>
                        <a:rPr lang="en-US" sz="1200" baseline="0" smtClean="0">
                          <a:effectLst/>
                        </a:rPr>
                        <a:t> </a:t>
                      </a:r>
                      <a:r>
                        <a:rPr lang="en-US" sz="1200" smtClean="0">
                          <a:effectLst/>
                        </a:rPr>
                        <a:t>approved </a:t>
                      </a:r>
                      <a:r>
                        <a:rPr lang="en-US" sz="1200">
                          <a:effectLst/>
                        </a:rPr>
                        <a:t>by the AI​&amp;DT </a:t>
                      </a:r>
                      <a:r>
                        <a:rPr lang="en-US" sz="1200" smtClean="0">
                          <a:effectLst/>
                        </a:rPr>
                        <a:t>managers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2026/4/10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2026/7/10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v2.2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$32,000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Use Case </a:t>
                      </a:r>
                      <a:r>
                        <a:rPr lang="en-US" sz="1200" smtClean="0">
                          <a:effectLst/>
                        </a:rPr>
                        <a:t>1,3,5: </a:t>
                      </a:r>
                      <a:r>
                        <a:rPr lang="en-US" sz="1200">
                          <a:effectLst/>
                        </a:rPr>
                        <a:t>All functionalities operate normally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Use Case 4: The </a:t>
                      </a:r>
                      <a:r>
                        <a:rPr lang="en-US" sz="1200" smtClean="0">
                          <a:effectLst/>
                        </a:rPr>
                        <a:t>LLM, Onmiverse </a:t>
                      </a:r>
                      <a:r>
                        <a:rPr lang="en-US" sz="1200">
                          <a:effectLst/>
                        </a:rPr>
                        <a:t>is not available. 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Use Case 2: Onmiverser is </a:t>
                      </a:r>
                      <a:r>
                        <a:rPr lang="en-US" sz="1200" smtClean="0">
                          <a:effectLst/>
                        </a:rPr>
                        <a:t>not working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47825"/>
                  </a:ext>
                </a:extLst>
              </a:tr>
              <a:tr h="10001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Multi-AI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Maintain software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Maintain all AI software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Maintain all AI software developed in 2025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All Customer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All Product Line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All Users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AI 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阮明黃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Open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Open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$50,000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Based on Esign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The quotation details have been sent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881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736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F73B-8152-C995-1805-9C498A63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7B3B9272-294D-319F-9A71-98CA123DF099}"/>
              </a:ext>
            </a:extLst>
          </p:cNvPr>
          <p:cNvSpPr/>
          <p:nvPr/>
        </p:nvSpPr>
        <p:spPr>
          <a:xfrm>
            <a:off x="9954883" y="0"/>
            <a:ext cx="2237117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OT： DT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黃趙五</a:t>
            </a:r>
            <a:r>
              <a:rPr lang="en-US" altLang="zh-CN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; </a:t>
            </a:r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潘洛興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E1471-308D-DB31-8AB1-4B35567A3D00}"/>
              </a:ext>
            </a:extLst>
          </p:cNvPr>
          <p:cNvSpPr txBox="1"/>
          <p:nvPr/>
        </p:nvSpPr>
        <p:spPr>
          <a:xfrm flipH="1">
            <a:off x="-8150" y="0"/>
            <a:ext cx="8545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60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Phase 1: Install usecase 1,2,3,5 on DT's Server_10.72.75.14 (2x GPU-PRO6000)</a:t>
            </a:r>
            <a:endParaRPr lang="en-US" altLang="zh-CN" sz="16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C6E5B-6A26-4E25-8F7A-E4BD3489CD6B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2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D1B683C-4351-8E4C-E79D-562BE952B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666340"/>
              </p:ext>
            </p:extLst>
          </p:nvPr>
        </p:nvGraphicFramePr>
        <p:xfrm>
          <a:off x="1" y="1135674"/>
          <a:ext cx="12191999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9543">
                  <a:extLst>
                    <a:ext uri="{9D8B030D-6E8A-4147-A177-3AD203B41FA5}">
                      <a16:colId xmlns:a16="http://schemas.microsoft.com/office/drawing/2014/main" val="3301111309"/>
                    </a:ext>
                  </a:extLst>
                </a:gridCol>
                <a:gridCol w="656087">
                  <a:extLst>
                    <a:ext uri="{9D8B030D-6E8A-4147-A177-3AD203B41FA5}">
                      <a16:colId xmlns:a16="http://schemas.microsoft.com/office/drawing/2014/main" val="1661291378"/>
                    </a:ext>
                  </a:extLst>
                </a:gridCol>
                <a:gridCol w="1232560">
                  <a:extLst>
                    <a:ext uri="{9D8B030D-6E8A-4147-A177-3AD203B41FA5}">
                      <a16:colId xmlns:a16="http://schemas.microsoft.com/office/drawing/2014/main" val="418241053"/>
                    </a:ext>
                  </a:extLst>
                </a:gridCol>
                <a:gridCol w="1224132">
                  <a:extLst>
                    <a:ext uri="{9D8B030D-6E8A-4147-A177-3AD203B41FA5}">
                      <a16:colId xmlns:a16="http://schemas.microsoft.com/office/drawing/2014/main" val="594005979"/>
                    </a:ext>
                  </a:extLst>
                </a:gridCol>
                <a:gridCol w="716072">
                  <a:extLst>
                    <a:ext uri="{9D8B030D-6E8A-4147-A177-3AD203B41FA5}">
                      <a16:colId xmlns:a16="http://schemas.microsoft.com/office/drawing/2014/main" val="3971821460"/>
                    </a:ext>
                  </a:extLst>
                </a:gridCol>
                <a:gridCol w="1930977">
                  <a:extLst>
                    <a:ext uri="{9D8B030D-6E8A-4147-A177-3AD203B41FA5}">
                      <a16:colId xmlns:a16="http://schemas.microsoft.com/office/drawing/2014/main" val="2254512465"/>
                    </a:ext>
                  </a:extLst>
                </a:gridCol>
                <a:gridCol w="5592628">
                  <a:extLst>
                    <a:ext uri="{9D8B030D-6E8A-4147-A177-3AD203B41FA5}">
                      <a16:colId xmlns:a16="http://schemas.microsoft.com/office/drawing/2014/main" val="1884921257"/>
                    </a:ext>
                  </a:extLst>
                </a:gridCol>
              </a:tblGrid>
              <a:tr h="1578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Project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Use case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IP/Port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b="1" u="none" strike="noStrike" dirty="0">
                          <a:effectLst/>
                        </a:rPr>
                        <a:t>Functionality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Status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Responsible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Describe Current Status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01372"/>
                  </a:ext>
                </a:extLst>
              </a:tr>
              <a:tr h="157865">
                <a:tc rowSpan="1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LightHouse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10.72.75.16:443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文宝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390938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191345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82751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10.72.75.16:8081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647669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880819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173919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10.72.75.14:8081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徐逸兴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r>
                        <a:rPr lang="en-US" sz="1200" u="none" strike="noStrike" dirty="0">
                          <a:effectLst/>
                        </a:rPr>
                        <a:t>, </a:t>
                      </a:r>
                      <a:endParaRPr lang="vi-VN" sz="12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陳冠瑋</a:t>
                      </a:r>
                      <a:r>
                        <a:rPr lang="en-US" altLang="zh-CN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Kuan-Wei Chen) Peter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err="1">
                          <a:effectLst/>
                        </a:rPr>
                        <a:t>Onmiverse</a:t>
                      </a:r>
                      <a:r>
                        <a:rPr lang="en-US" sz="1200" u="none" strike="noStrike">
                          <a:effectLst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</a:rPr>
                        <a:t>is</a:t>
                      </a:r>
                      <a:r>
                        <a:rPr lang="en-US" sz="1200" u="none" strike="noStrike" baseline="0" smtClean="0">
                          <a:effectLst/>
                        </a:rPr>
                        <a:t> not working due to data inaccessible </a:t>
                      </a:r>
                      <a:r>
                        <a:rPr lang="en-US" sz="1200" u="none" strike="noStrike" smtClean="0">
                          <a:effectLst/>
                        </a:rPr>
                        <a:t>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03162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Onmiverse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355996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43172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10.72.75.18:443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Login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/>
                      </a:r>
                      <a:br>
                        <a:rPr lang="en-US" sz="1200" u="none" strike="noStrike" dirty="0">
                          <a:effectLst/>
                        </a:rPr>
                      </a:br>
                      <a:endParaRPr lang="en-US" sz="1200" u="none" strike="noStrike" dirty="0">
                        <a:effectLst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徐逸兴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</a:t>
                      </a:r>
                      <a:br>
                        <a:rPr lang="en-US" sz="1200" u="none" strike="noStrike" dirty="0">
                          <a:effectLst/>
                        </a:rPr>
                      </a:br>
                      <a:r>
                        <a:rPr lang="zh-CN" altLang="en-US" sz="1200" u="none" strike="noStrike" dirty="0">
                          <a:effectLst/>
                        </a:rPr>
                        <a:t>陳冠瑋</a:t>
                      </a:r>
                      <a:r>
                        <a:rPr lang="en-US" altLang="zh-CN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Kuan-Wei Chen) Peter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smtClean="0">
                          <a:effectLst/>
                        </a:rPr>
                        <a:t>The </a:t>
                      </a:r>
                      <a:r>
                        <a:rPr lang="en-US" sz="1200" u="none" strike="noStrike" dirty="0">
                          <a:effectLst/>
                        </a:rPr>
                        <a:t>LLM currently is not working.(This feature link with Case </a:t>
                      </a:r>
                      <a:r>
                        <a:rPr lang="en-US" sz="1200" u="none" strike="noStrike">
                          <a:effectLst/>
                        </a:rPr>
                        <a:t>5</a:t>
                      </a:r>
                      <a:r>
                        <a:rPr lang="en-US" sz="1200" u="none" strike="noStrike" smtClean="0">
                          <a:effectLst/>
                        </a:rPr>
                        <a:t>)</a:t>
                      </a:r>
                      <a:endParaRPr lang="en-US" sz="1200" u="none" strike="noStrike" dirty="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463136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Real-time data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505943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34591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Onmiverse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512849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257250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10.72.75.31:8081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安之君</a:t>
                      </a:r>
                      <a:r>
                        <a:rPr lang="en-US" sz="1200" u="none" strike="noStrike" dirty="0">
                          <a:effectLst/>
                        </a:rPr>
                        <a:t>, 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/>
                      </a:r>
                      <a:br>
                        <a:rPr lang="en-US" sz="1200" u="none" strike="noStrike">
                          <a:effectLst/>
                        </a:rPr>
                      </a:b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006516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Real-time data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543097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827242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77048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3CD4A6E-F259-4164-D711-A8424C8486CD}"/>
              </a:ext>
            </a:extLst>
          </p:cNvPr>
          <p:cNvSpPr txBox="1"/>
          <p:nvPr/>
        </p:nvSpPr>
        <p:spPr>
          <a:xfrm>
            <a:off x="526211" y="536332"/>
            <a:ext cx="1794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I. </a:t>
            </a:r>
            <a:r>
              <a:rPr lang="vi-VN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93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7A51-3277-003D-E9FF-07B4B40D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0">
            <a:extLst>
              <a:ext uri="{FF2B5EF4-FFF2-40B4-BE49-F238E27FC236}">
                <a16:creationId xmlns:a16="http://schemas.microsoft.com/office/drawing/2014/main" id="{81AA8804-D2B0-B9C4-C611-16729E38F163}"/>
              </a:ext>
            </a:extLst>
          </p:cNvPr>
          <p:cNvGraphicFramePr/>
          <p:nvPr/>
        </p:nvGraphicFramePr>
        <p:xfrm>
          <a:off x="1311" y="320041"/>
          <a:ext cx="12190689" cy="6309360"/>
        </p:xfrm>
        <a:graphic>
          <a:graphicData uri="http://schemas.openxmlformats.org/drawingml/2006/table">
            <a:tbl>
              <a:tblPr/>
              <a:tblGrid>
                <a:gridCol w="392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5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409839024"/>
                    </a:ext>
                  </a:extLst>
                </a:gridCol>
              </a:tblGrid>
              <a:tr h="2043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Case</a:t>
                      </a:r>
                      <a:endParaRPr lang="en-US" sz="1200" b="1" strike="noStrike" spc="-1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Function</a:t>
                      </a:r>
                      <a:endParaRPr lang="en-US" sz="1200" b="1" strike="noStrike" spc="-1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Progress </a:t>
                      </a:r>
                      <a:r>
                        <a:rPr lang="en-US" sz="1200" b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(Green: Done/Closed; Yellow: Ongoing; Other color: Open)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Due </a:t>
                      </a: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date</a:t>
                      </a:r>
                      <a:endParaRPr lang="en-US" sz="1200" b="1" strike="noStrike" spc="-1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51">
                <a:tc row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2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Onmiverse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1. Create access application to transfer data 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 潘落興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-26/04/08</a:t>
                      </a:r>
                      <a:endParaRPr lang="vi-VN" sz="1200" b="0" strike="noStrike" spc="-1" dirty="0">
                        <a:highlight>
                          <a:srgbClr val="00FF0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2. Setting server and create new VM (75.42) to store data of case 2 OMV 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Done-Panda-26/04/07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dirty="0">
                          <a:latin typeface="+mj-lt"/>
                        </a:rPr>
                        <a:t> 3. </a:t>
                      </a:r>
                      <a:r>
                        <a:rPr lang="en-US" sz="1200" dirty="0">
                          <a:latin typeface="+mj-lt"/>
                        </a:rPr>
                        <a:t>Transfer data from old server (93.48) to new server (75.14) and then to VM42 (</a:t>
                      </a:r>
                      <a:r>
                        <a:rPr lang="vi-VN" sz="1200" dirty="0">
                          <a:latin typeface="+mj-lt"/>
                        </a:rPr>
                        <a:t>75</a:t>
                      </a:r>
                      <a:r>
                        <a:rPr lang="en-US" sz="1200" dirty="0">
                          <a:latin typeface="+mj-lt"/>
                        </a:rPr>
                        <a:t>.42)</a:t>
                      </a:r>
                      <a:r>
                        <a:rPr lang="vi-VN" sz="1200" b="0" strike="noStrike" spc="-1">
                          <a:latin typeface="+mj-lt"/>
                          <a:ea typeface="Microsoft JhengHei" panose="020B0604030504040204" pitchFamily="34" charset="-120"/>
                        </a:rPr>
                        <a:t>–</a:t>
                      </a:r>
                      <a:r>
                        <a:rPr lang="vi-VN" sz="1200" b="0" strike="noStrike" spc="-1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</a:t>
                      </a:r>
                      <a:r>
                        <a:rPr lang="en-US" altLang="zh-CN" sz="1200" b="0" strike="noStrike" spc="-1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TARG </a:t>
                      </a:r>
                      <a:r>
                        <a:rPr lang="zh-CN" altLang="en-US" sz="1200" b="0" strike="noStrike" spc="-1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陳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冠瑋</a:t>
                      </a:r>
                      <a:r>
                        <a:rPr lang="en-US" altLang="zh-C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Kuan-Wei Chen) Peter-26/04/13</a:t>
                      </a:r>
                      <a:endParaRPr lang="vi-VN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26/04/15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9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dirty="0">
                          <a:latin typeface="+mj-lt"/>
                        </a:rPr>
                        <a:t> 4. </a:t>
                      </a:r>
                      <a:r>
                        <a:rPr lang="en-US" sz="1200" dirty="0">
                          <a:latin typeface="+mj-lt"/>
                        </a:rPr>
                        <a:t>Get chiller MQTT data source address</a:t>
                      </a: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–</a:t>
                      </a:r>
                      <a:r>
                        <a:rPr lang="vi-VN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On going- 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陳冠瑋</a:t>
                      </a:r>
                      <a:r>
                        <a:rPr lang="en-US" altLang="zh-CN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vi-VN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Kuan-Wei Chen) Peter, 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阮功俊英</a:t>
                      </a:r>
                      <a:endParaRPr lang="vi-VN" altLang="zh-CN" sz="1200" b="0" strike="noStrike" spc="-1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    (1)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OMV Use case 2 receives data from more than 4 different IP addresses; we are compiling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them into a list 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before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submitting it.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The application has been submitted and is awaiting approval.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–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ue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ate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: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sz="1200" b="0" strike="noStrike" spc="-1" dirty="0">
                          <a:solidFill>
                            <a:srgbClr val="0000CC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 days </a:t>
                      </a:r>
                      <a:r>
                        <a:rPr lang="vi-VN" sz="1200" b="0" strike="noStrike" spc="-1" dirty="0">
                          <a:solidFill>
                            <a:srgbClr val="0000CC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en-US" sz="1200" b="0" strike="noStrike" spc="-1" dirty="0">
                          <a:solidFill>
                            <a:srgbClr val="0000CC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 is the actual number of days it takes for the application to be approved.</a:t>
                      </a:r>
                      <a:r>
                        <a:rPr lang="vi-VN" sz="1200" b="0" strike="noStrike" spc="-1" dirty="0">
                          <a:solidFill>
                            <a:srgbClr val="0000CC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)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D+5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869006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5. Re-configure</a:t>
                      </a:r>
                      <a:r>
                        <a:rPr 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and deploy OMV </a:t>
                      </a:r>
                      <a:r>
                        <a:rPr lang="vi-VN" sz="1200" b="0" strike="noStrike" spc="-1">
                          <a:latin typeface="+mj-lt"/>
                          <a:ea typeface="Microsoft JhengHei" panose="020B0604030504040204" pitchFamily="34" charset="-120"/>
                        </a:rPr>
                        <a:t>web- TARG</a:t>
                      </a:r>
                      <a:r>
                        <a:rPr lang="en-US" sz="1200" b="0" strike="noStrike" spc="-1">
                          <a:latin typeface="+mj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CN" altLang="en-US" sz="1200" b="0" strike="noStrike" spc="-1">
                          <a:latin typeface="+mj-lt"/>
                          <a:ea typeface="Microsoft JhengHei" panose="020B0604030504040204" pitchFamily="34" charset="-120"/>
                        </a:rPr>
                        <a:t>陳</a:t>
                      </a:r>
                      <a:r>
                        <a:rPr lang="zh-CN" alt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冠瑋</a:t>
                      </a:r>
                      <a:r>
                        <a:rPr lang="en-US" altLang="zh-C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Kuan-Wei Chen) Peter, </a:t>
                      </a:r>
                      <a:r>
                        <a:rPr lang="zh-CN" alt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阮功俊英</a:t>
                      </a:r>
                      <a:endParaRPr lang="vi-VN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D+8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35277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6. Run OMV Kit app service &amp; web service (change port to 8080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)- TARG</a:t>
                      </a:r>
                      <a:r>
                        <a:rPr lang="en-US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zh-CN" altLang="en-US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陳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冠瑋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Kuan-Wei Chen) Peter,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阮功俊英</a:t>
                      </a:r>
                      <a:endParaRPr lang="vi-VN" sz="1200" b="0" strike="noStrike" kern="1200" spc="-1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D+8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510920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7. 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Update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i-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frame on main website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- </a:t>
                      </a:r>
                      <a:r>
                        <a:rPr lang="en-US" altLang="zh-CN" sz="1200" b="0" strike="noStrike" kern="1200" spc="-1" dirty="0" err="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AnyScript</a:t>
                      </a:r>
                      <a:endParaRPr lang="vi-VN" sz="1200" b="0" strike="noStrike" kern="1200" spc="-1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D+11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61946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8. Test website 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function- TARG</a:t>
                      </a:r>
                      <a:r>
                        <a:rPr lang="en-US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zh-CN" altLang="en-US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陳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冠瑋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Kuan-Wei Chen) Peter,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阮功俊英</a:t>
                      </a:r>
                      <a:endParaRPr lang="en-US" sz="1200" b="0" strike="noStrike" kern="1200" spc="-1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D+16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115401"/>
                  </a:ext>
                </a:extLst>
              </a:tr>
              <a:tr h="476751">
                <a:tc row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Onmiverse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1. Create access application to transfer data 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 潘落興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-26/04/08</a:t>
                      </a:r>
                      <a:endParaRPr lang="vi-VN" sz="1200" b="0" strike="noStrike" spc="-1" dirty="0">
                        <a:highlight>
                          <a:srgbClr val="00FF0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2. Setting server </a:t>
                      </a:r>
                      <a:r>
                        <a:rPr 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&amp;</a:t>
                      </a: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create new VM</a:t>
                      </a:r>
                      <a:r>
                        <a:rPr 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(</a:t>
                      </a: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75.</a:t>
                      </a:r>
                      <a:r>
                        <a:rPr 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41)</a:t>
                      </a: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to store data of case 4 OMV–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Done-Panda-26/04/07</a:t>
                      </a:r>
                      <a:endParaRPr lang="vi-VN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Transfer data from old server (93.48) to new server (75.14) and then to VM42 (</a:t>
                      </a: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.42)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Done-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TARG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陳冠瑋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Kuan-Wei Chen) Peter-26/04/13</a:t>
                      </a:r>
                      <a:endParaRPr lang="vi-VN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26/04/15</a:t>
                      </a:r>
                      <a:endParaRPr lang="en-US" sz="1200" b="0" strike="noStrike" kern="1200" spc="-1" dirty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endParaRPr lang="vi-VN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7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4. Test website function –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On going-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鄧潘英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, TARG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Peter, TARG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Panda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   (1) (1) </a:t>
                      </a:r>
                      <a:r>
                        <a:rPr lang="en-US" sz="1200"/>
                        <a:t>Omniverse service </a:t>
                      </a:r>
                      <a:r>
                        <a:rPr lang="en-US" sz="1200" dirty="0"/>
                        <a:t>retrieves data from server 72.75.41 via ports 8080 and 49100.</a:t>
                      </a:r>
                      <a:r>
                        <a:rPr lang="vi-VN" sz="1200" dirty="0"/>
                        <a:t> </a:t>
                      </a:r>
                      <a:r>
                        <a:rPr lang="en-US" sz="1200" dirty="0"/>
                        <a:t>Currently, only port 8080 is</a:t>
                      </a:r>
                      <a:r>
                        <a:rPr lang="vi-VN" sz="1200" dirty="0"/>
                        <a:t> </a:t>
                      </a:r>
                      <a:r>
                        <a:rPr lang="en-US" sz="1200"/>
                        <a:t>accessible 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Waiting for the access application to open port 49100-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</a:t>
                      </a:r>
                      <a:r>
                        <a:rPr lang="vi-VN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ue 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</a:t>
                      </a:r>
                      <a:r>
                        <a:rPr lang="vi-VN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ate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:</a:t>
                      </a:r>
                      <a:r>
                        <a:rPr lang="vi-VN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sz="1200" b="0" strike="noStrike" kern="1200" spc="-1" dirty="0">
                          <a:solidFill>
                            <a:srgbClr val="0000CC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 </a:t>
                      </a:r>
                      <a:r>
                        <a:rPr lang="vi-VN" sz="1200" b="0" strike="noStrike" kern="1200" spc="-1" dirty="0">
                          <a:solidFill>
                            <a:srgbClr val="0000CC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days</a:t>
                      </a:r>
                      <a:endParaRPr lang="vi-VN" sz="1200" b="0" strike="noStrike" kern="1200" spc="-1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D+5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138256"/>
                  </a:ext>
                </a:extLst>
              </a:tr>
              <a:tr h="3405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LLM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S</a:t>
                      </a:r>
                      <a:r>
                        <a:rPr lang="en-US" sz="1200" b="0" strike="noStrike" spc="-1" dirty="0" err="1">
                          <a:latin typeface="+mj-lt"/>
                          <a:ea typeface="Microsoft JhengHei" panose="020B0604030504040204" pitchFamily="34" charset="-120"/>
                        </a:rPr>
                        <a:t>ubmit</a:t>
                      </a:r>
                      <a:r>
                        <a:rPr 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internet application for IOC access with updated port</a:t>
                      </a: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- </a:t>
                      </a:r>
                      <a:r>
                        <a:rPr lang="vi-VN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On-going- 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 潘落興</a:t>
                      </a:r>
                      <a:endParaRPr lang="vi-VN" altLang="zh-CN" sz="1200" b="0" strike="noStrike" spc="-1" dirty="0">
                        <a:highlight>
                          <a:srgbClr val="FFFF0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altLang="zh-CN" sz="1200" b="0" strike="noStrike" spc="-1" dirty="0">
                          <a:latin typeface="+mj-lt"/>
                          <a:ea typeface="Microsoft JhengHei" panose="020B0604030504040204" pitchFamily="34" charset="-12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The application has been submitted and is awaiting approval.</a:t>
                      </a:r>
                      <a:endParaRPr lang="vi-VN" altLang="zh-CN" sz="1200" b="0" strike="noStrike" spc="-1" dirty="0">
                        <a:highlight>
                          <a:srgbClr val="FFFF0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92795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2. Deploy ioc 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service- 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Ongoing- </a:t>
                      </a:r>
                      <a:r>
                        <a:rPr lang="en-US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TAR</a:t>
                      </a:r>
                      <a:r>
                        <a:rPr lang="en-US" altLang="zh-CN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G</a:t>
                      </a:r>
                      <a:r>
                        <a:rPr lang="zh-CN" altLang="en-US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袁小利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D+7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96005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3. Test LLM function -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鄧潘英 </a:t>
                      </a:r>
                      <a:endParaRPr lang="en-US" sz="1200" b="0" strike="noStrike" kern="1200" spc="-1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D+12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16985"/>
                  </a:ext>
                </a:extLst>
              </a:tr>
              <a:tr h="340536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5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LLM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0" algn="l"/>
                        </a:tabLst>
                        <a:defRPr/>
                      </a:pPr>
                      <a:r>
                        <a:rPr lang="vi-VN" sz="1200" dirty="0"/>
                        <a:t>S</a:t>
                      </a:r>
                      <a:r>
                        <a:rPr lang="en-US" sz="1200" dirty="0" err="1"/>
                        <a:t>ubmit</a:t>
                      </a:r>
                      <a:r>
                        <a:rPr lang="en-US" sz="1200" dirty="0"/>
                        <a:t> internet application for IOC access with updated port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-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On-going-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阮功俊英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,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潘落興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The application has been submitted and is awaiting approval.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276119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2. Deploy 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ioc service</a:t>
                      </a:r>
                      <a:r>
                        <a:rPr lang="en-US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- 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Ongoing- </a:t>
                      </a:r>
                      <a:r>
                        <a:rPr lang="en-US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TAR</a:t>
                      </a:r>
                      <a:r>
                        <a:rPr lang="en-US" altLang="zh-CN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G</a:t>
                      </a:r>
                      <a:r>
                        <a:rPr lang="zh-CN" altLang="en-US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袁小利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D+7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405660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3. Test LLM function -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阮功俊英</a:t>
                      </a:r>
                      <a:endParaRPr lang="en-US" sz="1200" b="0" strike="noStrike" kern="1200" spc="-1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D+12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85805"/>
                  </a:ext>
                </a:extLst>
              </a:tr>
            </a:tbl>
          </a:graphicData>
        </a:graphic>
      </p:graphicFrame>
      <p:sp>
        <p:nvSpPr>
          <p:cNvPr id="5" name="TextBox 1">
            <a:extLst>
              <a:ext uri="{FF2B5EF4-FFF2-40B4-BE49-F238E27FC236}">
                <a16:creationId xmlns:a16="http://schemas.microsoft.com/office/drawing/2014/main" id="{275C97E4-0265-7162-D193-862814B8655F}"/>
              </a:ext>
            </a:extLst>
          </p:cNvPr>
          <p:cNvSpPr/>
          <p:nvPr/>
        </p:nvSpPr>
        <p:spPr>
          <a:xfrm>
            <a:off x="9954882" y="0"/>
            <a:ext cx="2237117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OT： DT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黃趙五</a:t>
            </a:r>
            <a:r>
              <a:rPr lang="en-US" altLang="zh-CN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; </a:t>
            </a:r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潘洛興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5C9A3E-CB50-1690-7C1B-855D5D94C448}"/>
              </a:ext>
            </a:extLst>
          </p:cNvPr>
          <p:cNvSpPr txBox="1"/>
          <p:nvPr/>
        </p:nvSpPr>
        <p:spPr>
          <a:xfrm flipH="1">
            <a:off x="-8149" y="0"/>
            <a:ext cx="10533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20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Phase 1: Install usecase 1,2,3,5 on DT's Server_10.72.75.14 (2x GPU-PRO6000)</a:t>
            </a:r>
            <a:endParaRPr lang="en-US" altLang="zh-CN" sz="12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455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9DB2F8-87E4-5CC9-66BB-F6A3C2A7F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1E06B5D4-40D4-005D-EA69-CCDA71C9BA48}"/>
              </a:ext>
            </a:extLst>
          </p:cNvPr>
          <p:cNvSpPr/>
          <p:nvPr/>
        </p:nvSpPr>
        <p:spPr>
          <a:xfrm>
            <a:off x="9954882" y="0"/>
            <a:ext cx="2237117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OT： DT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黃趙五</a:t>
            </a:r>
            <a:r>
              <a:rPr lang="en-US" altLang="zh-CN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; </a:t>
            </a:r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潘洛興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F62445-E7EF-5744-C4A6-F05487032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6964"/>
            <a:ext cx="12192000" cy="2408572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4176C1-CA24-6889-9377-D4CD18E5994B}"/>
              </a:ext>
            </a:extLst>
          </p:cNvPr>
          <p:cNvSpPr txBox="1"/>
          <p:nvPr/>
        </p:nvSpPr>
        <p:spPr>
          <a:xfrm>
            <a:off x="5135350" y="3762375"/>
            <a:ext cx="2294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>
                <a:latin typeface="+mn-ea"/>
              </a:rPr>
              <a:t>Fig 1. Acess Application Form</a:t>
            </a:r>
            <a:endParaRPr lang="en-US" sz="1200" dirty="0">
              <a:latin typeface="+mn-ea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5DA78981-7711-0CCA-A689-6DCFC4AF3118}"/>
              </a:ext>
            </a:extLst>
          </p:cNvPr>
          <p:cNvSpPr txBox="1"/>
          <p:nvPr/>
        </p:nvSpPr>
        <p:spPr>
          <a:xfrm flipH="1">
            <a:off x="-8149" y="0"/>
            <a:ext cx="6499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20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Phase 1: Install usecase 1,2,3,5 on DT's Server_10.72.75.14 (2x GPU-PRO6000)</a:t>
            </a:r>
            <a:endParaRPr lang="en-US" altLang="zh-CN" sz="12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794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346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gwYTcyMWZjMWI3NDZiYzEyNTk1MjVjNjNjMGYw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陈文俊 Foxconn 报告模板">
      <a:majorFont>
        <a:latin typeface="Microsoft JhengHei"/>
        <a:ea typeface="Microsoft JhengHei"/>
        <a:cs typeface=""/>
      </a:majorFont>
      <a:minorFont>
        <a:latin typeface="Microsoft JhengHei"/>
        <a:ea typeface="Microsoft Jheng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 sz="120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4ccf059-af5d-4b92-932d-3690a1231c55}" enabled="1" method="Standard" siteId="{cb3d8dcd-2ed2-4bad-89a5-e0a7195fb6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2136</TotalTime>
  <Words>1783</Words>
  <Application>Microsoft Office PowerPoint</Application>
  <PresentationFormat>Widescreen</PresentationFormat>
  <Paragraphs>480</Paragraphs>
  <Slides>10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等线</vt:lpstr>
      <vt:lpstr>Microsoft JhengHei</vt:lpstr>
      <vt:lpstr>微软雅黑</vt:lpstr>
      <vt:lpstr>宋体</vt:lpstr>
      <vt:lpstr>思源黑体 CN Heavy</vt:lpstr>
      <vt:lpstr>思源黑体 CN Normal</vt:lpstr>
      <vt:lpstr>Arial</vt:lpstr>
      <vt:lpstr>Calibri</vt:lpstr>
      <vt:lpstr>Times New Roman</vt:lpstr>
      <vt:lpstr>Wingdings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TUAN TRAN</dc:creator>
  <cp:lastModifiedBy>Nguyen Thi Lan Anh</cp:lastModifiedBy>
  <cp:revision>598</cp:revision>
  <dcterms:created xsi:type="dcterms:W3CDTF">2026-02-07T01:58:58Z</dcterms:created>
  <dcterms:modified xsi:type="dcterms:W3CDTF">2026-05-15T10:31:15Z</dcterms:modified>
</cp:coreProperties>
</file>
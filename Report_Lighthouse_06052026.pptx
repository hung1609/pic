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78E8-4F5B-7A70-934C-0F307943A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6A75E-8228-61E0-ECE1-14B8914CF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96881-6752-556A-59AE-4443FA026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A1974-2A34-0A2D-EE13-51E8894F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F949-4459-13A0-452F-A98125C6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2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FF73-59E8-0924-6D0E-A4C07FA2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C71D-BE7D-9755-3458-41C738E4B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4833C-6BEB-1314-0040-7897C3E9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0272-F87C-2296-C2A5-6509E917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B5EC0-7083-A45E-D3CD-4B66541F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47F2-4C95-DDF5-3E66-E5418DE29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48D6E-610D-B8CF-17A4-94C61B1C1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3E720-54DC-38BE-4878-BB73C96D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75325-88EB-D2D9-0224-798109BF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093C7-421E-7003-8761-BFECD476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1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162E-274C-D473-82D2-4373FB38F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9D53F-4953-F017-C0B4-CF8F1BDE9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4DA2E-AC8E-8259-22CE-2A5014A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3629F-E343-5A5E-43B6-7D4917F4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0F785-3DFD-ACF7-B82E-8CD36DEE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E4639-43C8-F714-CD95-977F4E21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9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CE27-0F10-3560-48FA-1CADFF43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9A35-32CE-8491-8095-F414B2B60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83D7F-479E-EECA-E640-53144EF53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E966C-EE60-1482-20CC-61C0BFDEB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C9FFD-9EE1-17EB-880C-ABA6580ED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507326-6D27-1504-470E-F042C449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7B465-8196-01B9-0B70-E1F83281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E31A8-2063-76D4-5226-D15F5E68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4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7105-5D11-97FD-10E8-BD35BCD2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D1A0E-D03D-3BD8-2F58-CEB1D45E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D662A-5E8E-72B3-1981-144C5168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0B0B9-2F58-4C0A-14E9-3368B2C6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9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6135C-C4EB-92F6-3573-D64FC073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041ABB-FA4F-6D7F-8A98-2900F60A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2F5B1-8850-9919-32B2-06204FFA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9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7DFF-DA37-C946-DFFE-A8677F5B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8599-4257-F041-2AC9-4860A00DF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3D72E-F77E-8ABD-B9B4-C468C1B85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43074-9661-F4DF-13D1-66AE5C09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1F9DF-8998-4FC9-AD98-A50CBE19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90A64-BCF6-830E-DFCA-92550CA2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4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19E7-D51E-89A4-926C-C5F94FD29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B2FB8-9401-7110-6293-6BBC9541F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5D562-5DAF-0418-A92E-16E2D04D3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B55C0-6CBD-A5E0-523E-27C6780A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1F8D9-BD6F-6FF7-1721-BA10EC3C7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C744D-A1D1-3FC7-64D9-69C83250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5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2D03-A877-8FA1-4671-B66F4676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7E489-4B46-E50A-53A5-0A3DC6A68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F5384-FD4A-9287-1E74-C4153447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A0275-C0A1-31F9-0F62-79B73BCA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C0F22-E78B-262F-7071-63505FC9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0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12B0C-2AF2-D5D2-0145-0318B9875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372FD-2A47-E657-C82F-C1C87D879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F8336-03EB-9526-4206-2D7EA7EE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677F2-6A96-4022-727B-0BBF33E8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62E3F-9338-6B19-DE37-615AD658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4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38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EF0795-8B7F-013C-E1A8-E311E0B6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0D814-2933-DCD5-0938-2E6C1E00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A2247-3D6E-AAE2-2C9C-3EB45E5D8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31DE1-8AD7-8B86-9C11-58C5451DA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A35F7-FD6A-BAF3-C89C-197910975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0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F73B-8152-C995-1805-9C498A63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7B3B9272-294D-319F-9A71-98CA123DF099}"/>
              </a:ext>
            </a:extLst>
          </p:cNvPr>
          <p:cNvSpPr/>
          <p:nvPr/>
        </p:nvSpPr>
        <p:spPr>
          <a:xfrm>
            <a:off x="9954883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E1471-308D-DB31-8AB1-4B35567A3D00}"/>
              </a:ext>
            </a:extLst>
          </p:cNvPr>
          <p:cNvSpPr txBox="1"/>
          <p:nvPr/>
        </p:nvSpPr>
        <p:spPr>
          <a:xfrm flipH="1">
            <a:off x="-8150" y="0"/>
            <a:ext cx="8545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6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1: Install usecase 1,2,3,5 on DT's Server_10.72.75.14 (2x GPU-PRO6000)</a:t>
            </a:r>
            <a:endParaRPr lang="en-US" altLang="zh-CN" sz="16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C6E5B-6A26-4E25-8F7A-E4BD3489CD6B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D1B683C-4351-8E4C-E79D-562BE952BB09}"/>
              </a:ext>
            </a:extLst>
          </p:cNvPr>
          <p:cNvGraphicFramePr>
            <a:graphicFrameLocks noGrp="1"/>
          </p:cNvGraphicFramePr>
          <p:nvPr/>
        </p:nvGraphicFramePr>
        <p:xfrm>
          <a:off x="1" y="1135674"/>
          <a:ext cx="12191999" cy="41389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9543">
                  <a:extLst>
                    <a:ext uri="{9D8B030D-6E8A-4147-A177-3AD203B41FA5}">
                      <a16:colId xmlns:a16="http://schemas.microsoft.com/office/drawing/2014/main" val="3301111309"/>
                    </a:ext>
                  </a:extLst>
                </a:gridCol>
                <a:gridCol w="656087">
                  <a:extLst>
                    <a:ext uri="{9D8B030D-6E8A-4147-A177-3AD203B41FA5}">
                      <a16:colId xmlns:a16="http://schemas.microsoft.com/office/drawing/2014/main" val="1661291378"/>
                    </a:ext>
                  </a:extLst>
                </a:gridCol>
                <a:gridCol w="1232560">
                  <a:extLst>
                    <a:ext uri="{9D8B030D-6E8A-4147-A177-3AD203B41FA5}">
                      <a16:colId xmlns:a16="http://schemas.microsoft.com/office/drawing/2014/main" val="418241053"/>
                    </a:ext>
                  </a:extLst>
                </a:gridCol>
                <a:gridCol w="1224132">
                  <a:extLst>
                    <a:ext uri="{9D8B030D-6E8A-4147-A177-3AD203B41FA5}">
                      <a16:colId xmlns:a16="http://schemas.microsoft.com/office/drawing/2014/main" val="594005979"/>
                    </a:ext>
                  </a:extLst>
                </a:gridCol>
                <a:gridCol w="716072">
                  <a:extLst>
                    <a:ext uri="{9D8B030D-6E8A-4147-A177-3AD203B41FA5}">
                      <a16:colId xmlns:a16="http://schemas.microsoft.com/office/drawing/2014/main" val="3971821460"/>
                    </a:ext>
                  </a:extLst>
                </a:gridCol>
                <a:gridCol w="1930977">
                  <a:extLst>
                    <a:ext uri="{9D8B030D-6E8A-4147-A177-3AD203B41FA5}">
                      <a16:colId xmlns:a16="http://schemas.microsoft.com/office/drawing/2014/main" val="2254512465"/>
                    </a:ext>
                  </a:extLst>
                </a:gridCol>
                <a:gridCol w="5592628">
                  <a:extLst>
                    <a:ext uri="{9D8B030D-6E8A-4147-A177-3AD203B41FA5}">
                      <a16:colId xmlns:a16="http://schemas.microsoft.com/office/drawing/2014/main" val="1884921257"/>
                    </a:ext>
                  </a:extLst>
                </a:gridCol>
              </a:tblGrid>
              <a:tr h="1578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Project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IP/Port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Functionality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Responsible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Describe Current 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01372"/>
                  </a:ext>
                </a:extLst>
              </a:tr>
              <a:tr h="157865">
                <a:tc rowSpan="1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LightHouse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10.72.75.16:443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文宝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390938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91345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82751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10.72.75.16:8081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647669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880819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173919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10.72.75.14:8081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endParaRPr lang="vi-VN" sz="12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r>
                        <a:rPr lang="en-US" sz="1200" u="none" strike="noStrike" dirty="0">
                          <a:effectLst/>
                        </a:rPr>
                        <a:t> data has been moved to the new server (72.75.14)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3162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355996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43172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10.72.75.18:443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Login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US" sz="1200" u="none" strike="noStrike" dirty="0">
                          <a:effectLst/>
                        </a:rPr>
                      </a:br>
                      <a:endParaRPr lang="en-US" sz="1200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</a:t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 Real-time data is only available on the main </a:t>
                      </a:r>
                      <a:r>
                        <a:rPr lang="vi-VN" sz="1200" u="none" strike="noStrike" dirty="0">
                          <a:effectLst/>
                        </a:rPr>
                        <a:t>UI,</a:t>
                      </a:r>
                      <a:r>
                        <a:rPr lang="en-US" sz="1200" u="none" strike="noStrike" dirty="0">
                          <a:effectLst/>
                        </a:rPr>
                        <a:t> sub-UI do not display this data.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2. The LLM currently is not working.(This feature link with Case 5)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3. </a:t>
                      </a: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r>
                        <a:rPr lang="en-US" sz="1200" u="none" strike="noStrike" dirty="0">
                          <a:effectLst/>
                        </a:rPr>
                        <a:t> data was transferred to the new server (72.75.14) and then to 72.75.41.</a:t>
                      </a:r>
                      <a:r>
                        <a:rPr lang="vi-VN" sz="1200" u="none" strike="noStrike" dirty="0">
                          <a:effectLst/>
                        </a:rPr>
                        <a:t> The Onmiverse function </a:t>
                      </a:r>
                      <a:r>
                        <a:rPr lang="en-US" sz="1200" u="none" strike="noStrike" dirty="0">
                          <a:effectLst/>
                        </a:rPr>
                        <a:t>is not yet operational.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463136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Real-time data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505943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34591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12849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257250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10.72.75.31:8081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安之君</a:t>
                      </a:r>
                      <a:r>
                        <a:rPr lang="en-US" sz="1200" u="none" strike="noStrike" dirty="0">
                          <a:effectLst/>
                        </a:rPr>
                        <a:t>, 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en-US" sz="1200" u="none" strike="noStrike" dirty="0">
                          <a:effectLst/>
                        </a:rPr>
                      </a:b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006516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Real-time 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43097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827242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7704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3CD4A6E-F259-4164-D711-A8424C8486CD}"/>
              </a:ext>
            </a:extLst>
          </p:cNvPr>
          <p:cNvSpPr txBox="1"/>
          <p:nvPr/>
        </p:nvSpPr>
        <p:spPr>
          <a:xfrm>
            <a:off x="526211" y="536332"/>
            <a:ext cx="1794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I. </a:t>
            </a:r>
            <a:r>
              <a:rPr lang="vi-VN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93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7A51-3277-003D-E9FF-07B4B40D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0">
            <a:extLst>
              <a:ext uri="{FF2B5EF4-FFF2-40B4-BE49-F238E27FC236}">
                <a16:creationId xmlns:a16="http://schemas.microsoft.com/office/drawing/2014/main" id="{81AA8804-D2B0-B9C4-C611-16729E38F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8245990"/>
              </p:ext>
            </p:extLst>
          </p:nvPr>
        </p:nvGraphicFramePr>
        <p:xfrm>
          <a:off x="-8149" y="275545"/>
          <a:ext cx="12190689" cy="6306286"/>
        </p:xfrm>
        <a:graphic>
          <a:graphicData uri="http://schemas.openxmlformats.org/drawingml/2006/table">
            <a:tbl>
              <a:tblPr/>
              <a:tblGrid>
                <a:gridCol w="392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16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09839024"/>
                    </a:ext>
                  </a:extLst>
                </a:gridCol>
              </a:tblGrid>
              <a:tr h="2386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Progress </a:t>
                      </a:r>
                      <a:r>
                        <a:rPr lang="en-US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(Green: Done/Closed; Yellow: Ongoing; Other color: Open)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Due </a:t>
                      </a: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date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879"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  <a:r>
                        <a:rPr lang="en-US" sz="1200" b="0" strike="noStrike" spc="-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mn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iverse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1. Create access application to transfer data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潘落興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-26/04/08</a:t>
                      </a:r>
                      <a:endParaRPr lang="vi-VN" sz="1200" b="0" strike="noStrike" spc="-1" dirty="0"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2. Setting server and create new VM (75.42) to store data of case 2 OMV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Done-Panda-26/04/07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3.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Transfer data from old server (93.48) to new server (75.14) and then to VM42 (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.42)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</a:t>
                      </a:r>
                      <a:r>
                        <a:rPr lang="en-US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 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Peter-26/04/13</a:t>
                      </a: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26/04/15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40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4.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 chiller MQTT data source address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 going-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Peter,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endParaRPr lang="vi-VN" altLang="zh-CN" sz="1200" b="0" strike="noStrike" spc="-1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(1)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OMV Use case 2 receives data from more than 4 different IP addresses; we are compiling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them into a list 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before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submitting it.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application has been submitted and is awaiting approval.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ue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ate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 days </a:t>
                      </a:r>
                      <a:r>
                        <a:rPr lang="vi-VN" sz="1200" b="0" strike="noStrike" spc="-1" dirty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200" b="0" strike="noStrike" spc="-1" dirty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 is the actual number of days it takes for the application to be approved.</a:t>
                      </a:r>
                      <a:r>
                        <a:rPr lang="vi-VN" sz="1200" b="0" strike="noStrike" spc="-1" dirty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</a:t>
                      </a:r>
                      <a:r>
                        <a:rPr lang="vi-VN" sz="1200" b="0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(2)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application was rejected on 26/04/28 due to port 80 being considered high risk.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This impacts OMV deployment, as all related OMV ports are included in the same application.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New application was recreated with port separate from those associated with IOC and will be submit on 26/05/07</a:t>
                      </a:r>
                      <a:endParaRPr lang="vi-VN" sz="1200" b="0" strike="noStrike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D+5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869006"/>
                  </a:ext>
                </a:extLst>
              </a:tr>
              <a:tr h="238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5. Re-configure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and deploy OMV 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web- TARG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zh-CN" altLang="en-US" sz="1200" b="0" strike="noStrike" spc="-1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Peter, </a:t>
                      </a:r>
                      <a:r>
                        <a:rPr lang="zh-CN" altLang="en-US" sz="1200" b="0" strike="noStrike" spc="-1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35277"/>
                  </a:ext>
                </a:extLst>
              </a:tr>
              <a:tr h="238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6. Run OMV Kit app service &amp; web service (change port to 8080)- TARG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Peter,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0920"/>
                  </a:ext>
                </a:extLst>
              </a:tr>
              <a:tr h="238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7. 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Update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i-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frame on main website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n-US" altLang="zh-CN" sz="1200" b="0" strike="noStrike" kern="1200" spc="-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AnyScript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D+11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61946"/>
                  </a:ext>
                </a:extLst>
              </a:tr>
              <a:tr h="238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8. Test website function- TARG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Peter,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D+16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115401"/>
                  </a:ext>
                </a:extLst>
              </a:tr>
              <a:tr h="715879">
                <a:tc row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  <a:r>
                        <a:rPr lang="en-US" sz="1200" b="0" strike="noStrike" spc="-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mn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iverse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 Create access application to transfer data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潘落興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-26/04/08</a:t>
                      </a:r>
                      <a:endParaRPr lang="vi-VN" sz="1200" b="0" strike="noStrike" spc="-1" dirty="0"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Setting server 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&amp;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create new VM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75.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41)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to store data of case 4 OMV–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Done-Panda-26/04/07</a:t>
                      </a: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Transfer data from old server (93.48) to new server (75.14) and then to VM42 (</a:t>
                      </a: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.42)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Peter-26/04/13</a:t>
                      </a: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26/04/15</a:t>
                      </a:r>
                      <a:endParaRPr lang="en-US" sz="1200" b="0" strike="noStrike" kern="1200" spc="-1" dirty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7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 Test website function –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 going-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鄧潘英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TARG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Peter, TARG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Panda, Iverson(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博丞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(1)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Omniverse functionality is not yet running; currently 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finding and editing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config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file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(file nginx.conf, .sh file)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for proper setup.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138256"/>
                  </a:ext>
                </a:extLst>
              </a:tr>
              <a:tr h="3977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LLM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r>
                        <a:rPr lang="en-US" sz="1200" b="0" strike="noStrike" spc="-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ubmit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internet application for IOC access with updated port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On-going-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潘落興</a:t>
                      </a:r>
                      <a:endParaRPr lang="vi-VN" altLang="zh-CN" sz="1200" b="0" strike="noStrike" spc="-1" dirty="0"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altLang="zh-C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application has been submitted and 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was rejected on 26/04/28 due to port 80 (IOC-related) being considered high risk</a:t>
                      </a:r>
                      <a:endParaRPr lang="vi-VN" altLang="zh-CN" sz="1200" b="0" strike="noStrike" spc="-1" dirty="0"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92795"/>
                  </a:ext>
                </a:extLst>
              </a:tr>
              <a:tr h="238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Deploy ioc service-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Ongoing- 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袁小利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D+7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96005"/>
                  </a:ext>
                </a:extLst>
              </a:tr>
              <a:tr h="238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Test LLM function –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鄧潘英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LLM is still not available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D+12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16985"/>
                  </a:ext>
                </a:extLst>
              </a:tr>
              <a:tr h="397711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LLM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0" algn="l"/>
                        </a:tabLst>
                        <a:defRPr/>
                      </a:pP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r>
                        <a:rPr lang="en-US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ubmit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internet application for IOC access with updated port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On-going-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潘落興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application has been submitted and 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was rejected on 26/04/28 due to port 80 (IOC-related) being considered high risk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276119"/>
                  </a:ext>
                </a:extLst>
              </a:tr>
              <a:tr h="238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Deploy ioc service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Ongoing- 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袁小利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D+7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405660"/>
                  </a:ext>
                </a:extLst>
              </a:tr>
              <a:tr h="238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Test LLM function –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Currently, the LLM can response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D+12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85805"/>
                  </a:ext>
                </a:extLst>
              </a:tr>
            </a:tbl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275C97E4-0265-7162-D193-862814B8655F}"/>
              </a:ext>
            </a:extLst>
          </p:cNvPr>
          <p:cNvSpPr/>
          <p:nvPr/>
        </p:nvSpPr>
        <p:spPr>
          <a:xfrm>
            <a:off x="9954882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C9A3E-CB50-1690-7C1B-855D5D94C448}"/>
              </a:ext>
            </a:extLst>
          </p:cNvPr>
          <p:cNvSpPr txBox="1"/>
          <p:nvPr/>
        </p:nvSpPr>
        <p:spPr>
          <a:xfrm flipH="1">
            <a:off x="-8149" y="0"/>
            <a:ext cx="10533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1: Install </a:t>
            </a:r>
            <a:r>
              <a:rPr lang="en-US" altLang="zh-CN" sz="1200" dirty="0" err="1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usecase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1,2,3,5 on DT's Server_10.72.75.14 (2x GPU-PRO6000)</a:t>
            </a:r>
          </a:p>
        </p:txBody>
      </p:sp>
    </p:spTree>
    <p:extLst>
      <p:ext uri="{BB962C8B-B14F-4D97-AF65-F5344CB8AC3E}">
        <p14:creationId xmlns:p14="http://schemas.microsoft.com/office/powerpoint/2010/main" val="1732455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890</Words>
  <Application>Microsoft Office PowerPoint</Application>
  <PresentationFormat>Widescreen</PresentationFormat>
  <Paragraphs>119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Microsoft JhengHei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 AI</dc:creator>
  <cp:lastModifiedBy>PM AI</cp:lastModifiedBy>
  <cp:revision>1</cp:revision>
  <dcterms:created xsi:type="dcterms:W3CDTF">2026-05-06T10:10:25Z</dcterms:created>
  <dcterms:modified xsi:type="dcterms:W3CDTF">2026-05-06T10:16:30Z</dcterms:modified>
</cp:coreProperties>
</file>
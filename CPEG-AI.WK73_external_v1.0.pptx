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8.jpg" ContentType="image/jpg"/>
  <Override PartName="/ppt/media/image9.jpg" ContentType="image/jpg"/>
  <Override PartName="/ppt/notesSlides/notesSlide5.xml" ContentType="application/vnd.openxmlformats-officedocument.presentationml.notesSlide+xml"/>
  <Override PartName="/ppt/media/image10.jpg" ContentType="image/jpg"/>
  <Override PartName="/ppt/media/image11.jpg" ContentType="image/jpg"/>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74" r:id="rId1"/>
  </p:sldMasterIdLst>
  <p:notesMasterIdLst>
    <p:notesMasterId r:id="rId15"/>
  </p:notesMasterIdLst>
  <p:handoutMasterIdLst>
    <p:handoutMasterId r:id="rId16"/>
  </p:handoutMasterIdLst>
  <p:sldIdLst>
    <p:sldId id="256" r:id="rId2"/>
    <p:sldId id="2147377476" r:id="rId3"/>
    <p:sldId id="2147377477" r:id="rId4"/>
    <p:sldId id="2147377478" r:id="rId5"/>
    <p:sldId id="2147377472" r:id="rId6"/>
    <p:sldId id="287" r:id="rId7"/>
    <p:sldId id="2147377471" r:id="rId8"/>
    <p:sldId id="2147377473" r:id="rId9"/>
    <p:sldId id="2147377474" r:id="rId10"/>
    <p:sldId id="2147377475" r:id="rId11"/>
    <p:sldId id="2147377470" r:id="rId12"/>
    <p:sldId id="299" r:id="rId13"/>
    <p:sldId id="300" r:id="rId14"/>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User" initials="U" lastIdx="1" clrIdx="2">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D9FF"/>
    <a:srgbClr val="0000CC"/>
    <a:srgbClr val="92D050"/>
    <a:srgbClr val="FFFFFF"/>
    <a:srgbClr val="D9D9D9"/>
    <a:srgbClr val="DEEBF7"/>
    <a:srgbClr val="002F77"/>
    <a:srgbClr val="FFC000"/>
    <a:srgbClr val="002060"/>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5763" autoAdjust="0"/>
  </p:normalViewPr>
  <p:slideViewPr>
    <p:cSldViewPr snapToGrid="0">
      <p:cViewPr varScale="1">
        <p:scale>
          <a:sx n="82" d="100"/>
          <a:sy n="82" d="100"/>
        </p:scale>
        <p:origin x="658" y="67"/>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C47B5-ADAF-41B0-8E25-798150F70C66}" type="datetimeFigureOut">
              <a:rPr lang="zh-CN" altLang="en-US" smtClean="0"/>
              <a:t>2026/5/6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33EC7-D770-4470-B266-BEBD01C74447}"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7" name="灯片编号占位符 6"/>
          <p:cNvSpPr>
            <a:spLocks noGrp="1"/>
          </p:cNvSpPr>
          <p:nvPr>
            <p:ph type="sldNum" sz="quarter" idx="5"/>
          </p:nvPr>
        </p:nvSpPr>
        <p:spPr/>
        <p:txBody>
          <a:bodyPr/>
          <a:lstStyle/>
          <a:p>
            <a:fld id="{8CB33EC7-D770-4470-B266-BEBD01C74447}" type="slidenum">
              <a:rPr lang="zh-CN" altLang="en-US" smtClean="0"/>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7" name="灯片编号占位符 6"/>
          <p:cNvSpPr>
            <a:spLocks noGrp="1"/>
          </p:cNvSpPr>
          <p:nvPr>
            <p:ph type="sldNum" sz="quarter" idx="5"/>
          </p:nvPr>
        </p:nvSpPr>
        <p:spPr/>
        <p:txBody>
          <a:bodyPr/>
          <a:lstStyle/>
          <a:p>
            <a:fld id="{8CB33EC7-D770-4470-B266-BEBD01C74447}" type="slidenum">
              <a:rPr lang="zh-CN" altLang="en-US" smtClean="0"/>
              <a:t>1</a:t>
            </a:fld>
            <a:endParaRPr lang="zh-CN" altLang="en-US"/>
          </a:p>
        </p:txBody>
      </p:sp>
    </p:spTree>
    <p:extLst>
      <p:ext uri="{BB962C8B-B14F-4D97-AF65-F5344CB8AC3E}">
        <p14:creationId xmlns:p14="http://schemas.microsoft.com/office/powerpoint/2010/main" val="3479136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7" name="灯片编号占位符 6"/>
          <p:cNvSpPr>
            <a:spLocks noGrp="1"/>
          </p:cNvSpPr>
          <p:nvPr>
            <p:ph type="sldNum" sz="quarter" idx="5"/>
          </p:nvPr>
        </p:nvSpPr>
        <p:spPr/>
        <p:txBody>
          <a:bodyPr/>
          <a:lstStyle/>
          <a:p>
            <a:fld id="{8CB33EC7-D770-4470-B266-BEBD01C74447}" type="slidenum">
              <a:rPr lang="zh-CN" altLang="en-US" smtClean="0"/>
              <a:t>2</a:t>
            </a:fld>
            <a:endParaRPr lang="zh-CN" altLang="en-US"/>
          </a:p>
        </p:txBody>
      </p:sp>
    </p:spTree>
    <p:extLst>
      <p:ext uri="{BB962C8B-B14F-4D97-AF65-F5344CB8AC3E}">
        <p14:creationId xmlns:p14="http://schemas.microsoft.com/office/powerpoint/2010/main" val="3965968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Tổng hợp các bước trong sơ đồ tư duy.txt: steps </a:t>
            </a:r>
            <a:r>
              <a:rPr lang="en-US"/>
              <a:t>1 &amp; </a:t>
            </a:r>
            <a:r>
              <a:rPr lang="en-US" dirty="0"/>
              <a:t>3 </a:t>
            </a:r>
            <a:r>
              <a:rPr lang="en-US"/>
              <a:t>definition &amp; </a:t>
            </a:r>
            <a:r>
              <a:rPr lang="en-US" dirty="0"/>
              <a:t>subtasks.
- npi.pdf pages 3, 6, 9, 10: operating </a:t>
            </a:r>
            <a:r>
              <a:rPr lang="en-US"/>
              <a:t>evidence &amp; </a:t>
            </a:r>
            <a:r>
              <a:rPr lang="en-US" dirty="0"/>
              <a:t>simulation images used on this slide.
- 監測需求評估報_gluecase告 1.0.pdf pages 1-6: layout/style reference for the feasibility 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49492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Tổng hợp các bước trong sơ đồ tư duy.txt: steps </a:t>
            </a:r>
            <a:r>
              <a:rPr lang="en-US"/>
              <a:t>4 &amp; </a:t>
            </a:r>
            <a:r>
              <a:rPr lang="en-US" dirty="0"/>
              <a:t>5 </a:t>
            </a:r>
            <a:r>
              <a:rPr lang="en-US"/>
              <a:t>definition &amp; </a:t>
            </a:r>
            <a:r>
              <a:rPr lang="en-US" dirty="0"/>
              <a:t>subtasks.
- npi.pdf pages 7, 8, 11, 12, 16, 17: operating </a:t>
            </a:r>
            <a:r>
              <a:rPr lang="en-US"/>
              <a:t>evidence &amp; </a:t>
            </a:r>
            <a:r>
              <a:rPr lang="en-US" dirty="0"/>
              <a:t>simulation images used on this slide.
- 監測需求評估報_gluecase告 1.0.pdf pages 1-6: layout/style reference for the feasibility 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82787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hite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9568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age">
    <p:spTree>
      <p:nvGrpSpPr>
        <p:cNvPr id="1" name=""/>
        <p:cNvGrpSpPr/>
        <p:nvPr/>
      </p:nvGrpSpPr>
      <p:grpSpPr>
        <a:xfrm>
          <a:off x="0" y="0"/>
          <a:ext cx="0" cy="0"/>
          <a:chOff x="0" y="0"/>
          <a:chExt cx="0" cy="0"/>
        </a:xfrm>
      </p:grpSpPr>
      <p:pic>
        <p:nvPicPr>
          <p:cNvPr id="2" name="图片 17">
            <a:extLst>
              <a:ext uri="{FF2B5EF4-FFF2-40B4-BE49-F238E27FC236}">
                <a16:creationId xmlns:a16="http://schemas.microsoft.com/office/drawing/2014/main" id="{2D16C9FE-4D6A-E217-10C8-803D673361A6}"/>
              </a:ext>
            </a:extLst>
          </p:cNvPr>
          <p:cNvPicPr>
            <a:picLocks noChangeAspect="1"/>
          </p:cNvPicPr>
          <p:nvPr userDrawn="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0" y="444178"/>
            <a:ext cx="457200" cy="579071"/>
          </a:xfrm>
          <a:prstGeom prst="rect">
            <a:avLst/>
          </a:prstGeom>
        </p:spPr>
      </p:pic>
    </p:spTree>
    <p:extLst>
      <p:ext uri="{BB962C8B-B14F-4D97-AF65-F5344CB8AC3E}">
        <p14:creationId xmlns:p14="http://schemas.microsoft.com/office/powerpoint/2010/main" val="1007380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hanks for listen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87082A3D-08FC-4EF5-9145-7DCFDBB543BD}"/>
              </a:ext>
            </a:extLst>
          </p:cNvPr>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JhengHei" panose="020B0604030504040204" pitchFamily="34" charset="-120"/>
              <a:ea typeface="Microsoft JhengHei" panose="020B0604030504040204" pitchFamily="34" charset="-120"/>
            </a:endParaRPr>
          </a:p>
        </p:txBody>
      </p:sp>
      <p:sp>
        <p:nvSpPr>
          <p:cNvPr id="4" name="文本框 3">
            <a:extLst>
              <a:ext uri="{FF2B5EF4-FFF2-40B4-BE49-F238E27FC236}">
                <a16:creationId xmlns:a16="http://schemas.microsoft.com/office/drawing/2014/main" id="{DA8F0943-FF36-4C0E-9490-A58E4773E013}"/>
              </a:ext>
            </a:extLst>
          </p:cNvPr>
          <p:cNvSpPr txBox="1"/>
          <p:nvPr userDrawn="1"/>
        </p:nvSpPr>
        <p:spPr>
          <a:xfrm>
            <a:off x="3772452" y="2557117"/>
            <a:ext cx="4698722" cy="1446550"/>
          </a:xfrm>
          <a:prstGeom prst="rect">
            <a:avLst/>
          </a:prstGeom>
          <a:noFill/>
        </p:spPr>
        <p:txBody>
          <a:bodyPr wrap="none" rtlCol="0">
            <a:spAutoFit/>
          </a:bodyPr>
          <a:lstStyle/>
          <a:p>
            <a:r>
              <a:rPr lang="zh-CN" altLang="en-US" sz="8800">
                <a:solidFill>
                  <a:schemeClr val="bg1"/>
                </a:solidFill>
                <a:effectLst>
                  <a:outerShdw blurRad="38100" dist="38100" dir="2700000" algn="tl">
                    <a:srgbClr val="000000">
                      <a:alpha val="43137"/>
                    </a:srgbClr>
                  </a:outerShdw>
                </a:effectLst>
                <a:latin typeface="Microsoft JhengHei" panose="020B0604030504040204" pitchFamily="34" charset="-120"/>
                <a:ea typeface="Microsoft JhengHei" panose="020B0604030504040204" pitchFamily="34" charset="-120"/>
              </a:rPr>
              <a:t>感谢聆听</a:t>
            </a:r>
          </a:p>
        </p:txBody>
      </p:sp>
    </p:spTree>
    <p:extLst>
      <p:ext uri="{BB962C8B-B14F-4D97-AF65-F5344CB8AC3E}">
        <p14:creationId xmlns:p14="http://schemas.microsoft.com/office/powerpoint/2010/main" val="211805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354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rang Giấy Trắn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675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文本框 3"/>
          <p:cNvSpPr txBox="1"/>
          <p:nvPr userDrawn="1"/>
        </p:nvSpPr>
        <p:spPr>
          <a:xfrm>
            <a:off x="11311890" y="6590574"/>
            <a:ext cx="714103" cy="275590"/>
          </a:xfrm>
          <a:prstGeom prst="rect">
            <a:avLst/>
          </a:prstGeom>
          <a:noFill/>
        </p:spPr>
        <p:txBody>
          <a:bodyPr wrap="square" rtlCol="0">
            <a:spAutoFit/>
          </a:bodyPr>
          <a:lstStyle/>
          <a:p>
            <a:fld id="{9A0DB2DC-4C9A-4742-B13C-FB6460FD3503}" type="slidenum">
              <a:rPr lang="en-US" altLang="zh-CN" sz="1200" smtClean="0">
                <a:solidFill>
                  <a:schemeClr val="bg1"/>
                </a:solidFill>
                <a:latin typeface="+mn-ea"/>
              </a:rPr>
              <a:t>‹#›</a:t>
            </a:fld>
            <a:r>
              <a:rPr lang="en-US" altLang="zh-CN" sz="1200" dirty="0">
                <a:solidFill>
                  <a:schemeClr val="bg1"/>
                </a:solidFill>
                <a:latin typeface="+mn-ea"/>
              </a:rPr>
              <a:t>/N</a:t>
            </a:r>
          </a:p>
        </p:txBody>
      </p:sp>
    </p:spTree>
    <p:extLst>
      <p:ext uri="{BB962C8B-B14F-4D97-AF65-F5344CB8AC3E}">
        <p14:creationId xmlns:p14="http://schemas.microsoft.com/office/powerpoint/2010/main" val="188725798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BCBDF83-C8B4-FF0D-2FD5-57C97F5327CC}"/>
              </a:ext>
            </a:extLst>
          </p:cNvPr>
          <p:cNvGrpSpPr/>
          <p:nvPr userDrawn="1"/>
        </p:nvGrpSpPr>
        <p:grpSpPr>
          <a:xfrm>
            <a:off x="0" y="6635694"/>
            <a:ext cx="5019048" cy="222306"/>
            <a:chOff x="3586476" y="3246538"/>
            <a:chExt cx="5019048" cy="276999"/>
          </a:xfrm>
        </p:grpSpPr>
        <p:pic>
          <p:nvPicPr>
            <p:cNvPr id="3" name="Picture 2">
              <a:extLst>
                <a:ext uri="{FF2B5EF4-FFF2-40B4-BE49-F238E27FC236}">
                  <a16:creationId xmlns:a16="http://schemas.microsoft.com/office/drawing/2014/main" id="{BF382ACB-6970-78F3-C91C-B55E26F8F739}"/>
                </a:ext>
              </a:extLst>
            </p:cNvPr>
            <p:cNvPicPr>
              <a:picLocks noChangeAspect="1"/>
            </p:cNvPicPr>
            <p:nvPr userDrawn="1"/>
          </p:nvPicPr>
          <p:blipFill>
            <a:blip r:embed="rId9"/>
            <a:stretch>
              <a:fillRect/>
            </a:stretch>
          </p:blipFill>
          <p:spPr>
            <a:xfrm>
              <a:off x="3586476" y="3246538"/>
              <a:ext cx="5019048" cy="276999"/>
            </a:xfrm>
            <a:prstGeom prst="rect">
              <a:avLst/>
            </a:prstGeom>
          </p:spPr>
        </p:pic>
        <p:sp>
          <p:nvSpPr>
            <p:cNvPr id="4" name="TextBox 3">
              <a:extLst>
                <a:ext uri="{FF2B5EF4-FFF2-40B4-BE49-F238E27FC236}">
                  <a16:creationId xmlns:a16="http://schemas.microsoft.com/office/drawing/2014/main" id="{E93E9BE5-D84B-7B1C-823B-6E2ED23D9AA4}"/>
                </a:ext>
              </a:extLst>
            </p:cNvPr>
            <p:cNvSpPr txBox="1"/>
            <p:nvPr userDrawn="1"/>
          </p:nvSpPr>
          <p:spPr>
            <a:xfrm>
              <a:off x="3586476" y="3246539"/>
              <a:ext cx="5019048" cy="216802"/>
            </a:xfrm>
            <a:prstGeom prst="rect">
              <a:avLst/>
            </a:prstGeom>
            <a:noFill/>
          </p:spPr>
          <p:txBody>
            <a:bodyPr wrap="square" rtlCol="0">
              <a:spAutoFit/>
            </a:bodyPr>
            <a:lstStyle/>
            <a:p>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2026 FII Confidential. All Rights Reserved.</a:t>
              </a:r>
            </a:p>
          </p:txBody>
        </p:sp>
      </p:grpSp>
    </p:spTree>
    <p:extLst>
      <p:ext uri="{BB962C8B-B14F-4D97-AF65-F5344CB8AC3E}">
        <p14:creationId xmlns:p14="http://schemas.microsoft.com/office/powerpoint/2010/main" val="2429365248"/>
      </p:ext>
    </p:extLst>
  </p:cSld>
  <p:clrMap bg1="lt1" tx1="dk1" bg2="lt2" tx2="dk2" accent1="accent1" accent2="accent2" accent3="accent3" accent4="accent4" accent5="accent5" accent6="accent6" hlink="hlink" folHlink="folHlink"/>
  <p:sldLayoutIdLst>
    <p:sldLayoutId id="2147483679" r:id="rId1"/>
    <p:sldLayoutId id="2147483678" r:id="rId2"/>
    <p:sldLayoutId id="2147483677" r:id="rId3"/>
    <p:sldLayoutId id="2147483681" r:id="rId4"/>
    <p:sldLayoutId id="2147483682" r:id="rId5"/>
    <p:sldLayoutId id="2147483683" r:id="rId6"/>
  </p:sldLayoutIdLst>
  <p:hf hdr="0" ftr="0" dt="0"/>
  <p:txStyles>
    <p:titleStyle>
      <a:lvl1pPr algn="l" defTabSz="914400" rtl="0" eaLnBrk="1" latinLnBrk="0" hangingPunct="1">
        <a:lnSpc>
          <a:spcPct val="90000"/>
        </a:lnSpc>
        <a:spcBef>
          <a:spcPct val="0"/>
        </a:spcBef>
        <a:buNone/>
        <a:defRPr sz="3600" b="1" kern="1200">
          <a:solidFill>
            <a:schemeClr val="tx1"/>
          </a:solidFill>
          <a:latin typeface="+mn-lt"/>
          <a:ea typeface="思源黑体 CN Heavy" panose="020B0A00000000000000" pitchFamily="34"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p:cNvGrpSpPr/>
        <p:nvPr/>
      </p:nvGrpSpPr>
      <p:grpSpPr>
        <a:xfrm>
          <a:off x="0" y="0"/>
          <a:ext cx="0" cy="0"/>
          <a:chOff x="0" y="0"/>
          <a:chExt cx="0" cy="0"/>
        </a:xfrm>
      </p:grpSpPr>
      <p:sp>
        <p:nvSpPr>
          <p:cNvPr id="2" name="文本框 6">
            <a:extLst>
              <a:ext uri="{FF2B5EF4-FFF2-40B4-BE49-F238E27FC236}">
                <a16:creationId xmlns:a16="http://schemas.microsoft.com/office/drawing/2014/main" id="{972BC272-7DE7-FE9C-2364-E180D01F2F07}"/>
              </a:ext>
            </a:extLst>
          </p:cNvPr>
          <p:cNvSpPr txBox="1"/>
          <p:nvPr/>
        </p:nvSpPr>
        <p:spPr>
          <a:xfrm>
            <a:off x="1349831" y="2505670"/>
            <a:ext cx="6041569" cy="923330"/>
          </a:xfrm>
          <a:prstGeom prst="rect">
            <a:avLst/>
          </a:prstGeom>
          <a:noFill/>
        </p:spPr>
        <p:txBody>
          <a:bodyPr wrap="square" rtlCol="0">
            <a:spAutoFit/>
          </a:bodyPr>
          <a:lstStyle/>
          <a:p>
            <a:r>
              <a:rPr lang="en-US" altLang="zh-CN" sz="5400" b="1">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rPr>
              <a:t>CPEG-AI</a:t>
            </a:r>
            <a:r>
              <a:rPr lang="zh-CN" altLang="en-US" sz="5400" b="1">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rPr>
              <a:t>周报</a:t>
            </a:r>
            <a:endParaRPr lang="zh-CN" altLang="en-US" sz="5400" b="1" dirty="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endParaRPr>
          </a:p>
        </p:txBody>
      </p:sp>
      <p:sp>
        <p:nvSpPr>
          <p:cNvPr id="6" name="文本框 9">
            <a:extLst>
              <a:ext uri="{FF2B5EF4-FFF2-40B4-BE49-F238E27FC236}">
                <a16:creationId xmlns:a16="http://schemas.microsoft.com/office/drawing/2014/main" id="{8AEECC39-86B4-D157-807C-017D00FC5713}"/>
              </a:ext>
            </a:extLst>
          </p:cNvPr>
          <p:cNvSpPr txBox="1"/>
          <p:nvPr/>
        </p:nvSpPr>
        <p:spPr>
          <a:xfrm>
            <a:off x="1349831" y="4380724"/>
            <a:ext cx="4746169" cy="400110"/>
          </a:xfrm>
          <a:prstGeom prst="rect">
            <a:avLst/>
          </a:prstGeom>
          <a:noFill/>
        </p:spPr>
        <p:txBody>
          <a:bodyPr wrap="square" rtlCol="0">
            <a:spAutoFit/>
          </a:bodyPr>
          <a:lstStyle/>
          <a:p>
            <a:pPr hangingPunct="0"/>
            <a:r>
              <a:rPr lang="en-US" altLang="zh-CN" sz="2000" dirty="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rPr>
              <a:t>2026</a:t>
            </a:r>
            <a:r>
              <a:rPr lang="zh-CN" altLang="en-US" sz="20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rPr>
              <a:t>年</a:t>
            </a:r>
            <a:r>
              <a:rPr lang="en-US" altLang="zh-CN" sz="20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rPr>
              <a:t>04</a:t>
            </a:r>
            <a:r>
              <a:rPr lang="zh-CN" altLang="en-US" sz="20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rPr>
              <a:t>月</a:t>
            </a:r>
            <a:r>
              <a:rPr lang="en-US" altLang="zh-CN" sz="20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rPr>
              <a:t>29</a:t>
            </a:r>
            <a:r>
              <a:rPr lang="zh-CN" altLang="en-US" sz="20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rPr>
              <a:t>日</a:t>
            </a:r>
            <a:endParaRPr lang="en-US" altLang="zh-TW" sz="2000" dirty="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endParaRPr>
          </a:p>
        </p:txBody>
      </p:sp>
      <p:sp>
        <p:nvSpPr>
          <p:cNvPr id="7" name="文本框 9">
            <a:extLst>
              <a:ext uri="{FF2B5EF4-FFF2-40B4-BE49-F238E27FC236}">
                <a16:creationId xmlns:a16="http://schemas.microsoft.com/office/drawing/2014/main" id="{6AC86694-6D9F-844E-B18D-BFA658E8E040}"/>
              </a:ext>
            </a:extLst>
          </p:cNvPr>
          <p:cNvSpPr txBox="1"/>
          <p:nvPr/>
        </p:nvSpPr>
        <p:spPr>
          <a:xfrm>
            <a:off x="1349831" y="3774057"/>
            <a:ext cx="5465037" cy="461665"/>
          </a:xfrm>
          <a:prstGeom prst="rect">
            <a:avLst/>
          </a:prstGeom>
          <a:noFill/>
        </p:spPr>
        <p:txBody>
          <a:bodyPr wrap="square" rtlCol="0">
            <a:spAutoFit/>
          </a:bodyPr>
          <a:lstStyle/>
          <a:p>
            <a:pPr hangingPunct="0"/>
            <a:r>
              <a:rPr lang="zh-CN" altLang="en-US" sz="2400" dirty="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rPr>
              <a:t>报告</a:t>
            </a:r>
            <a:r>
              <a:rPr lang="zh-CN" altLang="en-US" sz="24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rPr>
              <a:t>人：</a:t>
            </a:r>
            <a:r>
              <a:rPr lang="en-US" altLang="zh-CN" sz="24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rPr>
              <a:t>Edward Zhang</a:t>
            </a:r>
            <a:endParaRPr lang="en-US" altLang="zh-CN" sz="2400" dirty="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sym typeface="等线"/>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Google Shape;226;p27"/>
          <p:cNvSpPr txBox="1"/>
          <p:nvPr/>
        </p:nvSpPr>
        <p:spPr>
          <a:xfrm>
            <a:off x="588644" y="485224"/>
            <a:ext cx="8909854" cy="430887"/>
          </a:xfrm>
          <a:prstGeom prst="rect">
            <a:avLst/>
          </a:prstGeom>
          <a:noFill/>
          <a:ln>
            <a:noFill/>
          </a:ln>
          <a:effectLst/>
        </p:spPr>
        <p:txBody>
          <a:bodyPr vert="horz" wrap="square" lIns="0" tIns="0" rIns="0" bIns="0" numCol="1" anchor="t" anchorCtr="0" compatLnSpc="1">
            <a:spAutoFit/>
          </a:bodyPr>
          <a:lstStyle>
            <a:defPPr>
              <a:defRPr lang="en-US"/>
            </a:defPPr>
            <a:lvl1pPr>
              <a:spcBef>
                <a:spcPct val="0"/>
              </a:spcBef>
              <a:buNone/>
              <a:defRPr sz="2800" b="1">
                <a:solidFill>
                  <a:srgbClr val="000000"/>
                </a:solidFill>
                <a:latin typeface="Calibri" panose="020F0502020204030204" pitchFamily="34" charset="0"/>
                <a:ea typeface="Microsoft JhengHei" panose="020B0604030504040204" pitchFamily="34" charset="-120"/>
                <a:cs typeface="微软雅黑" panose="020B0503020204020204" charset="-122"/>
              </a:defRPr>
            </a:lvl1pPr>
          </a:lstStyle>
          <a:p>
            <a:r>
              <a:rPr kumimoji="1" lang="en-US" altLang="zh-CN" dirty="0">
                <a:solidFill>
                  <a:schemeClr val="tx1"/>
                </a:solidFill>
                <a:latin typeface="微軟正黑體" pitchFamily="34" charset="-120"/>
                <a:ea typeface="微軟正黑體" pitchFamily="34" charset="-120"/>
                <a:cs typeface="+mn-cs"/>
              </a:rPr>
              <a:t>CPEG-IIC 2026</a:t>
            </a:r>
            <a:r>
              <a:rPr kumimoji="1" lang="zh-CN" altLang="en-US" dirty="0">
                <a:solidFill>
                  <a:schemeClr val="tx1"/>
                </a:solidFill>
                <a:latin typeface="微軟正黑體" pitchFamily="34" charset="-120"/>
                <a:ea typeface="微軟正黑體" pitchFamily="34" charset="-120"/>
                <a:cs typeface="+mn-cs"/>
              </a:rPr>
              <a:t>數位化 </a:t>
            </a:r>
            <a:r>
              <a:rPr kumimoji="1" lang="en-US" altLang="zh-CN" dirty="0">
                <a:solidFill>
                  <a:schemeClr val="tx1"/>
                </a:solidFill>
                <a:latin typeface="微軟正黑體" pitchFamily="34" charset="-120"/>
                <a:ea typeface="微軟正黑體" pitchFamily="34" charset="-120"/>
                <a:cs typeface="+mn-cs"/>
              </a:rPr>
              <a:t>&amp; </a:t>
            </a:r>
            <a:r>
              <a:rPr kumimoji="1" lang="zh-CN" altLang="en-US" dirty="0">
                <a:solidFill>
                  <a:schemeClr val="tx1"/>
                </a:solidFill>
                <a:latin typeface="微軟正黑體" pitchFamily="34" charset="-120"/>
                <a:ea typeface="微軟正黑體" pitchFamily="34" charset="-120"/>
                <a:cs typeface="+mn-cs"/>
              </a:rPr>
              <a:t>智能化</a:t>
            </a:r>
            <a:r>
              <a:rPr kumimoji="1" lang="en-US" altLang="zh-CN" dirty="0" smtClean="0">
                <a:solidFill>
                  <a:schemeClr val="tx1"/>
                </a:solidFill>
                <a:latin typeface="微軟正黑體" pitchFamily="34" charset="-120"/>
                <a:ea typeface="微軟正黑體" pitchFamily="34" charset="-120"/>
                <a:cs typeface="+mn-cs"/>
              </a:rPr>
              <a:t>-</a:t>
            </a:r>
            <a:r>
              <a:rPr kumimoji="1" lang="zh-CN" altLang="en-US" dirty="0" smtClean="0">
                <a:solidFill>
                  <a:schemeClr val="tx1"/>
                </a:solidFill>
                <a:latin typeface="微軟正黑體" pitchFamily="34" charset="-120"/>
                <a:ea typeface="微軟正黑體" pitchFamily="34" charset="-120"/>
                <a:cs typeface="+mn-cs"/>
              </a:rPr>
              <a:t>正在開</a:t>
            </a:r>
            <a:r>
              <a:rPr kumimoji="1" lang="zh-CN" altLang="en-US" dirty="0">
                <a:solidFill>
                  <a:schemeClr val="tx1"/>
                </a:solidFill>
                <a:latin typeface="微軟正黑體" pitchFamily="34" charset="-120"/>
                <a:ea typeface="微軟正黑體" pitchFamily="34" charset="-120"/>
                <a:cs typeface="+mn-cs"/>
              </a:rPr>
              <a:t>發</a:t>
            </a:r>
            <a:r>
              <a:rPr kumimoji="1" lang="zh-CN" altLang="en-US">
                <a:solidFill>
                  <a:schemeClr val="tx1"/>
                </a:solidFill>
                <a:latin typeface="微軟正黑體" pitchFamily="34" charset="-120"/>
                <a:ea typeface="微軟正黑體" pitchFamily="34" charset="-120"/>
                <a:cs typeface="+mn-cs"/>
              </a:rPr>
              <a:t>專</a:t>
            </a:r>
            <a:r>
              <a:rPr kumimoji="1" lang="zh-CN" altLang="en-US" smtClean="0">
                <a:solidFill>
                  <a:schemeClr val="tx1"/>
                </a:solidFill>
                <a:latin typeface="微軟正黑體" pitchFamily="34" charset="-120"/>
                <a:ea typeface="微軟正黑體" pitchFamily="34" charset="-120"/>
                <a:cs typeface="+mn-cs"/>
              </a:rPr>
              <a:t>案</a:t>
            </a:r>
            <a:r>
              <a:rPr kumimoji="1" lang="en-US" altLang="zh-CN" smtClean="0">
                <a:solidFill>
                  <a:schemeClr val="tx1"/>
                </a:solidFill>
                <a:latin typeface="微軟正黑體" pitchFamily="34" charset="-120"/>
                <a:ea typeface="微軟正黑體" pitchFamily="34" charset="-120"/>
                <a:cs typeface="+mn-cs"/>
              </a:rPr>
              <a:t>(AI</a:t>
            </a:r>
            <a:r>
              <a:rPr kumimoji="1" lang="zh-CN" altLang="en-US" smtClean="0">
                <a:solidFill>
                  <a:schemeClr val="tx1"/>
                </a:solidFill>
                <a:latin typeface="微軟正黑體" pitchFamily="34" charset="-120"/>
                <a:ea typeface="微軟正黑體" pitchFamily="34" charset="-120"/>
                <a:cs typeface="+mn-cs"/>
              </a:rPr>
              <a:t> </a:t>
            </a:r>
            <a:r>
              <a:rPr kumimoji="1" lang="en-US" altLang="zh-CN" smtClean="0">
                <a:solidFill>
                  <a:schemeClr val="tx1"/>
                </a:solidFill>
                <a:latin typeface="微軟正黑體" pitchFamily="34" charset="-120"/>
                <a:ea typeface="微軟正黑體" pitchFamily="34" charset="-120"/>
                <a:cs typeface="+mn-cs"/>
              </a:rPr>
              <a:t>– </a:t>
            </a:r>
            <a:r>
              <a:rPr kumimoji="1" lang="zh-CN" altLang="en-US" smtClean="0">
                <a:solidFill>
                  <a:schemeClr val="tx1"/>
                </a:solidFill>
                <a:latin typeface="微軟正黑體" pitchFamily="34" charset="-120"/>
                <a:ea typeface="微軟正黑體" pitchFamily="34" charset="-120"/>
                <a:cs typeface="+mn-cs"/>
              </a:rPr>
              <a:t>表</a:t>
            </a:r>
            <a:r>
              <a:rPr kumimoji="1" lang="en-US" altLang="zh-CN" smtClean="0">
                <a:solidFill>
                  <a:schemeClr val="tx1"/>
                </a:solidFill>
                <a:latin typeface="微軟正黑體" pitchFamily="34" charset="-120"/>
                <a:ea typeface="微軟正黑體" pitchFamily="34" charset="-120"/>
                <a:cs typeface="+mn-cs"/>
              </a:rPr>
              <a:t>1)</a:t>
            </a:r>
            <a:r>
              <a:rPr kumimoji="1" lang="en-US" smtClean="0">
                <a:solidFill>
                  <a:schemeClr val="tx1"/>
                </a:solidFill>
                <a:latin typeface="微軟正黑體" pitchFamily="34" charset="-120"/>
                <a:ea typeface="微軟正黑體" pitchFamily="34" charset="-120"/>
                <a:cs typeface="+mn-cs"/>
              </a:rPr>
              <a:t> </a:t>
            </a:r>
            <a:endParaRPr kumimoji="1" lang="zh-TW" altLang="en-US" dirty="0">
              <a:solidFill>
                <a:schemeClr val="tx1"/>
              </a:solidFill>
              <a:latin typeface="微軟正黑體" pitchFamily="34" charset="-120"/>
              <a:ea typeface="微軟正黑體" pitchFamily="34" charset="-120"/>
              <a:cs typeface="+mn-cs"/>
            </a:endParaRPr>
          </a:p>
        </p:txBody>
      </p:sp>
      <p:sp>
        <p:nvSpPr>
          <p:cNvPr id="2" name="Rectangle 1"/>
          <p:cNvSpPr/>
          <p:nvPr/>
        </p:nvSpPr>
        <p:spPr>
          <a:xfrm>
            <a:off x="8670582" y="987637"/>
            <a:ext cx="1050883" cy="324003"/>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en-US" sz="1200">
                <a:solidFill>
                  <a:schemeClr val="tx1"/>
                </a:solidFill>
                <a:latin typeface="微軟正黑體" panose="020B0604030504040204" pitchFamily="34" charset="-120"/>
                <a:ea typeface="微軟正黑體" panose="020B0604030504040204" pitchFamily="34" charset="-120"/>
              </a:rPr>
              <a:t>Done</a:t>
            </a:r>
            <a:r>
              <a:rPr lang="en-US" sz="1200" smtClean="0">
                <a:solidFill>
                  <a:schemeClr val="tx1"/>
                </a:solidFill>
                <a:latin typeface="微軟正黑體" panose="020B0604030504040204" pitchFamily="34" charset="-120"/>
                <a:ea typeface="微軟正黑體" panose="020B0604030504040204" pitchFamily="34" charset="-120"/>
              </a:rPr>
              <a:t>: 1</a:t>
            </a:r>
            <a:endParaRPr lang="en-US" sz="1200" dirty="0">
              <a:solidFill>
                <a:schemeClr val="tx1"/>
              </a:solidFill>
              <a:latin typeface="微軟正黑體" panose="020B0604030504040204" pitchFamily="34" charset="-120"/>
              <a:ea typeface="微軟正黑體" panose="020B0604030504040204" pitchFamily="34" charset="-120"/>
            </a:endParaRPr>
          </a:p>
        </p:txBody>
      </p:sp>
      <p:sp>
        <p:nvSpPr>
          <p:cNvPr id="5" name="Rectangle 4"/>
          <p:cNvSpPr/>
          <p:nvPr/>
        </p:nvSpPr>
        <p:spPr>
          <a:xfrm>
            <a:off x="9781115" y="987636"/>
            <a:ext cx="1162343" cy="324003"/>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en-US" sz="1200" dirty="0" smtClean="0">
                <a:solidFill>
                  <a:schemeClr val="tx1"/>
                </a:solidFill>
                <a:latin typeface="微軟正黑體" panose="020B0604030504040204" pitchFamily="34" charset="-120"/>
                <a:ea typeface="微軟正黑體" panose="020B0604030504040204" pitchFamily="34" charset="-120"/>
              </a:rPr>
              <a:t>On </a:t>
            </a:r>
            <a:r>
              <a:rPr lang="en-US" sz="1200" smtClean="0">
                <a:solidFill>
                  <a:schemeClr val="tx1"/>
                </a:solidFill>
                <a:latin typeface="微軟正黑體" panose="020B0604030504040204" pitchFamily="34" charset="-120"/>
                <a:ea typeface="微軟正黑體" panose="020B0604030504040204" pitchFamily="34" charset="-120"/>
              </a:rPr>
              <a:t>Going: 12 </a:t>
            </a:r>
            <a:endParaRPr lang="en-US" sz="1200" dirty="0">
              <a:solidFill>
                <a:schemeClr val="tx1"/>
              </a:solidFill>
              <a:latin typeface="微軟正黑體" panose="020B0604030504040204" pitchFamily="34" charset="-120"/>
              <a:ea typeface="微軟正黑體" panose="020B0604030504040204" pitchFamily="34" charset="-120"/>
            </a:endParaRPr>
          </a:p>
        </p:txBody>
      </p:sp>
      <p:sp>
        <p:nvSpPr>
          <p:cNvPr id="6" name="Rectangle 5"/>
          <p:cNvSpPr/>
          <p:nvPr/>
        </p:nvSpPr>
        <p:spPr>
          <a:xfrm>
            <a:off x="11003108" y="987638"/>
            <a:ext cx="1043043" cy="324003"/>
          </a:xfrm>
          <a:prstGeom prst="rect">
            <a:avLst/>
          </a:prstGeom>
          <a:solidFill>
            <a:srgbClr val="9DC3E6"/>
          </a:solidFill>
          <a:ln>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en-US" sz="1200" dirty="0" smtClean="0">
                <a:solidFill>
                  <a:schemeClr val="tx1"/>
                </a:solidFill>
                <a:latin typeface="微軟正黑體" panose="020B0604030504040204" pitchFamily="34" charset="-120"/>
                <a:ea typeface="微軟正黑體" panose="020B0604030504040204" pitchFamily="34" charset="-120"/>
              </a:rPr>
              <a:t>Open</a:t>
            </a:r>
            <a:r>
              <a:rPr lang="en-US" sz="1200" smtClean="0">
                <a:solidFill>
                  <a:schemeClr val="tx1"/>
                </a:solidFill>
                <a:latin typeface="微軟正黑體" panose="020B0604030504040204" pitchFamily="34" charset="-120"/>
                <a:ea typeface="微軟正黑體" panose="020B0604030504040204" pitchFamily="34" charset="-120"/>
              </a:rPr>
              <a:t>: 2</a:t>
            </a:r>
            <a:endParaRPr lang="en-US" sz="1200" dirty="0">
              <a:solidFill>
                <a:schemeClr val="tx1"/>
              </a:solidFill>
              <a:latin typeface="微軟正黑體" panose="020B0604030504040204" pitchFamily="34" charset="-120"/>
              <a:ea typeface="微軟正黑體" panose="020B0604030504040204" pitchFamily="34" charset="-120"/>
            </a:endParaRPr>
          </a:p>
        </p:txBody>
      </p:sp>
      <p:graphicFrame>
        <p:nvGraphicFramePr>
          <p:cNvPr id="7" name="Table 6">
            <a:extLst>
              <a:ext uri="{FF2B5EF4-FFF2-40B4-BE49-F238E27FC236}">
                <a16:creationId xmlns:a16="http://schemas.microsoft.com/office/drawing/2014/main" id="{85420544-BA0C-3A51-2226-C1F9EFDDBA90}"/>
              </a:ext>
            </a:extLst>
          </p:cNvPr>
          <p:cNvGraphicFramePr>
            <a:graphicFrameLocks noGrp="1"/>
          </p:cNvGraphicFramePr>
          <p:nvPr>
            <p:extLst>
              <p:ext uri="{D42A27DB-BD31-4B8C-83A1-F6EECF244321}">
                <p14:modId xmlns:p14="http://schemas.microsoft.com/office/powerpoint/2010/main" val="1401761971"/>
              </p:ext>
            </p:extLst>
          </p:nvPr>
        </p:nvGraphicFramePr>
        <p:xfrm>
          <a:off x="202564" y="1359346"/>
          <a:ext cx="11843587" cy="4206240"/>
        </p:xfrm>
        <a:graphic>
          <a:graphicData uri="http://schemas.openxmlformats.org/drawingml/2006/table">
            <a:tbl>
              <a:tblPr firstRow="1" bandRow="1">
                <a:tableStyleId>{5C22544A-7EE6-4342-B048-85BDC9FD1C3A}</a:tableStyleId>
              </a:tblPr>
              <a:tblGrid>
                <a:gridCol w="418897">
                  <a:extLst>
                    <a:ext uri="{9D8B030D-6E8A-4147-A177-3AD203B41FA5}">
                      <a16:colId xmlns:a16="http://schemas.microsoft.com/office/drawing/2014/main" val="2487163355"/>
                    </a:ext>
                  </a:extLst>
                </a:gridCol>
                <a:gridCol w="873445">
                  <a:extLst>
                    <a:ext uri="{9D8B030D-6E8A-4147-A177-3AD203B41FA5}">
                      <a16:colId xmlns:a16="http://schemas.microsoft.com/office/drawing/2014/main" val="97196609"/>
                    </a:ext>
                  </a:extLst>
                </a:gridCol>
                <a:gridCol w="946785">
                  <a:extLst>
                    <a:ext uri="{9D8B030D-6E8A-4147-A177-3AD203B41FA5}">
                      <a16:colId xmlns:a16="http://schemas.microsoft.com/office/drawing/2014/main" val="2006768793"/>
                    </a:ext>
                  </a:extLst>
                </a:gridCol>
                <a:gridCol w="2467040">
                  <a:extLst>
                    <a:ext uri="{9D8B030D-6E8A-4147-A177-3AD203B41FA5}">
                      <a16:colId xmlns:a16="http://schemas.microsoft.com/office/drawing/2014/main" val="2241224740"/>
                    </a:ext>
                  </a:extLst>
                </a:gridCol>
                <a:gridCol w="3727511">
                  <a:extLst>
                    <a:ext uri="{9D8B030D-6E8A-4147-A177-3AD203B41FA5}">
                      <a16:colId xmlns:a16="http://schemas.microsoft.com/office/drawing/2014/main" val="265797902"/>
                    </a:ext>
                  </a:extLst>
                </a:gridCol>
                <a:gridCol w="821094">
                  <a:extLst>
                    <a:ext uri="{9D8B030D-6E8A-4147-A177-3AD203B41FA5}">
                      <a16:colId xmlns:a16="http://schemas.microsoft.com/office/drawing/2014/main" val="1517327949"/>
                    </a:ext>
                  </a:extLst>
                </a:gridCol>
                <a:gridCol w="438538">
                  <a:extLst>
                    <a:ext uri="{9D8B030D-6E8A-4147-A177-3AD203B41FA5}">
                      <a16:colId xmlns:a16="http://schemas.microsoft.com/office/drawing/2014/main" val="1057031260"/>
                    </a:ext>
                  </a:extLst>
                </a:gridCol>
                <a:gridCol w="979715">
                  <a:extLst>
                    <a:ext uri="{9D8B030D-6E8A-4147-A177-3AD203B41FA5}">
                      <a16:colId xmlns:a16="http://schemas.microsoft.com/office/drawing/2014/main" val="220237894"/>
                    </a:ext>
                  </a:extLst>
                </a:gridCol>
                <a:gridCol w="1170562">
                  <a:extLst>
                    <a:ext uri="{9D8B030D-6E8A-4147-A177-3AD203B41FA5}">
                      <a16:colId xmlns:a16="http://schemas.microsoft.com/office/drawing/2014/main" val="803722073"/>
                    </a:ext>
                  </a:extLst>
                </a:gridCol>
              </a:tblGrid>
              <a:tr h="0">
                <a:tc>
                  <a:txBody>
                    <a:bodyPr/>
                    <a:lstStyle/>
                    <a:p>
                      <a:pPr algn="ctr"/>
                      <a:r>
                        <a:rPr lang="vi-VN" sz="1200" b="0" dirty="0">
                          <a:solidFill>
                            <a:schemeClr val="tx1"/>
                          </a:solidFill>
                          <a:ea typeface="Microsoft JhengHei" panose="020B0604030504040204" pitchFamily="34" charset="-120"/>
                        </a:rPr>
                        <a:t>No</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zh-CN" altLang="en-US" sz="1200" b="0" dirty="0">
                          <a:solidFill>
                            <a:schemeClr val="tx1"/>
                          </a:solidFill>
                          <a:latin typeface="Microsoft JhengHei" panose="020B0604030504040204" pitchFamily="34" charset="-120"/>
                          <a:ea typeface="Microsoft JhengHei" panose="020B0604030504040204" pitchFamily="34" charset="-120"/>
                        </a:rPr>
                        <a:t>枝術方向</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Type</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zh-CN" altLang="en-US" sz="1200" b="0" dirty="0">
                          <a:solidFill>
                            <a:schemeClr val="tx1"/>
                          </a:solidFill>
                          <a:latin typeface="Microsoft JhengHei" panose="020B0604030504040204" pitchFamily="34" charset="-120"/>
                          <a:ea typeface="Microsoft JhengHei" panose="020B0604030504040204" pitchFamily="34" charset="-120"/>
                        </a:rPr>
                        <a:t>项目</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zh-CN" altLang="en-US" sz="1200" b="0" dirty="0">
                          <a:solidFill>
                            <a:schemeClr val="tx1"/>
                          </a:solidFill>
                          <a:latin typeface="Microsoft JhengHei" panose="020B0604030504040204" pitchFamily="34" charset="-120"/>
                          <a:ea typeface="Microsoft JhengHei" panose="020B0604030504040204" pitchFamily="34" charset="-120"/>
                        </a:rPr>
                        <a:t>場景功能明</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en-US" altLang="zh-CN" sz="1200" b="0">
                          <a:solidFill>
                            <a:schemeClr val="tx1"/>
                          </a:solidFill>
                          <a:latin typeface="Microsoft JhengHei" panose="020B0604030504040204" pitchFamily="34" charset="-120"/>
                          <a:ea typeface="Microsoft JhengHei" panose="020B0604030504040204" pitchFamily="34" charset="-120"/>
                        </a:rPr>
                        <a:t>O</a:t>
                      </a:r>
                      <a:r>
                        <a:rPr lang="en-US" sz="1200" b="0">
                          <a:solidFill>
                            <a:schemeClr val="tx1"/>
                          </a:solidFill>
                          <a:latin typeface="Microsoft JhengHei" panose="020B0604030504040204" pitchFamily="34" charset="-120"/>
                          <a:ea typeface="Microsoft JhengHei" panose="020B0604030504040204" pitchFamily="34" charset="-120"/>
                        </a:rPr>
                        <a:t>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AT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Status</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Due Date</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extLst>
                  <a:ext uri="{0D108BD9-81ED-4DB2-BD59-A6C34878D82A}">
                    <a16:rowId xmlns:a16="http://schemas.microsoft.com/office/drawing/2014/main" val="1810485666"/>
                  </a:ext>
                </a:extLst>
              </a:tr>
              <a:tr h="249047">
                <a:tc>
                  <a:txBody>
                    <a:bodyPr/>
                    <a:lstStyle/>
                    <a:p>
                      <a:pPr algn="ctr"/>
                      <a:r>
                        <a:rPr lang="vi-VN" sz="1200" b="0" dirty="0">
                          <a:solidFill>
                            <a:schemeClr val="tx1"/>
                          </a:solidFill>
                          <a:ea typeface="Microsoft JhengHei" panose="020B0604030504040204" pitchFamily="34" charset="-120"/>
                        </a:rPr>
                        <a:t>1</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0">
                          <a:solidFill>
                            <a:schemeClr val="tx1"/>
                          </a:solidFill>
                          <a:latin typeface="Microsoft JhengHei" panose="020B0604030504040204" pitchFamily="34" charset="-120"/>
                          <a:ea typeface="Microsoft JhengHei" panose="020B0604030504040204" pitchFamily="34" charset="-120"/>
                        </a:rPr>
                        <a:t>智能化</a:t>
                      </a:r>
                      <a:endParaRPr lang="en-US"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smtClean="0">
                          <a:solidFill>
                            <a:schemeClr val="tx1"/>
                          </a:solidFill>
                          <a:ea typeface="Microsoft JhengHei" panose="020B0604030504040204" pitchFamily="34" charset="-120"/>
                        </a:rPr>
                        <a:t>Humanoid</a:t>
                      </a:r>
                      <a:r>
                        <a:rPr lang="vi-VN" sz="1200" b="0" smtClean="0">
                          <a:solidFill>
                            <a:schemeClr val="tx1"/>
                          </a:solidFill>
                          <a:ea typeface="Microsoft JhengHei" panose="020B0604030504040204" pitchFamily="34" charset="-120"/>
                        </a:rPr>
                        <a:t>Robot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dirty="0">
                          <a:solidFill>
                            <a:schemeClr val="tx1"/>
                          </a:solidFill>
                          <a:latin typeface="Microsoft JhengHei" panose="020B0604030504040204" pitchFamily="34" charset="-120"/>
                          <a:ea typeface="Microsoft JhengHei" panose="020B0604030504040204" pitchFamily="34" charset="-120"/>
                        </a:rPr>
                        <a:t>具身智能人形机</a:t>
                      </a:r>
                      <a:r>
                        <a:rPr lang="zh-CN" altLang="en-US" sz="1200" b="0">
                          <a:solidFill>
                            <a:schemeClr val="tx1"/>
                          </a:solidFill>
                          <a:latin typeface="Microsoft JhengHei" panose="020B0604030504040204" pitchFamily="34" charset="-120"/>
                          <a:ea typeface="Microsoft JhengHei" panose="020B0604030504040204" pitchFamily="34" charset="-120"/>
                        </a:rPr>
                        <a:t>器</a:t>
                      </a:r>
                      <a:r>
                        <a:rPr lang="zh-CN" altLang="en-US" sz="1200" b="0" smtClean="0">
                          <a:solidFill>
                            <a:schemeClr val="tx1"/>
                          </a:solidFill>
                          <a:latin typeface="Microsoft JhengHei" panose="020B0604030504040204" pitchFamily="34" charset="-120"/>
                          <a:ea typeface="Microsoft JhengHei" panose="020B0604030504040204" pitchFamily="34" charset="-120"/>
                        </a:rPr>
                        <a:t>人輔助員工作業</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dirty="0">
                          <a:solidFill>
                            <a:schemeClr val="tx1"/>
                          </a:solidFill>
                          <a:latin typeface="Microsoft JhengHei" panose="020B0604030504040204" pitchFamily="34" charset="-120"/>
                          <a:ea typeface="Microsoft JhengHei" panose="020B0604030504040204" pitchFamily="34" charset="-120"/>
                        </a:rPr>
                        <a:t>在工厂或实验室环境中部署人形机器人</a:t>
                      </a:r>
                      <a:r>
                        <a:rPr lang="vi-VN" altLang="zh-CN" sz="1200" b="0" dirty="0">
                          <a:solidFill>
                            <a:schemeClr val="tx1"/>
                          </a:solidFill>
                          <a:ea typeface="Microsoft JhengHei" panose="020B0604030504040204" pitchFamily="34" charset="-120"/>
                        </a:rPr>
                        <a:t>, </a:t>
                      </a:r>
                      <a:r>
                        <a:rPr lang="zh-CN" altLang="en-US" sz="1200" b="0" dirty="0">
                          <a:solidFill>
                            <a:schemeClr val="tx1"/>
                          </a:solidFill>
                          <a:latin typeface="Microsoft JhengHei" panose="020B0604030504040204" pitchFamily="34" charset="-120"/>
                          <a:ea typeface="Microsoft JhengHei" panose="020B0604030504040204" pitchFamily="34" charset="-120"/>
                        </a:rPr>
                        <a:t>用于执行基础操作任务</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TE</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altLang="zh-CN"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altLang="zh-CN" sz="1200" b="0" smtClean="0">
                          <a:solidFill>
                            <a:schemeClr val="tx1"/>
                          </a:solidFill>
                          <a:latin typeface="Microsoft JhengHei" panose="020B0604030504040204" pitchFamily="34" charset="-120"/>
                          <a:ea typeface="Microsoft JhengHei" panose="020B0604030504040204" pitchFamily="34" charset="-120"/>
                        </a:rPr>
                        <a:t>On</a:t>
                      </a:r>
                      <a:r>
                        <a:rPr lang="en-US" altLang="zh-CN" sz="1200" b="0" baseline="0" smtClean="0">
                          <a:solidFill>
                            <a:schemeClr val="tx1"/>
                          </a:solidFill>
                          <a:latin typeface="Microsoft JhengHei" panose="020B0604030504040204" pitchFamily="34" charset="-120"/>
                          <a:ea typeface="Microsoft JhengHei" panose="020B0604030504040204" pitchFamily="34" charset="-120"/>
                        </a:rPr>
                        <a:t> G</a:t>
                      </a:r>
                      <a:r>
                        <a:rPr lang="en-US" altLang="zh-CN" sz="1200" b="0" smtClean="0">
                          <a:solidFill>
                            <a:schemeClr val="tx1"/>
                          </a:solidFill>
                          <a:latin typeface="Microsoft JhengHei" panose="020B0604030504040204" pitchFamily="34" charset="-120"/>
                          <a:ea typeface="Microsoft JhengHei" panose="020B0604030504040204" pitchFamily="34" charset="-120"/>
                        </a:rPr>
                        <a:t>oing</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2026/12</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2757289870"/>
                  </a:ext>
                </a:extLst>
              </a:tr>
              <a:tr h="249047">
                <a:tc>
                  <a:txBody>
                    <a:bodyPr/>
                    <a:lstStyle/>
                    <a:p>
                      <a:pPr algn="ctr"/>
                      <a:r>
                        <a:rPr lang="vi-VN" sz="1200" b="0" dirty="0">
                          <a:solidFill>
                            <a:schemeClr val="tx1"/>
                          </a:solidFill>
                          <a:ea typeface="Microsoft JhengHei" panose="020B0604030504040204" pitchFamily="34" charset="-120"/>
                        </a:rPr>
                        <a:t>2</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vi-VN" sz="1200" b="0">
                          <a:solidFill>
                            <a:schemeClr val="tx1"/>
                          </a:solidFill>
                          <a:ea typeface="Microsoft JhengHei" panose="020B0604030504040204" pitchFamily="34" charset="-120"/>
                        </a:rPr>
                        <a:t>AI</a:t>
                      </a:r>
                      <a:r>
                        <a:rPr lang="en-US" sz="1200" b="0">
                          <a:solidFill>
                            <a:schemeClr val="tx1"/>
                          </a:solidFill>
                          <a:latin typeface="Microsoft JhengHei" panose="020B0604030504040204" pitchFamily="34" charset="-120"/>
                          <a:ea typeface="Microsoft JhengHei" panose="020B0604030504040204" pitchFamily="34" charset="-120"/>
                        </a:rPr>
                        <a:t>-</a:t>
                      </a:r>
                      <a:r>
                        <a:rPr lang="vi-VN" sz="1200" b="0">
                          <a:solidFill>
                            <a:schemeClr val="tx1"/>
                          </a:solidFill>
                          <a:ea typeface="Microsoft JhengHei" panose="020B0604030504040204" pitchFamily="34" charset="-120"/>
                        </a:rPr>
                        <a:t>Agent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dirty="0">
                          <a:solidFill>
                            <a:schemeClr val="tx1"/>
                          </a:solidFill>
                          <a:latin typeface="Microsoft JhengHei" panose="020B0604030504040204" pitchFamily="34" charset="-120"/>
                          <a:ea typeface="Microsoft JhengHei" panose="020B0604030504040204" pitchFamily="34" charset="-120"/>
                        </a:rPr>
                        <a:t>多</a:t>
                      </a:r>
                      <a:r>
                        <a:rPr lang="zh-CN" altLang="en-US" sz="1200" b="0">
                          <a:solidFill>
                            <a:schemeClr val="tx1"/>
                          </a:solidFill>
                          <a:latin typeface="Microsoft JhengHei" panose="020B0604030504040204" pitchFamily="34" charset="-120"/>
                          <a:ea typeface="Microsoft JhengHei" panose="020B0604030504040204" pitchFamily="34" charset="-120"/>
                        </a:rPr>
                        <a:t>模态 </a:t>
                      </a:r>
                      <a:r>
                        <a:rPr lang="en-US" sz="1200" b="0">
                          <a:solidFill>
                            <a:schemeClr val="tx1"/>
                          </a:solidFill>
                          <a:latin typeface="Microsoft JhengHei" panose="020B0604030504040204" pitchFamily="34" charset="-120"/>
                          <a:ea typeface="Microsoft JhengHei" panose="020B0604030504040204" pitchFamily="34" charset="-120"/>
                        </a:rPr>
                        <a:t>AI </a:t>
                      </a:r>
                      <a:r>
                        <a:rPr lang="en-US" sz="1200" b="0" smtClean="0">
                          <a:solidFill>
                            <a:schemeClr val="tx1"/>
                          </a:solidFill>
                          <a:latin typeface="Microsoft JhengHei" panose="020B0604030504040204" pitchFamily="34" charset="-120"/>
                          <a:ea typeface="Microsoft JhengHei" panose="020B0604030504040204" pitchFamily="34" charset="-120"/>
                        </a:rPr>
                        <a:t>Agent</a:t>
                      </a:r>
                      <a:r>
                        <a:rPr lang="zh-CN" altLang="en-US" sz="1200" b="0" smtClean="0">
                          <a:solidFill>
                            <a:schemeClr val="tx1"/>
                          </a:solidFill>
                          <a:latin typeface="Microsoft JhengHei" panose="020B0604030504040204" pitchFamily="34" charset="-120"/>
                          <a:ea typeface="Microsoft JhengHei" panose="020B0604030504040204" pitchFamily="34" charset="-120"/>
                        </a:rPr>
                        <a:t>提升工作效率</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smtClean="0">
                          <a:solidFill>
                            <a:schemeClr val="tx1"/>
                          </a:solidFill>
                          <a:latin typeface="Microsoft JhengHei" panose="020B0604030504040204" pitchFamily="34" charset="-120"/>
                          <a:ea typeface="Microsoft JhengHei" panose="020B0604030504040204" pitchFamily="34" charset="-120"/>
                        </a:rPr>
                        <a:t>開發</a:t>
                      </a:r>
                      <a:r>
                        <a:rPr lang="en-US" altLang="zh-CN" sz="1200" b="0" smtClean="0">
                          <a:solidFill>
                            <a:schemeClr val="tx1"/>
                          </a:solidFill>
                          <a:latin typeface="Microsoft JhengHei" panose="020B0604030504040204" pitchFamily="34" charset="-120"/>
                          <a:ea typeface="Microsoft JhengHei" panose="020B0604030504040204" pitchFamily="34" charset="-120"/>
                        </a:rPr>
                        <a:t>AI Agent</a:t>
                      </a:r>
                      <a:r>
                        <a:rPr lang="zh-CN" altLang="en-US" sz="1200" b="0" smtClean="0">
                          <a:solidFill>
                            <a:schemeClr val="tx1"/>
                          </a:solidFill>
                          <a:latin typeface="Microsoft JhengHei" panose="020B0604030504040204" pitchFamily="34" charset="-120"/>
                          <a:ea typeface="Microsoft JhengHei" panose="020B0604030504040204" pitchFamily="34" charset="-120"/>
                        </a:rPr>
                        <a:t>軟件，提</a:t>
                      </a:r>
                      <a:r>
                        <a:rPr lang="zh-CN" altLang="en-US" sz="1200" b="0" dirty="0">
                          <a:solidFill>
                            <a:schemeClr val="tx1"/>
                          </a:solidFill>
                          <a:latin typeface="Microsoft JhengHei" panose="020B0604030504040204" pitchFamily="34" charset="-120"/>
                          <a:ea typeface="Microsoft JhengHei" panose="020B0604030504040204" pitchFamily="34" charset="-120"/>
                        </a:rPr>
                        <a:t>供接口与现有系统集成，实现工作流程的自动化与标准化</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All User</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altLang="zh-CN"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smtClean="0">
                          <a:ln>
                            <a:noFill/>
                          </a:ln>
                          <a:solidFill>
                            <a:schemeClr val="tx1"/>
                          </a:solidFill>
                          <a:effectLst/>
                          <a:uLnTx/>
                          <a:uFillTx/>
                          <a:latin typeface="Microsoft JhengHei" panose="020B0604030504040204" pitchFamily="34" charset="-120"/>
                          <a:ea typeface="Microsoft JhengHei" panose="020B0604030504040204" pitchFamily="34" charset="-120"/>
                          <a:cs typeface="+mn-cs"/>
                        </a:rPr>
                        <a:t>On Going</a:t>
                      </a:r>
                      <a:endParaRPr kumimoji="0" lang="vi-VN" sz="1200" b="0" i="0" u="none" strike="noStrike" kern="1200" cap="none" spc="0" normalizeH="0" baseline="0" noProof="0" dirty="0">
                        <a:ln>
                          <a:noFill/>
                        </a:ln>
                        <a:solidFill>
                          <a:schemeClr val="tx1"/>
                        </a:solidFill>
                        <a:effectLst/>
                        <a:uLnTx/>
                        <a:uFillTx/>
                        <a:latin typeface="Arial" panose="020B0604020202020204" pitchFamily="34" charset="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2026/10</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716745642"/>
                  </a:ext>
                </a:extLst>
              </a:tr>
              <a:tr h="54790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3</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CN" sz="1200" b="0">
                          <a:solidFill>
                            <a:schemeClr val="tx1"/>
                          </a:solidFill>
                          <a:latin typeface="Microsoft JhengHei" panose="020B0604030504040204" pitchFamily="34" charset="-120"/>
                          <a:ea typeface="Microsoft JhengHei" panose="020B0604030504040204" pitchFamily="34" charset="-120"/>
                        </a:rPr>
                        <a:t>AI</a:t>
                      </a:r>
                      <a:r>
                        <a:rPr lang="zh-CN" altLang="en-US" sz="1200" b="0">
                          <a:solidFill>
                            <a:schemeClr val="tx1"/>
                          </a:solidFill>
                          <a:latin typeface="Microsoft JhengHei" panose="020B0604030504040204" pitchFamily="34" charset="-120"/>
                          <a:ea typeface="Microsoft JhengHei" panose="020B0604030504040204" pitchFamily="34" charset="-120"/>
                        </a:rPr>
                        <a:t>新技术解决方</a:t>
                      </a:r>
                      <a:r>
                        <a:rPr lang="zh-CN" altLang="en-US" sz="1200" b="0" smtClean="0">
                          <a:solidFill>
                            <a:schemeClr val="tx1"/>
                          </a:solidFill>
                          <a:latin typeface="Microsoft JhengHei" panose="020B0604030504040204" pitchFamily="34" charset="-120"/>
                          <a:ea typeface="Microsoft JhengHei" panose="020B0604030504040204" pitchFamily="34" charset="-120"/>
                        </a:rPr>
                        <a:t>案提升</a:t>
                      </a:r>
                      <a:r>
                        <a:rPr lang="en-US" altLang="zh-CN" sz="1200" b="0" smtClean="0">
                          <a:solidFill>
                            <a:schemeClr val="tx1"/>
                          </a:solidFill>
                          <a:latin typeface="Microsoft JhengHei" panose="020B0604030504040204" pitchFamily="34" charset="-120"/>
                          <a:ea typeface="Microsoft JhengHei" panose="020B0604030504040204" pitchFamily="34" charset="-120"/>
                        </a:rPr>
                        <a:t>AI</a:t>
                      </a:r>
                      <a:r>
                        <a:rPr lang="zh-CN" altLang="en-US" sz="1200" b="0" smtClean="0">
                          <a:solidFill>
                            <a:schemeClr val="tx1"/>
                          </a:solidFill>
                          <a:latin typeface="Microsoft JhengHei" panose="020B0604030504040204" pitchFamily="34" charset="-120"/>
                          <a:ea typeface="Microsoft JhengHei" panose="020B0604030504040204" pitchFamily="34" charset="-120"/>
                        </a:rPr>
                        <a:t>認知</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solidFill>
                            <a:schemeClr val="tx1"/>
                          </a:solidFill>
                          <a:latin typeface="Microsoft JhengHei" panose="020B0604030504040204" pitchFamily="34" charset="-120"/>
                          <a:ea typeface="Microsoft JhengHei" panose="020B0604030504040204" pitchFamily="34" charset="-120"/>
                        </a:rPr>
                        <a:t>因为很多用户想导入</a:t>
                      </a:r>
                      <a:r>
                        <a:rPr lang="en-US" altLang="zh-CN" sz="1200" b="0">
                          <a:solidFill>
                            <a:schemeClr val="tx1"/>
                          </a:solidFill>
                          <a:latin typeface="Microsoft JhengHei" panose="020B0604030504040204" pitchFamily="34" charset="-120"/>
                          <a:ea typeface="Microsoft JhengHei" panose="020B0604030504040204" pitchFamily="34" charset="-120"/>
                        </a:rPr>
                        <a:t>AI</a:t>
                      </a:r>
                      <a:r>
                        <a:rPr lang="zh-CN" altLang="en-US" sz="1200" b="0">
                          <a:solidFill>
                            <a:schemeClr val="tx1"/>
                          </a:solidFill>
                          <a:latin typeface="Microsoft JhengHei" panose="020B0604030504040204" pitchFamily="34" charset="-120"/>
                          <a:ea typeface="Microsoft JhengHei" panose="020B0604030504040204" pitchFamily="34" charset="-120"/>
                        </a:rPr>
                        <a:t>，但苦于没有技术和经验。我们</a:t>
                      </a:r>
                      <a:r>
                        <a:rPr lang="en-US" altLang="zh-CN" sz="1200" b="0">
                          <a:solidFill>
                            <a:schemeClr val="tx1"/>
                          </a:solidFill>
                          <a:latin typeface="Microsoft JhengHei" panose="020B0604030504040204" pitchFamily="34" charset="-120"/>
                          <a:ea typeface="Microsoft JhengHei" panose="020B0604030504040204" pitchFamily="34" charset="-120"/>
                        </a:rPr>
                        <a:t>AI</a:t>
                      </a:r>
                      <a:r>
                        <a:rPr lang="zh-CN" altLang="en-US" sz="1200" b="0">
                          <a:solidFill>
                            <a:schemeClr val="tx1"/>
                          </a:solidFill>
                          <a:latin typeface="Microsoft JhengHei" panose="020B0604030504040204" pitchFamily="34" charset="-120"/>
                          <a:ea typeface="Microsoft JhengHei" panose="020B0604030504040204" pitchFamily="34" charset="-120"/>
                        </a:rPr>
                        <a:t>凭借专业性，帮用户梳理痛点，提供解决方案技术服务</a:t>
                      </a:r>
                      <a:r>
                        <a:rPr lang="zh-CN" altLang="en-US" sz="1200" b="0" smtClean="0">
                          <a:solidFill>
                            <a:schemeClr val="tx1"/>
                          </a:solidFill>
                          <a:latin typeface="Microsoft JhengHei" panose="020B0604030504040204" pitchFamily="34" charset="-120"/>
                          <a:ea typeface="Microsoft JhengHei" panose="020B0604030504040204" pitchFamily="34" charset="-120"/>
                        </a:rPr>
                        <a: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Al User</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chemeClr val="tx1"/>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schemeClr val="tx1"/>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smtClean="0">
                          <a:ln>
                            <a:noFill/>
                          </a:ln>
                          <a:solidFill>
                            <a:schemeClr val="tx1"/>
                          </a:solidFill>
                          <a:effectLst/>
                          <a:uLnTx/>
                          <a:uFillTx/>
                          <a:latin typeface="Microsoft JhengHei" panose="020B0604030504040204" pitchFamily="34" charset="-120"/>
                          <a:ea typeface="Microsoft JhengHei" panose="020B0604030504040204" pitchFamily="34" charset="-120"/>
                          <a:cs typeface="+mn-cs"/>
                        </a:rPr>
                        <a:t>On Going</a:t>
                      </a:r>
                      <a:endParaRPr kumimoji="0" lang="vi-VN" sz="1200" b="0" i="0" u="none" strike="noStrike" kern="1200" cap="none" spc="0" normalizeH="0" baseline="0" noProof="0" dirty="0">
                        <a:ln>
                          <a:noFill/>
                        </a:ln>
                        <a:solidFill>
                          <a:schemeClr val="tx1"/>
                        </a:solidFill>
                        <a:effectLst/>
                        <a:uLnTx/>
                        <a:uFillTx/>
                        <a:latin typeface="Arial" panose="020B0604020202020204" pitchFamily="34" charset="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2026/12</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2698126838"/>
                  </a:ext>
                </a:extLst>
              </a:tr>
              <a:tr h="348665">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4</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CN" sz="1200" b="0" smtClean="0">
                          <a:solidFill>
                            <a:schemeClr val="tx1"/>
                          </a:solidFill>
                          <a:latin typeface="Microsoft JhengHei" panose="020B0604030504040204" pitchFamily="34" charset="-120"/>
                          <a:ea typeface="Microsoft JhengHei" panose="020B0604030504040204" pitchFamily="34" charset="-120"/>
                        </a:rPr>
                        <a:t>LLM</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Lighthouse </a:t>
                      </a:r>
                      <a:r>
                        <a:rPr lang="zh-CN" altLang="en-US" sz="1200" b="0">
                          <a:solidFill>
                            <a:schemeClr val="tx1"/>
                          </a:solidFill>
                          <a:latin typeface="Microsoft JhengHei" panose="020B0604030504040204" pitchFamily="34" charset="-120"/>
                          <a:ea typeface="Microsoft JhengHei" panose="020B0604030504040204" pitchFamily="34" charset="-120"/>
                        </a:rPr>
                        <a:t>服务器降本专案，階段</a:t>
                      </a:r>
                      <a:r>
                        <a:rPr lang="en-US" altLang="zh-CN" sz="1200" b="0">
                          <a:solidFill>
                            <a:schemeClr val="tx1"/>
                          </a:solidFill>
                          <a:latin typeface="Microsoft JhengHei" panose="020B0604030504040204" pitchFamily="34" charset="-120"/>
                          <a:ea typeface="Microsoft JhengHei" panose="020B0604030504040204" pitchFamily="34" charset="-120"/>
                        </a:rPr>
                        <a:t>1</a:t>
                      </a:r>
                      <a:r>
                        <a:rPr lang="zh-CN" altLang="en-US" sz="1200" b="0">
                          <a:solidFill>
                            <a:schemeClr val="tx1"/>
                          </a:solidFill>
                          <a:latin typeface="Microsoft JhengHei" panose="020B0604030504040204" pitchFamily="34" charset="-120"/>
                          <a:ea typeface="Microsoft JhengHei" panose="020B0604030504040204" pitchFamily="34" charset="-120"/>
                        </a:rPr>
                        <a:t>：在本地服务器上安装 </a:t>
                      </a:r>
                      <a:r>
                        <a:rPr lang="en-US" altLang="zh-CN" sz="1200" b="0">
                          <a:solidFill>
                            <a:schemeClr val="tx1"/>
                          </a:solidFill>
                          <a:latin typeface="Microsoft JhengHei" panose="020B0604030504040204" pitchFamily="34" charset="-120"/>
                          <a:ea typeface="Microsoft JhengHei" panose="020B0604030504040204" pitchFamily="34" charset="-120"/>
                        </a:rPr>
                        <a:t>5 </a:t>
                      </a:r>
                      <a:r>
                        <a:rPr lang="zh-CN" altLang="en-US" sz="1200" b="0">
                          <a:solidFill>
                            <a:schemeClr val="tx1"/>
                          </a:solidFill>
                          <a:latin typeface="Microsoft JhengHei" panose="020B0604030504040204" pitchFamily="34" charset="-120"/>
                          <a:ea typeface="Microsoft JhengHei" panose="020B0604030504040204" pitchFamily="34" charset="-120"/>
                        </a:rPr>
                        <a:t>个 </a:t>
                      </a:r>
                      <a:r>
                        <a:rPr lang="en-US" altLang="zh-CN" sz="1200" b="0">
                          <a:solidFill>
                            <a:schemeClr val="tx1"/>
                          </a:solidFill>
                          <a:latin typeface="Microsoft JhengHei" panose="020B0604030504040204" pitchFamily="34" charset="-120"/>
                          <a:ea typeface="Microsoft JhengHei" panose="020B0604030504040204" pitchFamily="34" charset="-120"/>
                        </a:rPr>
                        <a:t>Case </a:t>
                      </a:r>
                      <a:r>
                        <a:rPr lang="zh-CN" altLang="en-US" sz="1200" b="0">
                          <a:solidFill>
                            <a:schemeClr val="tx1"/>
                          </a:solidFill>
                          <a:latin typeface="Microsoft JhengHei" panose="020B0604030504040204" pitchFamily="34" charset="-120"/>
                          <a:ea typeface="Microsoft JhengHei" panose="020B0604030504040204" pitchFamily="34" charset="-120"/>
                        </a:rPr>
                        <a:t>网站</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solidFill>
                            <a:schemeClr val="tx1"/>
                          </a:solidFill>
                          <a:latin typeface="Microsoft JhengHei" panose="020B0604030504040204" pitchFamily="34" charset="-120"/>
                          <a:ea typeface="Microsoft JhengHei" panose="020B0604030504040204" pitchFamily="34" charset="-120"/>
                        </a:rPr>
                        <a:t>云服务器成本过高，通过切换为本地服务器部署，每年可节省高达</a:t>
                      </a:r>
                      <a:r>
                        <a:rPr lang="en-US" altLang="zh-CN" sz="1200" b="0">
                          <a:solidFill>
                            <a:schemeClr val="tx1"/>
                          </a:solidFill>
                          <a:latin typeface="Microsoft JhengHei" panose="020B0604030504040204" pitchFamily="34" charset="-120"/>
                          <a:ea typeface="Microsoft JhengHei" panose="020B0604030504040204" pitchFamily="34" charset="-120"/>
                        </a:rPr>
                        <a:t>30,000USD</a:t>
                      </a:r>
                      <a:r>
                        <a:rPr lang="zh-CN" altLang="en-US" sz="1200" b="0">
                          <a:solidFill>
                            <a:schemeClr val="tx1"/>
                          </a:solidFill>
                          <a:latin typeface="Microsoft JhengHei" panose="020B0604030504040204" pitchFamily="34" charset="-120"/>
                          <a:ea typeface="Microsoft JhengHei" panose="020B0604030504040204" pitchFamily="34" charset="-120"/>
                        </a:rPr>
                        <a:t>的云服务器租赁费用。</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DT</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chemeClr val="tx1"/>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schemeClr val="tx1"/>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smtClean="0">
                          <a:ln>
                            <a:noFill/>
                          </a:ln>
                          <a:solidFill>
                            <a:schemeClr val="tx1"/>
                          </a:solidFill>
                          <a:effectLst/>
                          <a:uLnTx/>
                          <a:uFillTx/>
                          <a:latin typeface="Microsoft JhengHei" panose="020B0604030504040204" pitchFamily="34" charset="-120"/>
                          <a:ea typeface="Microsoft JhengHei" panose="020B0604030504040204" pitchFamily="34" charset="-120"/>
                          <a:cs typeface="+mn-cs"/>
                        </a:rPr>
                        <a:t>On Going</a:t>
                      </a:r>
                      <a:endParaRPr kumimoji="0" lang="vi-VN" sz="1200" b="0" i="0" u="none" strike="noStrike" kern="1200" cap="none" spc="0" normalizeH="0" baseline="0" noProof="0" dirty="0">
                        <a:ln>
                          <a:noFill/>
                        </a:ln>
                        <a:solidFill>
                          <a:schemeClr val="tx1"/>
                        </a:solidFill>
                        <a:effectLst/>
                        <a:uLnTx/>
                        <a:uFillTx/>
                        <a:latin typeface="Arial" panose="020B0604020202020204" pitchFamily="34" charset="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2026/07</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3978622441"/>
                  </a:ext>
                </a:extLst>
              </a:tr>
              <a:tr h="348665">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5</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Lighthouse </a:t>
                      </a:r>
                      <a:r>
                        <a:rPr lang="zh-CN" altLang="en-US" sz="1200" b="0">
                          <a:solidFill>
                            <a:schemeClr val="tx1"/>
                          </a:solidFill>
                          <a:latin typeface="Microsoft JhengHei" panose="020B0604030504040204" pitchFamily="34" charset="-120"/>
                          <a:ea typeface="Microsoft JhengHei" panose="020B0604030504040204" pitchFamily="34" charset="-120"/>
                        </a:rPr>
                        <a:t>服务器降本专案，階段</a:t>
                      </a:r>
                      <a:r>
                        <a:rPr lang="en-US" altLang="zh-CN" sz="1200" b="0">
                          <a:solidFill>
                            <a:schemeClr val="tx1"/>
                          </a:solidFill>
                          <a:latin typeface="Microsoft JhengHei" panose="020B0604030504040204" pitchFamily="34" charset="-120"/>
                          <a:ea typeface="Microsoft JhengHei" panose="020B0604030504040204" pitchFamily="34" charset="-120"/>
                        </a:rPr>
                        <a:t>2</a:t>
                      </a:r>
                      <a:r>
                        <a:rPr lang="zh-CN" altLang="en-US" sz="1200" b="0">
                          <a:solidFill>
                            <a:schemeClr val="tx1"/>
                          </a:solidFill>
                          <a:latin typeface="Microsoft JhengHei" panose="020B0604030504040204" pitchFamily="34" charset="-120"/>
                          <a:ea typeface="Microsoft JhengHei" panose="020B0604030504040204" pitchFamily="34" charset="-120"/>
                        </a:rPr>
                        <a:t>：将 </a:t>
                      </a:r>
                      <a:r>
                        <a:rPr lang="en-US" altLang="zh-CN" sz="1200" b="0">
                          <a:solidFill>
                            <a:schemeClr val="tx1"/>
                          </a:solidFill>
                          <a:latin typeface="Microsoft JhengHei" panose="020B0604030504040204" pitchFamily="34" charset="-120"/>
                          <a:ea typeface="Microsoft JhengHei" panose="020B0604030504040204" pitchFamily="34" charset="-120"/>
                        </a:rPr>
                        <a:t>OMV </a:t>
                      </a:r>
                      <a:r>
                        <a:rPr lang="zh-CN" altLang="en-US" sz="1200" b="0">
                          <a:solidFill>
                            <a:schemeClr val="tx1"/>
                          </a:solidFill>
                          <a:latin typeface="Microsoft JhengHei" panose="020B0604030504040204" pitchFamily="34" charset="-120"/>
                          <a:ea typeface="Microsoft JhengHei" panose="020B0604030504040204" pitchFamily="34" charset="-120"/>
                        </a:rPr>
                        <a:t>集成到同一台服务器上的 </a:t>
                      </a:r>
                      <a:r>
                        <a:rPr lang="en-US" altLang="zh-CN" sz="1200" b="0">
                          <a:solidFill>
                            <a:schemeClr val="tx1"/>
                          </a:solidFill>
                          <a:latin typeface="Microsoft JhengHei" panose="020B0604030504040204" pitchFamily="34" charset="-120"/>
                          <a:ea typeface="Microsoft JhengHei" panose="020B0604030504040204" pitchFamily="34" charset="-120"/>
                        </a:rPr>
                        <a:t>5 </a:t>
                      </a:r>
                      <a:r>
                        <a:rPr lang="zh-CN" altLang="en-US" sz="1200" b="0">
                          <a:solidFill>
                            <a:schemeClr val="tx1"/>
                          </a:solidFill>
                          <a:latin typeface="Microsoft JhengHei" panose="020B0604030504040204" pitchFamily="34" charset="-120"/>
                          <a:ea typeface="Microsoft JhengHei" panose="020B0604030504040204" pitchFamily="34" charset="-120"/>
                        </a:rPr>
                        <a:t>个网站 </a:t>
                      </a:r>
                      <a:r>
                        <a:rPr lang="en-US" altLang="zh-CN" sz="1200" b="0">
                          <a:solidFill>
                            <a:schemeClr val="tx1"/>
                          </a:solidFill>
                          <a:latin typeface="Microsoft JhengHei" panose="020B0604030504040204" pitchFamily="34" charset="-120"/>
                          <a:ea typeface="Microsoft JhengHei" panose="020B0604030504040204" pitchFamily="34" charset="-120"/>
                        </a:rPr>
                        <a:t>Use Case </a:t>
                      </a:r>
                      <a:r>
                        <a:rPr lang="zh-CN" altLang="en-US" sz="1200" b="0">
                          <a:solidFill>
                            <a:schemeClr val="tx1"/>
                          </a:solidFill>
                          <a:latin typeface="Microsoft JhengHei" panose="020B0604030504040204" pitchFamily="34" charset="-120"/>
                          <a:ea typeface="Microsoft JhengHei" panose="020B0604030504040204" pitchFamily="34" charset="-120"/>
                        </a:rPr>
                        <a:t>中。</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solidFill>
                            <a:schemeClr val="tx1"/>
                          </a:solidFill>
                          <a:latin typeface="Microsoft JhengHei" panose="020B0604030504040204" pitchFamily="34" charset="-120"/>
                          <a:ea typeface="Microsoft JhengHei" panose="020B0604030504040204" pitchFamily="34" charset="-120"/>
                        </a:rPr>
                        <a:t>将</a:t>
                      </a:r>
                      <a:r>
                        <a:rPr lang="en-US" altLang="zh-CN" sz="1200" b="0">
                          <a:solidFill>
                            <a:schemeClr val="tx1"/>
                          </a:solidFill>
                          <a:latin typeface="Microsoft JhengHei" panose="020B0604030504040204" pitchFamily="34" charset="-120"/>
                          <a:ea typeface="Microsoft JhengHei" panose="020B0604030504040204" pitchFamily="34" charset="-120"/>
                        </a:rPr>
                        <a:t>Lighthouse</a:t>
                      </a:r>
                      <a:r>
                        <a:rPr lang="zh-CN" altLang="en-US" sz="1200" b="0">
                          <a:solidFill>
                            <a:schemeClr val="tx1"/>
                          </a:solidFill>
                          <a:latin typeface="Microsoft JhengHei" panose="020B0604030504040204" pitchFamily="34" charset="-120"/>
                          <a:ea typeface="Microsoft JhengHei" panose="020B0604030504040204" pitchFamily="34" charset="-120"/>
                        </a:rPr>
                        <a:t>项目的所有功能、网站及模块统一集成至同一台服务器，便于维护与管理，并有效优化硬件资源利用。</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DT</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chemeClr val="tx1"/>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schemeClr val="tx1"/>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smtClean="0">
                          <a:ln>
                            <a:noFill/>
                          </a:ln>
                          <a:solidFill>
                            <a:schemeClr val="tx1"/>
                          </a:solidFill>
                          <a:effectLst/>
                          <a:uLnTx/>
                          <a:uFillTx/>
                          <a:latin typeface="Microsoft JhengHei" panose="020B0604030504040204" pitchFamily="34" charset="-120"/>
                          <a:ea typeface="Microsoft JhengHei" panose="020B0604030504040204" pitchFamily="34" charset="-120"/>
                          <a:cs typeface="+mn-cs"/>
                        </a:rPr>
                        <a:t>On Going</a:t>
                      </a:r>
                      <a:endParaRPr kumimoji="0" lang="vi-VN" sz="1200" b="0" i="0" u="none" strike="noStrike" kern="1200" cap="none" spc="0" normalizeH="0" baseline="0" noProof="0" dirty="0">
                        <a:ln>
                          <a:noFill/>
                        </a:ln>
                        <a:solidFill>
                          <a:schemeClr val="tx1"/>
                        </a:solidFill>
                        <a:effectLst/>
                        <a:uLnTx/>
                        <a:uFillTx/>
                        <a:latin typeface="Arial" panose="020B0604020202020204" pitchFamily="34" charset="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2026/10</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2219796500"/>
                  </a:ext>
                </a:extLst>
              </a:tr>
              <a:tr h="249047">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6</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Computer</a:t>
                      </a:r>
                    </a:p>
                    <a:p>
                      <a:pPr algn="ctr"/>
                      <a:r>
                        <a:rPr lang="en-US" sz="1200" b="0" smtClean="0">
                          <a:solidFill>
                            <a:schemeClr val="tx1"/>
                          </a:solidFill>
                          <a:latin typeface="Microsoft JhengHei" panose="020B0604030504040204" pitchFamily="34" charset="-120"/>
                          <a:ea typeface="Microsoft JhengHei" panose="020B0604030504040204" pitchFamily="34" charset="-120"/>
                        </a:rPr>
                        <a:t>Vision</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AI quality inspection product packing</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solidFill>
                            <a:schemeClr val="tx1"/>
                          </a:solidFill>
                          <a:latin typeface="Microsoft JhengHei" panose="020B0604030504040204" pitchFamily="34" charset="-120"/>
                          <a:ea typeface="Microsoft JhengHei" panose="020B0604030504040204" pitchFamily="34" charset="-120"/>
                        </a:rPr>
                        <a:t>开发用于监控员工包装操作的系统，确保作业流程规范且产品数量准确，从而优化运营成本并降低不良率</a:t>
                      </a:r>
                      <a:r>
                        <a:rPr lang="zh-CN" altLang="en-US" sz="1200" b="0" smtClean="0">
                          <a:solidFill>
                            <a:schemeClr val="tx1"/>
                          </a:solidFill>
                          <a:latin typeface="Microsoft JhengHei" panose="020B0604030504040204" pitchFamily="34" charset="-120"/>
                          <a:ea typeface="Microsoft JhengHei" panose="020B0604030504040204" pitchFamily="34" charset="-120"/>
                        </a:rPr>
                        <a:t>。</a:t>
                      </a:r>
                      <a:endParaRPr lang="en-US" altLang="zh-CN"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AE</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schemeClr val="tx1"/>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Closed</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92D05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2026/03</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674368997"/>
                  </a:ext>
                </a:extLst>
              </a:tr>
              <a:tr h="348665">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7</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IP CAM AI Project [Fuction A: Smart Inspection for safety phase 2]</a:t>
                      </a:r>
                      <a:endParaRPr lang="en-US" altLang="zh-CN"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solidFill>
                            <a:schemeClr val="tx1"/>
                          </a:solidFill>
                          <a:latin typeface="Microsoft JhengHei" panose="020B0604030504040204" pitchFamily="34" charset="-120"/>
                          <a:ea typeface="Microsoft JhengHei" panose="020B0604030504040204" pitchFamily="34" charset="-120"/>
                        </a:rPr>
                        <a:t>本系统用于监控与检查工厂内的安全要素，包括：灭火器的状态与摆放位置、通道是否被遮挡或堵塞，以及员工是否按规定佩戴劳动防护用品</a:t>
                      </a:r>
                      <a:r>
                        <a:rPr lang="zh-CN" altLang="en-US" sz="1200" b="0" smtClean="0">
                          <a:solidFill>
                            <a:schemeClr val="tx1"/>
                          </a:solidFill>
                          <a:latin typeface="Microsoft JhengHei" panose="020B0604030504040204" pitchFamily="34" charset="-120"/>
                          <a:ea typeface="Microsoft JhengHei" panose="020B0604030504040204" pitchFamily="34" charset="-120"/>
                        </a:rPr>
                        <a:t>。</a:t>
                      </a:r>
                      <a:endParaRPr lang="zh-CN" altLang="en-US"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Security</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schemeClr val="tx1"/>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smtClean="0">
                          <a:solidFill>
                            <a:schemeClr val="tx1"/>
                          </a:solidFill>
                          <a:latin typeface="Microsoft JhengHei" panose="020B0604030504040204" pitchFamily="34" charset="-120"/>
                          <a:ea typeface="Microsoft JhengHei" panose="020B0604030504040204" pitchFamily="34" charset="-120"/>
                        </a:rPr>
                        <a:t>On</a:t>
                      </a:r>
                      <a:r>
                        <a:rPr lang="en-US" altLang="zh-CN" sz="1200" b="0" baseline="0" smtClean="0">
                          <a:solidFill>
                            <a:schemeClr val="tx1"/>
                          </a:solidFill>
                          <a:latin typeface="Microsoft JhengHei" panose="020B0604030504040204" pitchFamily="34" charset="-120"/>
                          <a:ea typeface="Microsoft JhengHei" panose="020B0604030504040204" pitchFamily="34" charset="-120"/>
                        </a:rPr>
                        <a:t> G</a:t>
                      </a:r>
                      <a:r>
                        <a:rPr lang="en-US" altLang="zh-CN" sz="1200" b="0" smtClean="0">
                          <a:solidFill>
                            <a:schemeClr val="tx1"/>
                          </a:solidFill>
                          <a:latin typeface="Microsoft JhengHei" panose="020B0604030504040204" pitchFamily="34" charset="-120"/>
                          <a:ea typeface="Microsoft JhengHei" panose="020B0604030504040204" pitchFamily="34" charset="-120"/>
                        </a:rPr>
                        <a:t>oing</a:t>
                      </a:r>
                      <a:endParaRPr lang="vi-VN" sz="1200" b="0" smtClean="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TBD</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2074857576"/>
                  </a:ext>
                </a:extLst>
              </a:tr>
            </a:tbl>
          </a:graphicData>
        </a:graphic>
      </p:graphicFrame>
      <p:sp>
        <p:nvSpPr>
          <p:cNvPr id="8" name="Rectangle 7"/>
          <p:cNvSpPr/>
          <p:nvPr/>
        </p:nvSpPr>
        <p:spPr>
          <a:xfrm>
            <a:off x="10674221" y="6611779"/>
            <a:ext cx="1517779" cy="253916"/>
          </a:xfrm>
          <a:prstGeom prst="rect">
            <a:avLst/>
          </a:prstGeom>
          <a:solidFill>
            <a:srgbClr val="CF0034"/>
          </a:solidFill>
        </p:spPr>
        <p:txBody>
          <a:bodyPr wrap="square">
            <a:spAutoFit/>
          </a:bodyPr>
          <a:lstStyle/>
          <a:p>
            <a:pPr algn="ctr" fontAlgn="b"/>
            <a:r>
              <a:rPr lang="en-US" sz="1000" smtClean="0">
                <a:solidFill>
                  <a:schemeClr val="bg1"/>
                </a:solidFill>
                <a:latin typeface="Microsoft JhengHei" panose="020B0604030504040204" pitchFamily="34" charset="-120"/>
                <a:ea typeface="Microsoft JhengHei" panose="020B0604030504040204" pitchFamily="34" charset="-120"/>
                <a:cs typeface="Microsoft Himalaya" panose="01010100010101010101" pitchFamily="2" charset="0"/>
              </a:rPr>
              <a:t>3/N</a:t>
            </a:r>
            <a:endParaRPr lang="en-US" sz="1000" dirty="0">
              <a:solidFill>
                <a:schemeClr val="bg1"/>
              </a:solidFill>
              <a:latin typeface="Microsoft JhengHei" panose="020B0604030504040204" pitchFamily="34" charset="-120"/>
              <a:ea typeface="Microsoft JhengHei" panose="020B0604030504040204" pitchFamily="34" charset="-120"/>
              <a:cs typeface="Microsoft Himalaya" panose="01010100010101010101" pitchFamily="2" charset="0"/>
            </a:endParaRPr>
          </a:p>
        </p:txBody>
      </p:sp>
    </p:spTree>
    <p:extLst>
      <p:ext uri="{BB962C8B-B14F-4D97-AF65-F5344CB8AC3E}">
        <p14:creationId xmlns:p14="http://schemas.microsoft.com/office/powerpoint/2010/main" val="6765239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Google Shape;226;p27"/>
          <p:cNvSpPr txBox="1"/>
          <p:nvPr/>
        </p:nvSpPr>
        <p:spPr>
          <a:xfrm>
            <a:off x="571915" y="573315"/>
            <a:ext cx="8909854" cy="430887"/>
          </a:xfrm>
          <a:prstGeom prst="rect">
            <a:avLst/>
          </a:prstGeom>
          <a:noFill/>
          <a:ln>
            <a:noFill/>
          </a:ln>
          <a:effectLst/>
        </p:spPr>
        <p:txBody>
          <a:bodyPr vert="horz" wrap="square" lIns="0" tIns="0" rIns="0" bIns="0" numCol="1" anchor="t" anchorCtr="0" compatLnSpc="1">
            <a:spAutoFit/>
          </a:bodyPr>
          <a:lstStyle>
            <a:defPPr>
              <a:defRPr lang="en-US"/>
            </a:defPPr>
            <a:lvl1pPr>
              <a:spcBef>
                <a:spcPct val="0"/>
              </a:spcBef>
              <a:buNone/>
              <a:defRPr sz="2800" b="1">
                <a:solidFill>
                  <a:srgbClr val="000000"/>
                </a:solidFill>
                <a:latin typeface="Calibri" panose="020F0502020204030204" pitchFamily="34" charset="0"/>
                <a:ea typeface="Microsoft JhengHei" panose="020B0604030504040204" pitchFamily="34" charset="-120"/>
                <a:cs typeface="微软雅黑" panose="020B0503020204020204" charset="-122"/>
              </a:defRPr>
            </a:lvl1pPr>
          </a:lstStyle>
          <a:p>
            <a:r>
              <a:rPr kumimoji="1" lang="en-US" altLang="zh-CN" dirty="0">
                <a:solidFill>
                  <a:schemeClr val="tx1"/>
                </a:solidFill>
                <a:latin typeface="微軟正黑體" pitchFamily="34" charset="-120"/>
                <a:ea typeface="微軟正黑體" pitchFamily="34" charset="-120"/>
                <a:cs typeface="+mn-cs"/>
              </a:rPr>
              <a:t>CPEG-IIC 2026</a:t>
            </a:r>
            <a:r>
              <a:rPr kumimoji="1" lang="zh-CN" altLang="en-US" dirty="0">
                <a:solidFill>
                  <a:schemeClr val="tx1"/>
                </a:solidFill>
                <a:latin typeface="微軟正黑體" pitchFamily="34" charset="-120"/>
                <a:ea typeface="微軟正黑體" pitchFamily="34" charset="-120"/>
                <a:cs typeface="+mn-cs"/>
              </a:rPr>
              <a:t>數位化 </a:t>
            </a:r>
            <a:r>
              <a:rPr kumimoji="1" lang="en-US" altLang="zh-CN" dirty="0">
                <a:solidFill>
                  <a:schemeClr val="tx1"/>
                </a:solidFill>
                <a:latin typeface="微軟正黑體" pitchFamily="34" charset="-120"/>
                <a:ea typeface="微軟正黑體" pitchFamily="34" charset="-120"/>
                <a:cs typeface="+mn-cs"/>
              </a:rPr>
              <a:t>&amp; </a:t>
            </a:r>
            <a:r>
              <a:rPr kumimoji="1" lang="zh-CN" altLang="en-US" dirty="0">
                <a:solidFill>
                  <a:schemeClr val="tx1"/>
                </a:solidFill>
                <a:latin typeface="微軟正黑體" pitchFamily="34" charset="-120"/>
                <a:ea typeface="微軟正黑體" pitchFamily="34" charset="-120"/>
                <a:cs typeface="+mn-cs"/>
              </a:rPr>
              <a:t>智能化</a:t>
            </a:r>
            <a:r>
              <a:rPr kumimoji="1" lang="en-US" altLang="zh-CN" dirty="0" smtClean="0">
                <a:solidFill>
                  <a:schemeClr val="tx1"/>
                </a:solidFill>
                <a:latin typeface="微軟正黑體" pitchFamily="34" charset="-120"/>
                <a:ea typeface="微軟正黑體" pitchFamily="34" charset="-120"/>
                <a:cs typeface="+mn-cs"/>
              </a:rPr>
              <a:t>-</a:t>
            </a:r>
            <a:r>
              <a:rPr kumimoji="1" lang="zh-CN" altLang="en-US" dirty="0" smtClean="0">
                <a:solidFill>
                  <a:schemeClr val="tx1"/>
                </a:solidFill>
                <a:latin typeface="微軟正黑體" pitchFamily="34" charset="-120"/>
                <a:ea typeface="微軟正黑體" pitchFamily="34" charset="-120"/>
                <a:cs typeface="+mn-cs"/>
              </a:rPr>
              <a:t>正在開</a:t>
            </a:r>
            <a:r>
              <a:rPr kumimoji="1" lang="zh-CN" altLang="en-US" dirty="0">
                <a:solidFill>
                  <a:schemeClr val="tx1"/>
                </a:solidFill>
                <a:latin typeface="微軟正黑體" pitchFamily="34" charset="-120"/>
                <a:ea typeface="微軟正黑體" pitchFamily="34" charset="-120"/>
                <a:cs typeface="+mn-cs"/>
              </a:rPr>
              <a:t>發</a:t>
            </a:r>
            <a:r>
              <a:rPr kumimoji="1" lang="zh-CN" altLang="en-US">
                <a:solidFill>
                  <a:schemeClr val="tx1"/>
                </a:solidFill>
                <a:latin typeface="微軟正黑體" pitchFamily="34" charset="-120"/>
                <a:ea typeface="微軟正黑體" pitchFamily="34" charset="-120"/>
                <a:cs typeface="+mn-cs"/>
              </a:rPr>
              <a:t>專</a:t>
            </a:r>
            <a:r>
              <a:rPr kumimoji="1" lang="zh-CN" altLang="en-US" smtClean="0">
                <a:solidFill>
                  <a:schemeClr val="tx1"/>
                </a:solidFill>
                <a:latin typeface="微軟正黑體" pitchFamily="34" charset="-120"/>
                <a:ea typeface="微軟正黑體" pitchFamily="34" charset="-120"/>
                <a:cs typeface="+mn-cs"/>
              </a:rPr>
              <a:t>案</a:t>
            </a:r>
            <a:r>
              <a:rPr kumimoji="1" lang="en-US" altLang="zh-CN" smtClean="0">
                <a:solidFill>
                  <a:schemeClr val="tx1"/>
                </a:solidFill>
                <a:latin typeface="微軟正黑體" pitchFamily="34" charset="-120"/>
                <a:ea typeface="微軟正黑體" pitchFamily="34" charset="-120"/>
                <a:cs typeface="+mn-cs"/>
              </a:rPr>
              <a:t>(AI</a:t>
            </a:r>
            <a:r>
              <a:rPr kumimoji="1" lang="zh-CN" altLang="en-US" smtClean="0">
                <a:solidFill>
                  <a:schemeClr val="tx1"/>
                </a:solidFill>
                <a:latin typeface="微軟正黑體" pitchFamily="34" charset="-120"/>
                <a:ea typeface="微軟正黑體" pitchFamily="34" charset="-120"/>
                <a:cs typeface="+mn-cs"/>
              </a:rPr>
              <a:t> </a:t>
            </a:r>
            <a:r>
              <a:rPr kumimoji="1" lang="en-US" altLang="zh-CN" smtClean="0">
                <a:solidFill>
                  <a:schemeClr val="tx1"/>
                </a:solidFill>
                <a:latin typeface="微軟正黑體" pitchFamily="34" charset="-120"/>
                <a:ea typeface="微軟正黑體" pitchFamily="34" charset="-120"/>
                <a:cs typeface="+mn-cs"/>
              </a:rPr>
              <a:t>– </a:t>
            </a:r>
            <a:r>
              <a:rPr kumimoji="1" lang="zh-CN" altLang="en-US" smtClean="0">
                <a:solidFill>
                  <a:schemeClr val="tx1"/>
                </a:solidFill>
                <a:latin typeface="微軟正黑體" pitchFamily="34" charset="-120"/>
                <a:ea typeface="微軟正黑體" pitchFamily="34" charset="-120"/>
                <a:cs typeface="+mn-cs"/>
              </a:rPr>
              <a:t>表</a:t>
            </a:r>
            <a:r>
              <a:rPr kumimoji="1" lang="en-US" altLang="zh-CN" smtClean="0">
                <a:solidFill>
                  <a:schemeClr val="tx1"/>
                </a:solidFill>
                <a:latin typeface="微軟正黑體" pitchFamily="34" charset="-120"/>
                <a:ea typeface="微軟正黑體" pitchFamily="34" charset="-120"/>
                <a:cs typeface="+mn-cs"/>
              </a:rPr>
              <a:t>2</a:t>
            </a:r>
            <a:r>
              <a:rPr kumimoji="1" lang="en-US" altLang="zh-CN">
                <a:solidFill>
                  <a:schemeClr val="tx1"/>
                </a:solidFill>
                <a:latin typeface="微軟正黑體" pitchFamily="34" charset="-120"/>
                <a:ea typeface="微軟正黑體" pitchFamily="34" charset="-120"/>
                <a:cs typeface="+mn-cs"/>
              </a:rPr>
              <a:t>)</a:t>
            </a:r>
            <a:r>
              <a:rPr kumimoji="1" lang="en-US" smtClean="0">
                <a:solidFill>
                  <a:schemeClr val="tx1"/>
                </a:solidFill>
                <a:latin typeface="微軟正黑體" pitchFamily="34" charset="-120"/>
                <a:ea typeface="微軟正黑體" pitchFamily="34" charset="-120"/>
                <a:cs typeface="+mn-cs"/>
              </a:rPr>
              <a:t> </a:t>
            </a:r>
            <a:endParaRPr kumimoji="1" lang="zh-TW" altLang="en-US" dirty="0">
              <a:solidFill>
                <a:schemeClr val="tx1"/>
              </a:solidFill>
              <a:latin typeface="微軟正黑體" pitchFamily="34" charset="-120"/>
              <a:ea typeface="微軟正黑體" pitchFamily="34" charset="-120"/>
              <a:cs typeface="+mn-cs"/>
            </a:endParaRPr>
          </a:p>
        </p:txBody>
      </p:sp>
      <p:sp>
        <p:nvSpPr>
          <p:cNvPr id="2" name="Rectangle 1"/>
          <p:cNvSpPr/>
          <p:nvPr/>
        </p:nvSpPr>
        <p:spPr>
          <a:xfrm>
            <a:off x="8721382" y="1140037"/>
            <a:ext cx="1050883" cy="324003"/>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en-US" sz="1200" smtClean="0">
                <a:solidFill>
                  <a:schemeClr val="tx1"/>
                </a:solidFill>
                <a:latin typeface="微軟正黑體" panose="020B0604030504040204" pitchFamily="34" charset="-120"/>
                <a:ea typeface="微軟正黑體" panose="020B0604030504040204" pitchFamily="34" charset="-120"/>
              </a:rPr>
              <a:t>Done:1</a:t>
            </a:r>
            <a:endParaRPr lang="en-US" sz="1200" dirty="0">
              <a:solidFill>
                <a:schemeClr val="tx1"/>
              </a:solidFill>
              <a:latin typeface="微軟正黑體" panose="020B0604030504040204" pitchFamily="34" charset="-120"/>
              <a:ea typeface="微軟正黑體" panose="020B0604030504040204" pitchFamily="34" charset="-120"/>
            </a:endParaRPr>
          </a:p>
        </p:txBody>
      </p:sp>
      <p:sp>
        <p:nvSpPr>
          <p:cNvPr id="5" name="Rectangle 4"/>
          <p:cNvSpPr/>
          <p:nvPr/>
        </p:nvSpPr>
        <p:spPr>
          <a:xfrm>
            <a:off x="9831915" y="1140036"/>
            <a:ext cx="1162343" cy="324003"/>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en-US" sz="1200" dirty="0" smtClean="0">
                <a:solidFill>
                  <a:schemeClr val="tx1"/>
                </a:solidFill>
                <a:latin typeface="微軟正黑體" panose="020B0604030504040204" pitchFamily="34" charset="-120"/>
                <a:ea typeface="微軟正黑體" panose="020B0604030504040204" pitchFamily="34" charset="-120"/>
              </a:rPr>
              <a:t>On </a:t>
            </a:r>
            <a:r>
              <a:rPr lang="en-US" sz="1200" smtClean="0">
                <a:solidFill>
                  <a:schemeClr val="tx1"/>
                </a:solidFill>
                <a:latin typeface="微軟正黑體" panose="020B0604030504040204" pitchFamily="34" charset="-120"/>
                <a:ea typeface="微軟正黑體" panose="020B0604030504040204" pitchFamily="34" charset="-120"/>
              </a:rPr>
              <a:t>Going: 12 </a:t>
            </a:r>
            <a:endParaRPr lang="en-US" sz="1200" dirty="0">
              <a:solidFill>
                <a:schemeClr val="tx1"/>
              </a:solidFill>
              <a:latin typeface="微軟正黑體" panose="020B0604030504040204" pitchFamily="34" charset="-120"/>
              <a:ea typeface="微軟正黑體" panose="020B0604030504040204" pitchFamily="34" charset="-120"/>
            </a:endParaRPr>
          </a:p>
        </p:txBody>
      </p:sp>
      <p:sp>
        <p:nvSpPr>
          <p:cNvPr id="6" name="Rectangle 5"/>
          <p:cNvSpPr/>
          <p:nvPr/>
        </p:nvSpPr>
        <p:spPr>
          <a:xfrm>
            <a:off x="11053908" y="1140038"/>
            <a:ext cx="1043043" cy="324003"/>
          </a:xfrm>
          <a:prstGeom prst="rect">
            <a:avLst/>
          </a:prstGeom>
          <a:solidFill>
            <a:srgbClr val="9DC3E6"/>
          </a:solidFill>
          <a:ln>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en-US" sz="1200" dirty="0" smtClean="0">
                <a:solidFill>
                  <a:schemeClr val="tx1"/>
                </a:solidFill>
                <a:latin typeface="微軟正黑體" panose="020B0604030504040204" pitchFamily="34" charset="-120"/>
                <a:ea typeface="微軟正黑體" panose="020B0604030504040204" pitchFamily="34" charset="-120"/>
              </a:rPr>
              <a:t>Open</a:t>
            </a:r>
            <a:r>
              <a:rPr lang="en-US" sz="1200" smtClean="0">
                <a:solidFill>
                  <a:schemeClr val="tx1"/>
                </a:solidFill>
                <a:latin typeface="微軟正黑體" panose="020B0604030504040204" pitchFamily="34" charset="-120"/>
                <a:ea typeface="微軟正黑體" panose="020B0604030504040204" pitchFamily="34" charset="-120"/>
              </a:rPr>
              <a:t>: </a:t>
            </a:r>
            <a:r>
              <a:rPr lang="en-US" sz="1200">
                <a:solidFill>
                  <a:schemeClr val="tx1"/>
                </a:solidFill>
                <a:latin typeface="微軟正黑體" panose="020B0604030504040204" pitchFamily="34" charset="-120"/>
                <a:ea typeface="微軟正黑體" panose="020B0604030504040204" pitchFamily="34" charset="-120"/>
              </a:rPr>
              <a:t>2</a:t>
            </a:r>
            <a:endParaRPr lang="en-US" sz="1200" dirty="0">
              <a:solidFill>
                <a:schemeClr val="tx1"/>
              </a:solidFill>
              <a:latin typeface="微軟正黑體" panose="020B0604030504040204" pitchFamily="34" charset="-120"/>
              <a:ea typeface="微軟正黑體" panose="020B0604030504040204" pitchFamily="34" charset="-120"/>
            </a:endParaRPr>
          </a:p>
        </p:txBody>
      </p:sp>
      <p:sp>
        <p:nvSpPr>
          <p:cNvPr id="8" name="Rectangle 7"/>
          <p:cNvSpPr/>
          <p:nvPr/>
        </p:nvSpPr>
        <p:spPr>
          <a:xfrm>
            <a:off x="10674221" y="6611779"/>
            <a:ext cx="1517779" cy="253916"/>
          </a:xfrm>
          <a:prstGeom prst="rect">
            <a:avLst/>
          </a:prstGeom>
          <a:solidFill>
            <a:srgbClr val="CF0034"/>
          </a:solidFill>
        </p:spPr>
        <p:txBody>
          <a:bodyPr wrap="square">
            <a:spAutoFit/>
          </a:bodyPr>
          <a:lstStyle/>
          <a:p>
            <a:pPr algn="ctr" fontAlgn="b"/>
            <a:r>
              <a:rPr lang="en-US" sz="1000" smtClean="0">
                <a:solidFill>
                  <a:schemeClr val="bg1"/>
                </a:solidFill>
                <a:latin typeface="Microsoft JhengHei" panose="020B0604030504040204" pitchFamily="34" charset="-120"/>
                <a:ea typeface="Microsoft JhengHei" panose="020B0604030504040204" pitchFamily="34" charset="-120"/>
                <a:cs typeface="Microsoft Himalaya" panose="01010100010101010101" pitchFamily="2" charset="0"/>
              </a:rPr>
              <a:t>3/N</a:t>
            </a:r>
            <a:endParaRPr lang="en-US" sz="1000" dirty="0">
              <a:solidFill>
                <a:schemeClr val="bg1"/>
              </a:solidFill>
              <a:latin typeface="Microsoft JhengHei" panose="020B0604030504040204" pitchFamily="34" charset="-120"/>
              <a:ea typeface="Microsoft JhengHei" panose="020B0604030504040204" pitchFamily="34" charset="-120"/>
              <a:cs typeface="Microsoft Himalaya" panose="01010100010101010101" pitchFamily="2" charset="0"/>
            </a:endParaRPr>
          </a:p>
        </p:txBody>
      </p:sp>
      <p:graphicFrame>
        <p:nvGraphicFramePr>
          <p:cNvPr id="9" name="Table 8">
            <a:extLst>
              <a:ext uri="{FF2B5EF4-FFF2-40B4-BE49-F238E27FC236}">
                <a16:creationId xmlns:a16="http://schemas.microsoft.com/office/drawing/2014/main" id="{C80EA30E-BC94-70EA-C13E-22CB9E49725C}"/>
              </a:ext>
            </a:extLst>
          </p:cNvPr>
          <p:cNvGraphicFramePr>
            <a:graphicFrameLocks noGrp="1"/>
          </p:cNvGraphicFramePr>
          <p:nvPr>
            <p:extLst>
              <p:ext uri="{D42A27DB-BD31-4B8C-83A1-F6EECF244321}">
                <p14:modId xmlns:p14="http://schemas.microsoft.com/office/powerpoint/2010/main" val="3526549579"/>
              </p:ext>
            </p:extLst>
          </p:nvPr>
        </p:nvGraphicFramePr>
        <p:xfrm>
          <a:off x="228912" y="1496036"/>
          <a:ext cx="11868040" cy="4297680"/>
        </p:xfrm>
        <a:graphic>
          <a:graphicData uri="http://schemas.openxmlformats.org/drawingml/2006/table">
            <a:tbl>
              <a:tblPr firstRow="1" bandRow="1">
                <a:tableStyleId>{5C22544A-7EE6-4342-B048-85BDC9FD1C3A}</a:tableStyleId>
              </a:tblPr>
              <a:tblGrid>
                <a:gridCol w="428697">
                  <a:extLst>
                    <a:ext uri="{9D8B030D-6E8A-4147-A177-3AD203B41FA5}">
                      <a16:colId xmlns:a16="http://schemas.microsoft.com/office/drawing/2014/main" val="2487163355"/>
                    </a:ext>
                  </a:extLst>
                </a:gridCol>
                <a:gridCol w="901962">
                  <a:extLst>
                    <a:ext uri="{9D8B030D-6E8A-4147-A177-3AD203B41FA5}">
                      <a16:colId xmlns:a16="http://schemas.microsoft.com/office/drawing/2014/main" val="97196609"/>
                    </a:ext>
                  </a:extLst>
                </a:gridCol>
                <a:gridCol w="983332">
                  <a:extLst>
                    <a:ext uri="{9D8B030D-6E8A-4147-A177-3AD203B41FA5}">
                      <a16:colId xmlns:a16="http://schemas.microsoft.com/office/drawing/2014/main" val="2006768793"/>
                    </a:ext>
                  </a:extLst>
                </a:gridCol>
                <a:gridCol w="2416628">
                  <a:extLst>
                    <a:ext uri="{9D8B030D-6E8A-4147-A177-3AD203B41FA5}">
                      <a16:colId xmlns:a16="http://schemas.microsoft.com/office/drawing/2014/main" val="2241224740"/>
                    </a:ext>
                  </a:extLst>
                </a:gridCol>
                <a:gridCol w="3577009">
                  <a:extLst>
                    <a:ext uri="{9D8B030D-6E8A-4147-A177-3AD203B41FA5}">
                      <a16:colId xmlns:a16="http://schemas.microsoft.com/office/drawing/2014/main" val="265797902"/>
                    </a:ext>
                  </a:extLst>
                </a:gridCol>
                <a:gridCol w="809185">
                  <a:extLst>
                    <a:ext uri="{9D8B030D-6E8A-4147-A177-3AD203B41FA5}">
                      <a16:colId xmlns:a16="http://schemas.microsoft.com/office/drawing/2014/main" val="1517327949"/>
                    </a:ext>
                  </a:extLst>
                </a:gridCol>
                <a:gridCol w="647347">
                  <a:extLst>
                    <a:ext uri="{9D8B030D-6E8A-4147-A177-3AD203B41FA5}">
                      <a16:colId xmlns:a16="http://schemas.microsoft.com/office/drawing/2014/main" val="1057031260"/>
                    </a:ext>
                  </a:extLst>
                </a:gridCol>
                <a:gridCol w="926067">
                  <a:extLst>
                    <a:ext uri="{9D8B030D-6E8A-4147-A177-3AD203B41FA5}">
                      <a16:colId xmlns:a16="http://schemas.microsoft.com/office/drawing/2014/main" val="220237894"/>
                    </a:ext>
                  </a:extLst>
                </a:gridCol>
                <a:gridCol w="1177813">
                  <a:extLst>
                    <a:ext uri="{9D8B030D-6E8A-4147-A177-3AD203B41FA5}">
                      <a16:colId xmlns:a16="http://schemas.microsoft.com/office/drawing/2014/main" val="803722073"/>
                    </a:ext>
                  </a:extLst>
                </a:gridCol>
              </a:tblGrid>
              <a:tr h="0">
                <a:tc>
                  <a:txBody>
                    <a:bodyPr/>
                    <a:lstStyle/>
                    <a:p>
                      <a:pPr algn="ctr"/>
                      <a:r>
                        <a:rPr lang="vi-VN" sz="1200" b="0" dirty="0">
                          <a:solidFill>
                            <a:schemeClr val="tx1"/>
                          </a:solidFill>
                          <a:ea typeface="Microsoft JhengHei" panose="020B0604030504040204" pitchFamily="34" charset="-120"/>
                        </a:rPr>
                        <a:t>No</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zh-CN" altLang="en-US" sz="1200" b="0" dirty="0">
                          <a:solidFill>
                            <a:schemeClr val="tx1"/>
                          </a:solidFill>
                          <a:latin typeface="Microsoft JhengHei" panose="020B0604030504040204" pitchFamily="34" charset="-120"/>
                          <a:ea typeface="Microsoft JhengHei" panose="020B0604030504040204" pitchFamily="34" charset="-120"/>
                        </a:rPr>
                        <a:t>枝術方向</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Type</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zh-CN" altLang="en-US" sz="1200" b="0" dirty="0">
                          <a:solidFill>
                            <a:schemeClr val="tx1"/>
                          </a:solidFill>
                          <a:latin typeface="Microsoft JhengHei" panose="020B0604030504040204" pitchFamily="34" charset="-120"/>
                          <a:ea typeface="Microsoft JhengHei" panose="020B0604030504040204" pitchFamily="34" charset="-120"/>
                        </a:rPr>
                        <a:t>项目</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zh-CN" altLang="en-US" sz="1200" b="0" dirty="0">
                          <a:solidFill>
                            <a:schemeClr val="tx1"/>
                          </a:solidFill>
                          <a:latin typeface="Microsoft JhengHei" panose="020B0604030504040204" pitchFamily="34" charset="-120"/>
                          <a:ea typeface="Microsoft JhengHei" panose="020B0604030504040204" pitchFamily="34" charset="-120"/>
                        </a:rPr>
                        <a:t>場景功能明</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en-US" altLang="zh-CN" sz="1200" b="0">
                          <a:solidFill>
                            <a:schemeClr val="tx1"/>
                          </a:solidFill>
                          <a:latin typeface="Microsoft JhengHei" panose="020B0604030504040204" pitchFamily="34" charset="-120"/>
                          <a:ea typeface="Microsoft JhengHei" panose="020B0604030504040204" pitchFamily="34" charset="-120"/>
                        </a:rPr>
                        <a:t>O</a:t>
                      </a:r>
                      <a:r>
                        <a:rPr lang="en-US" sz="1200" b="0">
                          <a:solidFill>
                            <a:schemeClr val="tx1"/>
                          </a:solidFill>
                          <a:latin typeface="Microsoft JhengHei" panose="020B0604030504040204" pitchFamily="34" charset="-120"/>
                          <a:ea typeface="Microsoft JhengHei" panose="020B0604030504040204" pitchFamily="34" charset="-120"/>
                        </a:rPr>
                        <a:t>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AT</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Status</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tc>
                  <a:txBody>
                    <a:bodyPr/>
                    <a:lstStyle/>
                    <a:p>
                      <a:pPr algn="ctr"/>
                      <a:r>
                        <a:rPr lang="vi-VN" sz="1200" b="0" dirty="0">
                          <a:solidFill>
                            <a:schemeClr val="tx1"/>
                          </a:solidFill>
                          <a:ea typeface="Microsoft JhengHei" panose="020B0604030504040204" pitchFamily="34" charset="-120"/>
                        </a:rPr>
                        <a:t>Due Date</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33CCFF"/>
                    </a:solidFill>
                  </a:tcPr>
                </a:tc>
                <a:extLst>
                  <a:ext uri="{0D108BD9-81ED-4DB2-BD59-A6C34878D82A}">
                    <a16:rowId xmlns:a16="http://schemas.microsoft.com/office/drawing/2014/main" val="1810485666"/>
                  </a:ext>
                </a:extLst>
              </a:tr>
              <a:tr h="35269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8</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row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0">
                          <a:solidFill>
                            <a:schemeClr val="tx1"/>
                          </a:solidFill>
                          <a:latin typeface="Microsoft JhengHei" panose="020B0604030504040204" pitchFamily="34" charset="-120"/>
                          <a:ea typeface="Microsoft JhengHei" panose="020B0604030504040204" pitchFamily="34" charset="-120"/>
                        </a:rPr>
                        <a:t>智能</a:t>
                      </a:r>
                      <a:r>
                        <a:rPr lang="zh-CN" altLang="en-US" sz="1200" b="0" smtClean="0">
                          <a:solidFill>
                            <a:schemeClr val="tx1"/>
                          </a:solidFill>
                          <a:latin typeface="Microsoft JhengHei" panose="020B0604030504040204" pitchFamily="34" charset="-120"/>
                          <a:ea typeface="Microsoft JhengHei" panose="020B0604030504040204" pitchFamily="34" charset="-120"/>
                        </a:rPr>
                        <a:t>化</a:t>
                      </a:r>
                      <a:endParaRPr lang="en-US"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Computer Vision</a:t>
                      </a:r>
                    </a:p>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IP CAM AI Project [Fuction B: Intelligent monitoring IPCAM for safety]</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latin typeface="Microsoft JhengHei" panose="020B0604030504040204" pitchFamily="34" charset="-120"/>
                          <a:ea typeface="Microsoft JhengHei" panose="020B0604030504040204" pitchFamily="34" charset="-120"/>
                        </a:rPr>
                        <a:t>本系统用于监控与检查工厂内的安全要素，包括：灭火器的状态与摆放位置、通道是否被遮挡或堵塞，以及员工是否按规定佩戴劳动防护用品</a:t>
                      </a:r>
                      <a:r>
                        <a:rPr lang="zh-CN" altLang="en-US" sz="1200" b="0" smtClean="0">
                          <a:latin typeface="Microsoft JhengHei" panose="020B0604030504040204" pitchFamily="34" charset="-120"/>
                          <a:ea typeface="Microsoft JhengHei" panose="020B0604030504040204" pitchFamily="34" charset="-120"/>
                        </a:rPr>
                        <a:t>。</a:t>
                      </a:r>
                      <a:endParaRPr lang="en-US" altLang="zh-CN" sz="1200" b="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Security</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Ongoing</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TBD</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363157425"/>
                  </a:ext>
                </a:extLst>
              </a:tr>
              <a:tr h="251923">
                <a:tc>
                  <a:txBody>
                    <a:bodyPr/>
                    <a:lstStyle/>
                    <a:p>
                      <a:pPr algn="ctr"/>
                      <a:r>
                        <a:rPr lang="en-US" sz="1200" b="0" dirty="0">
                          <a:solidFill>
                            <a:schemeClr val="tx1"/>
                          </a:solidFill>
                          <a:latin typeface="Microsoft JhengHei" panose="020B0604030504040204" pitchFamily="34" charset="-120"/>
                          <a:ea typeface="Microsoft JhengHei" panose="020B0604030504040204" pitchFamily="34" charset="-120"/>
                        </a:rPr>
                        <a:t>9</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IP CAM AI Project [Fuction C: Auto BBS phase 3]</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latin typeface="Microsoft JhengHei" panose="020B0604030504040204" pitchFamily="34" charset="-120"/>
                          <a:ea typeface="Microsoft JhengHei" panose="020B0604030504040204" pitchFamily="34" charset="-120"/>
                        </a:rPr>
                        <a:t>该系统旨在通过对关键区域的同步监控，实现工厂多点位安全检查的自动化</a:t>
                      </a:r>
                      <a:r>
                        <a:rPr lang="zh-CN" altLang="en-US" sz="1200" b="0" smtClean="0">
                          <a:latin typeface="Microsoft JhengHei" panose="020B0604030504040204" pitchFamily="34" charset="-120"/>
                          <a:ea typeface="Microsoft JhengHei" panose="020B0604030504040204" pitchFamily="34" charset="-120"/>
                        </a:rPr>
                        <a:t>。</a:t>
                      </a:r>
                      <a:endParaRPr lang="en-US" altLang="zh-CN" sz="1200" b="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Security</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Ongoing</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TBD</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2757289870"/>
                  </a:ext>
                </a:extLst>
              </a:tr>
              <a:tr h="251923">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1</a:t>
                      </a:r>
                      <a:r>
                        <a:rPr lang="en-US" sz="1200" b="0" dirty="0">
                          <a:solidFill>
                            <a:schemeClr val="tx1"/>
                          </a:solidFill>
                          <a:latin typeface="Microsoft JhengHei" panose="020B0604030504040204" pitchFamily="34" charset="-120"/>
                          <a:ea typeface="Microsoft JhengHei" panose="020B0604030504040204" pitchFamily="34" charset="-120"/>
                        </a:rPr>
                        <a:t>0</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Check PCB Xray</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latin typeface="Microsoft JhengHei" panose="020B0604030504040204" pitchFamily="34" charset="-120"/>
                          <a:ea typeface="Microsoft JhengHei" panose="020B0604030504040204" pitchFamily="34" charset="-120"/>
                        </a:rPr>
                        <a:t>系统可对多种产品型号的元器件进行自动检测，确保类型与数量的准确性</a:t>
                      </a:r>
                      <a:r>
                        <a:rPr lang="zh-CN" altLang="en-US" sz="1200" b="0" smtClean="0">
                          <a:latin typeface="Microsoft JhengHei" panose="020B0604030504040204" pitchFamily="34" charset="-120"/>
                          <a:ea typeface="Microsoft JhengHei" panose="020B0604030504040204" pitchFamily="34" charset="-120"/>
                        </a:rPr>
                        <a:t>。</a:t>
                      </a:r>
                      <a:endParaRPr lang="en-US" altLang="zh-CN" sz="1200" b="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ME</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Ongoing</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2026/06</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716745642"/>
                  </a:ext>
                </a:extLst>
              </a:tr>
              <a:tr h="35269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11</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Project A - AI quality inspection product in Test station</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latin typeface="Microsoft JhengHei" panose="020B0604030504040204" pitchFamily="34" charset="-120"/>
                          <a:ea typeface="Microsoft JhengHei" panose="020B0604030504040204" pitchFamily="34" charset="-120"/>
                        </a:rPr>
                        <a:t>系统自动监控并检测放置托盘、放置称重及保持称重状态等操作，确保各步骤符合既定流程及时间标准</a:t>
                      </a:r>
                      <a:r>
                        <a:rPr lang="zh-CN" altLang="en-US" sz="1200" b="0" smtClean="0">
                          <a:latin typeface="Microsoft JhengHei" panose="020B0604030504040204" pitchFamily="34" charset="-120"/>
                          <a:ea typeface="Microsoft JhengHei" panose="020B0604030504040204" pitchFamily="34" charset="-120"/>
                        </a:rPr>
                        <a:t>。</a:t>
                      </a:r>
                      <a:endParaRPr lang="en-US" altLang="zh-CN" sz="1200" b="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ME</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kumimoji="0" lang="en-US" sz="1200" b="0" i="0" u="none" strike="noStrike" kern="1200" cap="none" spc="0" normalizeH="0" baseline="0" noProof="0" smtClean="0">
                          <a:ln>
                            <a:noFill/>
                          </a:ln>
                          <a:solidFill>
                            <a:prstClr val="black"/>
                          </a:solidFill>
                          <a:effectLst/>
                          <a:uLnTx/>
                          <a:uFillTx/>
                          <a:latin typeface="Microsoft JhengHei" panose="020B0604030504040204" pitchFamily="34" charset="-120"/>
                          <a:ea typeface="Microsoft JhengHei" panose="020B0604030504040204" pitchFamily="34" charset="-120"/>
                          <a:cs typeface="+mn-cs"/>
                        </a:rPr>
                        <a:t>Open</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9DC3E6"/>
                    </a:solid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TBD</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2698126838"/>
                  </a:ext>
                </a:extLst>
              </a:tr>
              <a:tr h="35269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12</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Project B - AI quality inspection product in Packing station</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b="0">
                          <a:latin typeface="Microsoft JhengHei" panose="020B0604030504040204" pitchFamily="34" charset="-120"/>
                          <a:ea typeface="Microsoft JhengHei" panose="020B0604030504040204" pitchFamily="34" charset="-120"/>
                        </a:rPr>
                        <a:t>系统自动监控产品的包装流程，确保每个产品单元均按规范完成包装且组成完整</a:t>
                      </a:r>
                      <a:r>
                        <a:rPr lang="zh-CN" altLang="en-US" sz="1200" b="0" smtClean="0">
                          <a:latin typeface="Microsoft JhengHei" panose="020B0604030504040204" pitchFamily="34" charset="-120"/>
                          <a:ea typeface="Microsoft JhengHei" panose="020B0604030504040204" pitchFamily="34" charset="-120"/>
                        </a:rPr>
                        <a:t>。</a:t>
                      </a:r>
                      <a:endParaRPr lang="en-US" altLang="zh-CN" sz="1200" b="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ME</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Open</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9DC3E6"/>
                    </a:solid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TBD</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3978622441"/>
                  </a:ext>
                </a:extLst>
              </a:tr>
              <a:tr h="35269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13</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Machine Learning</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DOE-Reflow Oven</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a:latin typeface="Microsoft JhengHei" panose="020B0604030504040204" pitchFamily="34" charset="-120"/>
                          <a:ea typeface="Microsoft JhengHei" panose="020B0604030504040204" pitchFamily="34" charset="-120"/>
                        </a:rPr>
                        <a:t>开发并部署</a:t>
                      </a:r>
                      <a:r>
                        <a:rPr lang="en-US" altLang="zh-CN" sz="1200">
                          <a:latin typeface="Microsoft JhengHei" panose="020B0604030504040204" pitchFamily="34" charset="-120"/>
                          <a:ea typeface="Microsoft JhengHei" panose="020B0604030504040204" pitchFamily="34" charset="-120"/>
                        </a:rPr>
                        <a:t>AI</a:t>
                      </a:r>
                      <a:r>
                        <a:rPr lang="zh-CN" altLang="en-US" sz="1200">
                          <a:latin typeface="Microsoft JhengHei" panose="020B0604030504040204" pitchFamily="34" charset="-120"/>
                          <a:ea typeface="Microsoft JhengHei" panose="020B0604030504040204" pitchFamily="34" charset="-120"/>
                        </a:rPr>
                        <a:t>预测模型，基于</a:t>
                      </a:r>
                      <a:r>
                        <a:rPr lang="en-US" altLang="zh-CN" sz="1200">
                          <a:latin typeface="Microsoft JhengHei" panose="020B0604030504040204" pitchFamily="34" charset="-120"/>
                          <a:ea typeface="Microsoft JhengHei" panose="020B0604030504040204" pitchFamily="34" charset="-120"/>
                        </a:rPr>
                        <a:t>PCB</a:t>
                      </a:r>
                      <a:r>
                        <a:rPr lang="zh-CN" altLang="en-US" sz="1200">
                          <a:latin typeface="Microsoft JhengHei" panose="020B0604030504040204" pitchFamily="34" charset="-120"/>
                          <a:ea typeface="Microsoft JhengHei" panose="020B0604030504040204" pitchFamily="34" charset="-120"/>
                        </a:rPr>
                        <a:t>的物理及材料特性，推荐最优的回流焊炉温度曲线设置</a:t>
                      </a:r>
                      <a:r>
                        <a:rPr lang="zh-CN" altLang="en-US" sz="1200" smtClean="0">
                          <a:latin typeface="Microsoft JhengHei" panose="020B0604030504040204" pitchFamily="34" charset="-120"/>
                          <a:ea typeface="Microsoft JhengHei" panose="020B0604030504040204" pitchFamily="34" charset="-120"/>
                        </a:rPr>
                        <a:t>。</a:t>
                      </a:r>
                      <a:endParaRPr lang="en-US" altLang="zh-CN" sz="120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ME</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Ongoing</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2026/12</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1218657417"/>
                  </a:ext>
                </a:extLst>
              </a:tr>
              <a:tr h="35269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14</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LLM</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AI Smart Translation</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a:latin typeface="Microsoft JhengHei" panose="020B0604030504040204" pitchFamily="34" charset="-120"/>
                          <a:ea typeface="Microsoft JhengHei" panose="020B0604030504040204" pitchFamily="34" charset="-120"/>
                        </a:rPr>
                        <a:t>为</a:t>
                      </a:r>
                      <a:r>
                        <a:rPr lang="en-US" altLang="zh-CN" sz="1200">
                          <a:latin typeface="Microsoft JhengHei" panose="020B0604030504040204" pitchFamily="34" charset="-120"/>
                          <a:ea typeface="Microsoft JhengHei" panose="020B0604030504040204" pitchFamily="34" charset="-120"/>
                        </a:rPr>
                        <a:t>Software</a:t>
                      </a:r>
                      <a:r>
                        <a:rPr lang="zh-CN" altLang="en-US" sz="1200">
                          <a:latin typeface="Microsoft JhengHei" panose="020B0604030504040204" pitchFamily="34" charset="-120"/>
                          <a:ea typeface="Microsoft JhengHei" panose="020B0604030504040204" pitchFamily="34" charset="-120"/>
                        </a:rPr>
                        <a:t>部门提供</a:t>
                      </a:r>
                      <a:r>
                        <a:rPr lang="en-US" altLang="zh-CN" sz="1200">
                          <a:latin typeface="Microsoft JhengHei" panose="020B0604030504040204" pitchFamily="34" charset="-120"/>
                          <a:ea typeface="Microsoft JhengHei" panose="020B0604030504040204" pitchFamily="34" charset="-120"/>
                        </a:rPr>
                        <a:t>API</a:t>
                      </a:r>
                      <a:r>
                        <a:rPr lang="zh-CN" altLang="en-US" sz="1200">
                          <a:latin typeface="Microsoft JhengHei" panose="020B0604030504040204" pitchFamily="34" charset="-120"/>
                          <a:ea typeface="Microsoft JhengHei" panose="020B0604030504040204" pitchFamily="34" charset="-120"/>
                        </a:rPr>
                        <a:t>接口，实现越南语、英语及中文之间的文本自动翻译功能</a:t>
                      </a:r>
                      <a:r>
                        <a:rPr lang="zh-CN" altLang="en-US" sz="1200" smtClean="0">
                          <a:latin typeface="Microsoft JhengHei" panose="020B0604030504040204" pitchFamily="34" charset="-120"/>
                          <a:ea typeface="Microsoft JhengHei" panose="020B0604030504040204" pitchFamily="34" charset="-120"/>
                        </a:rPr>
                        <a:t>。</a:t>
                      </a:r>
                      <a:endParaRPr lang="en-US" altLang="zh-CN" sz="120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QA</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AI</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Ongoing</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2026/11</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3714759274"/>
                  </a:ext>
                </a:extLst>
              </a:tr>
              <a:tr h="352692">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15</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vMerge="1">
                  <a:txBody>
                    <a:bodyPr/>
                    <a:lstStyle/>
                    <a:p>
                      <a:pPr algn="l"/>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All Field</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Microsoft JhengHei" panose="020B0604030504040204" pitchFamily="34" charset="-120"/>
                          <a:ea typeface="Microsoft JhengHei" panose="020B0604030504040204" pitchFamily="34" charset="-120"/>
                        </a:rPr>
                        <a:t>Maintain all AI software</a:t>
                      </a: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zh-CN" altLang="en-US" sz="1200">
                          <a:latin typeface="Microsoft JhengHei" panose="020B0604030504040204" pitchFamily="34" charset="-120"/>
                          <a:ea typeface="Microsoft JhengHei" panose="020B0604030504040204" pitchFamily="34" charset="-120"/>
                        </a:rPr>
                        <a:t>负责已开发软件的维护与运行，确保系统持续稳定、准确地满足实际应用需求</a:t>
                      </a:r>
                      <a:r>
                        <a:rPr lang="zh-CN" altLang="en-US" sz="1200" smtClean="0">
                          <a:latin typeface="Microsoft JhengHei" panose="020B0604030504040204" pitchFamily="34" charset="-120"/>
                          <a:ea typeface="Microsoft JhengHei" panose="020B0604030504040204" pitchFamily="34" charset="-120"/>
                        </a:rPr>
                        <a:t>。</a:t>
                      </a:r>
                      <a:endParaRPr lang="en-US" altLang="zh-CN" sz="1200">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a:r>
                        <a:rPr lang="en-US" sz="1200" b="0">
                          <a:solidFill>
                            <a:schemeClr val="tx1"/>
                          </a:solidFill>
                          <a:latin typeface="Microsoft JhengHei" panose="020B0604030504040204" pitchFamily="34" charset="-120"/>
                          <a:ea typeface="Microsoft JhengHei" panose="020B0604030504040204" pitchFamily="34" charset="-120"/>
                        </a:rPr>
                        <a:t>All User</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icrosoft JhengHei" panose="020B0604030504040204" pitchFamily="34" charset="-120"/>
                          <a:ea typeface="Microsoft JhengHei" panose="020B0604030504040204" pitchFamily="34" charset="-120"/>
                          <a:cs typeface="+mn-cs"/>
                        </a:rPr>
                        <a:t>AI</a:t>
                      </a:r>
                      <a:endParaRPr kumimoji="0" lang="en-US" sz="12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ctr"/>
                      <a:r>
                        <a:rPr lang="en-US" sz="1200" b="0">
                          <a:solidFill>
                            <a:schemeClr val="tx1"/>
                          </a:solidFill>
                          <a:latin typeface="Microsoft JhengHei" panose="020B0604030504040204" pitchFamily="34" charset="-120"/>
                          <a:ea typeface="Microsoft JhengHei" panose="020B0604030504040204" pitchFamily="34" charset="-120"/>
                        </a:rPr>
                        <a:t>Ongoing</a:t>
                      </a:r>
                      <a:endParaRPr lang="en-US" sz="1200" b="0" dirty="0">
                        <a:solidFill>
                          <a:schemeClr val="tx1"/>
                        </a:solidFill>
                        <a:latin typeface="Microsoft JhengHei" panose="020B0604030504040204" pitchFamily="34" charset="-120"/>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1200" b="0" smtClean="0">
                          <a:solidFill>
                            <a:schemeClr val="tx1"/>
                          </a:solidFill>
                          <a:latin typeface="Microsoft JhengHei" panose="020B0604030504040204" pitchFamily="34" charset="-120"/>
                          <a:ea typeface="Microsoft JhengHei" panose="020B0604030504040204" pitchFamily="34" charset="-120"/>
                        </a:rPr>
                        <a:t>2026/12</a:t>
                      </a:r>
                      <a:endParaRPr lang="vi-VN" sz="1200" b="0" dirty="0">
                        <a:solidFill>
                          <a:schemeClr val="tx1"/>
                        </a:solidFill>
                        <a:ea typeface="Microsoft JhengHei" panose="020B0604030504040204" pitchFamily="34" charset="-120"/>
                      </a:endParaRPr>
                    </a:p>
                  </a:txBody>
                  <a:tcPr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586496396"/>
                  </a:ext>
                </a:extLst>
              </a:tr>
            </a:tbl>
          </a:graphicData>
        </a:graphic>
      </p:graphicFrame>
    </p:spTree>
    <p:extLst>
      <p:ext uri="{BB962C8B-B14F-4D97-AF65-F5344CB8AC3E}">
        <p14:creationId xmlns:p14="http://schemas.microsoft.com/office/powerpoint/2010/main" val="21574229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F9F36-CDE4-56D1-878A-C632EFEE2A38}"/>
            </a:ext>
          </a:extLst>
        </p:cNvPr>
        <p:cNvGrpSpPr/>
        <p:nvPr/>
      </p:nvGrpSpPr>
      <p:grpSpPr>
        <a:xfrm>
          <a:off x="0" y="0"/>
          <a:ext cx="0" cy="0"/>
          <a:chOff x="0" y="0"/>
          <a:chExt cx="0" cy="0"/>
        </a:xfrm>
      </p:grpSpPr>
      <p:graphicFrame>
        <p:nvGraphicFramePr>
          <p:cNvPr id="2" name="表格 6">
            <a:extLst>
              <a:ext uri="{FF2B5EF4-FFF2-40B4-BE49-F238E27FC236}">
                <a16:creationId xmlns:a16="http://schemas.microsoft.com/office/drawing/2014/main" id="{F458161B-EDBF-2930-890F-8CFDC0E1608F}"/>
              </a:ext>
            </a:extLst>
          </p:cNvPr>
          <p:cNvGraphicFramePr>
            <a:graphicFrameLocks noGrp="1"/>
          </p:cNvGraphicFramePr>
          <p:nvPr>
            <p:extLst>
              <p:ext uri="{D42A27DB-BD31-4B8C-83A1-F6EECF244321}">
                <p14:modId xmlns:p14="http://schemas.microsoft.com/office/powerpoint/2010/main" val="786838898"/>
              </p:ext>
            </p:extLst>
          </p:nvPr>
        </p:nvGraphicFramePr>
        <p:xfrm>
          <a:off x="346280" y="1591061"/>
          <a:ext cx="11556400" cy="2268337"/>
        </p:xfrm>
        <a:graphic>
          <a:graphicData uri="http://schemas.openxmlformats.org/drawingml/2006/table">
            <a:tbl>
              <a:tblPr>
                <a:tableStyleId>{69CF1AB2-1976-4502-BF36-3FF5EA218861}</a:tableStyleId>
              </a:tblPr>
              <a:tblGrid>
                <a:gridCol w="1415637">
                  <a:extLst>
                    <a:ext uri="{9D8B030D-6E8A-4147-A177-3AD203B41FA5}">
                      <a16:colId xmlns:a16="http://schemas.microsoft.com/office/drawing/2014/main" val="2530618275"/>
                    </a:ext>
                  </a:extLst>
                </a:gridCol>
                <a:gridCol w="4338179">
                  <a:extLst>
                    <a:ext uri="{9D8B030D-6E8A-4147-A177-3AD203B41FA5}">
                      <a16:colId xmlns:a16="http://schemas.microsoft.com/office/drawing/2014/main" val="526501027"/>
                    </a:ext>
                  </a:extLst>
                </a:gridCol>
                <a:gridCol w="5802584">
                  <a:extLst>
                    <a:ext uri="{9D8B030D-6E8A-4147-A177-3AD203B41FA5}">
                      <a16:colId xmlns:a16="http://schemas.microsoft.com/office/drawing/2014/main" val="2050026107"/>
                    </a:ext>
                  </a:extLst>
                </a:gridCol>
              </a:tblGrid>
              <a:tr h="241051">
                <a:tc>
                  <a:txBody>
                    <a:bodyPr/>
                    <a:lstStyle/>
                    <a:p>
                      <a:pPr algn="ctr" rtl="0" fontAlgn="ctr"/>
                      <a:r>
                        <a:rPr lang="en-US" sz="1200" b="0" i="0" u="none" strike="noStrike" dirty="0">
                          <a:solidFill>
                            <a:srgbClr val="000000"/>
                          </a:solidFill>
                          <a:effectLst/>
                          <a:latin typeface="Microsoft JhengHei" panose="020B0604030504040204" pitchFamily="34" charset="-120"/>
                          <a:ea typeface="Microsoft JhengHei" panose="020B0604030504040204" pitchFamily="34" charset="-120"/>
                        </a:rPr>
                        <a:t>Team</a:t>
                      </a:r>
                    </a:p>
                  </a:txBody>
                  <a:tcPr marL="7620" marR="7620" marT="7620" marB="0"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66D9FF"/>
                    </a:solidFill>
                  </a:tcPr>
                </a:tc>
                <a:tc>
                  <a:txBody>
                    <a:bodyPr/>
                    <a:lstStyle/>
                    <a:p>
                      <a:pPr algn="ctr" rtl="0" fontAlgn="ctr"/>
                      <a:r>
                        <a:rPr lang="en-US" altLang="zh-TW" sz="1200" b="0" i="0" u="none" strike="noStrike" dirty="0">
                          <a:solidFill>
                            <a:srgbClr val="000000"/>
                          </a:solidFill>
                          <a:effectLst/>
                          <a:latin typeface="Microsoft JhengHei" panose="020B0604030504040204" pitchFamily="34" charset="-120"/>
                          <a:ea typeface="Microsoft JhengHei" panose="020B0604030504040204" pitchFamily="34" charset="-120"/>
                        </a:rPr>
                        <a:t>Content</a:t>
                      </a:r>
                    </a:p>
                  </a:txBody>
                  <a:tcPr marL="7620" marR="7620" marT="7620" marB="0"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66D9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200" u="none" strike="noStrike" kern="1200" dirty="0">
                          <a:solidFill>
                            <a:schemeClr val="dk1"/>
                          </a:solidFill>
                          <a:effectLst/>
                          <a:latin typeface="Microsoft JhengHei" panose="020B0604030504040204" pitchFamily="34" charset="-120"/>
                          <a:ea typeface="Microsoft JhengHei" panose="020B0604030504040204" pitchFamily="34" charset="-120"/>
                          <a:cs typeface="+mn-cs"/>
                        </a:rPr>
                        <a:t>Answer</a:t>
                      </a:r>
                      <a:endParaRPr lang="zh-TW" altLang="en-US" sz="1200" u="none" strike="noStrike" kern="1200" dirty="0">
                        <a:solidFill>
                          <a:schemeClr val="dk1"/>
                        </a:solidFill>
                        <a:effectLst/>
                        <a:latin typeface="Microsoft JhengHei" panose="020B0604030504040204" pitchFamily="34" charset="-120"/>
                        <a:ea typeface="Microsoft JhengHei" panose="020B0604030504040204" pitchFamily="34" charset="-120"/>
                        <a:cs typeface="+mn-cs"/>
                      </a:endParaRPr>
                    </a:p>
                  </a:txBody>
                  <a:tcPr marL="7620" marR="7620" marT="7620" marB="0"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solidFill>
                      <a:srgbClr val="66D9FF"/>
                    </a:solidFill>
                  </a:tcPr>
                </a:tc>
                <a:extLst>
                  <a:ext uri="{0D108BD9-81ED-4DB2-BD59-A6C34878D82A}">
                    <a16:rowId xmlns:a16="http://schemas.microsoft.com/office/drawing/2014/main" val="1914157263"/>
                  </a:ext>
                </a:extLst>
              </a:tr>
              <a:tr h="2027286">
                <a:tc>
                  <a:txBody>
                    <a:bodyPr/>
                    <a:lstStyle/>
                    <a:p>
                      <a:pPr algn="ctr" fontAlgn="ctr"/>
                      <a:r>
                        <a:rPr lang="en-US" sz="1200">
                          <a:latin typeface="Microsoft JhengHei" panose="020B0604030504040204" pitchFamily="34" charset="-120"/>
                          <a:ea typeface="Microsoft JhengHei" panose="020B0604030504040204" pitchFamily="34" charset="-120"/>
                        </a:rPr>
                        <a:t>AI </a:t>
                      </a:r>
                      <a:r>
                        <a:rPr lang="en-US" sz="1200" smtClean="0">
                          <a:latin typeface="Microsoft JhengHei" panose="020B0604030504040204" pitchFamily="34" charset="-120"/>
                          <a:ea typeface="Microsoft JhengHei" panose="020B0604030504040204" pitchFamily="34" charset="-120"/>
                        </a:rPr>
                        <a:t>Team</a:t>
                      </a:r>
                      <a:endParaRPr lang="en-US" sz="1200">
                        <a:latin typeface="Microsoft JhengHei" panose="020B0604030504040204" pitchFamily="34" charset="-120"/>
                        <a:ea typeface="Microsoft JhengHei" panose="020B0604030504040204" pitchFamily="34" charset="-120"/>
                      </a:endParaRPr>
                    </a:p>
                  </a:txBody>
                  <a:tcPr marL="7620" marR="7620" marT="7620" marB="0"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algn="l" fontAlgn="ct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用戶問題描述</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 Case 9 SMT</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智能编程软件</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1.</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依據程式撰寫步驟給出每一步的可行性分析</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2.</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完成版程式以</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CRB</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格式呈現，程式信息正確率</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100%</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，包含</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BOM</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料號、位置、</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X</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Y</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Z</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、極性、拼版信息、</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MARK</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點、區域座標、</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PD</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庫、</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PD</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影像并可導入</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NPM DGS</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進行二次工時優化，</a:t>
                      </a:r>
                      <a:r>
                        <a:rPr lang="en-US" altLang="zh-TW" sz="1200" b="0" i="0" u="none" strike="noStrike" smtClean="0">
                          <a:solidFill>
                            <a:srgbClr val="000000"/>
                          </a:solidFill>
                          <a:effectLst/>
                          <a:latin typeface="Microsoft JhengHei" panose="020B0604030504040204" pitchFamily="34" charset="-120"/>
                          <a:ea typeface="Microsoft JhengHei" panose="020B0604030504040204" pitchFamily="34" charset="-120"/>
                        </a:rPr>
                        <a:t>NPM</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機台識別程式信息，</a:t>
                      </a:r>
                    </a:p>
                  </a:txBody>
                  <a:tcPr marL="7620" marR="7620" marT="7620" marB="0"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200" b="0" smtClean="0">
                          <a:solidFill>
                            <a:schemeClr val="tx1"/>
                          </a:solidFill>
                          <a:latin typeface="Microsoft JhengHei" panose="020B0604030504040204" pitchFamily="34" charset="-120"/>
                          <a:ea typeface="Microsoft JhengHei" panose="020B0604030504040204" pitchFamily="34" charset="-120"/>
                        </a:rPr>
                        <a:t>詳情</a:t>
                      </a:r>
                      <a:r>
                        <a:rPr lang="en-US" altLang="zh-CN" sz="1200" b="0" smtClean="0">
                          <a:solidFill>
                            <a:schemeClr val="tx1"/>
                          </a:solidFill>
                          <a:latin typeface="Microsoft JhengHei" panose="020B0604030504040204" pitchFamily="34" charset="-120"/>
                          <a:ea typeface="Microsoft JhengHei" panose="020B0604030504040204" pitchFamily="34" charset="-120"/>
                        </a:rPr>
                        <a:t>: </a:t>
                      </a:r>
                      <a:r>
                        <a:rPr lang="en-US" altLang="zh-TW" sz="1200" b="0" smtClean="0">
                          <a:solidFill>
                            <a:schemeClr val="tx1"/>
                          </a:solidFill>
                          <a:latin typeface="Microsoft JhengHei" panose="020B0604030504040204" pitchFamily="34" charset="-120"/>
                          <a:ea typeface="Microsoft JhengHei" panose="020B0604030504040204" pitchFamily="34" charset="-120"/>
                        </a:rPr>
                        <a:t>Because it will cost too much time labors cost, in the other hand there are too many users want the similar solutions. Please submit AI labors quotation to the Esign system to start the project. We will review review and research it after Esign approve</a:t>
                      </a:r>
                    </a:p>
                  </a:txBody>
                  <a:tcPr marL="7620" marR="7620" marT="7620" marB="0" anchor="ctr">
                    <a:lnL w="12700" cap="flat" cmpd="sng" algn="ctr">
                      <a:solidFill>
                        <a:srgbClr val="33CCFF"/>
                      </a:solidFill>
                      <a:prstDash val="solid"/>
                      <a:round/>
                      <a:headEnd type="none" w="med" len="med"/>
                      <a:tailEnd type="none" w="med" len="med"/>
                    </a:lnL>
                    <a:lnR w="12700" cap="flat" cmpd="sng" algn="ctr">
                      <a:solidFill>
                        <a:srgbClr val="33CCFF"/>
                      </a:solidFill>
                      <a:prstDash val="solid"/>
                      <a:round/>
                      <a:headEnd type="none" w="med" len="med"/>
                      <a:tailEnd type="none" w="med" len="med"/>
                    </a:lnR>
                    <a:lnT w="12700" cap="flat" cmpd="sng" algn="ctr">
                      <a:solidFill>
                        <a:srgbClr val="33CCFF"/>
                      </a:solidFill>
                      <a:prstDash val="solid"/>
                      <a:round/>
                      <a:headEnd type="none" w="med" len="med"/>
                      <a:tailEnd type="none" w="med" len="med"/>
                    </a:lnT>
                    <a:lnB w="12700" cap="flat" cmpd="sng" algn="ctr">
                      <a:solidFill>
                        <a:srgbClr val="33CCFF"/>
                      </a:solidFill>
                      <a:prstDash val="solid"/>
                      <a:round/>
                      <a:headEnd type="none" w="med" len="med"/>
                      <a:tailEnd type="none" w="med" len="med"/>
                    </a:lnB>
                    <a:noFill/>
                  </a:tcPr>
                </a:tc>
                <a:extLst>
                  <a:ext uri="{0D108BD9-81ED-4DB2-BD59-A6C34878D82A}">
                    <a16:rowId xmlns:a16="http://schemas.microsoft.com/office/drawing/2014/main" val="1897064569"/>
                  </a:ext>
                </a:extLst>
              </a:tr>
            </a:tbl>
          </a:graphicData>
        </a:graphic>
      </p:graphicFrame>
      <p:sp>
        <p:nvSpPr>
          <p:cNvPr id="4" name="TextBox 3">
            <a:extLst>
              <a:ext uri="{FF2B5EF4-FFF2-40B4-BE49-F238E27FC236}">
                <a16:creationId xmlns:a16="http://schemas.microsoft.com/office/drawing/2014/main" id="{E618CC5A-EBE6-63EB-257B-224FCDBD867D}"/>
              </a:ext>
            </a:extLst>
          </p:cNvPr>
          <p:cNvSpPr txBox="1"/>
          <p:nvPr/>
        </p:nvSpPr>
        <p:spPr>
          <a:xfrm flipH="1">
            <a:off x="531160" y="427761"/>
            <a:ext cx="5451080" cy="523220"/>
          </a:xfrm>
          <a:prstGeom prst="rect">
            <a:avLst/>
          </a:prstGeom>
          <a:noFill/>
        </p:spPr>
        <p:txBody>
          <a:bodyPr wrap="square" rtlCol="0">
            <a:spAutoFit/>
          </a:bodyPr>
          <a:lstStyle/>
          <a:p>
            <a:pPr>
              <a:buClr>
                <a:srgbClr val="406196"/>
              </a:buClr>
            </a:pPr>
            <a:r>
              <a:rPr lang="en-US" altLang="zh-TW" sz="2800" dirty="0">
                <a:solidFill>
                  <a:srgbClr val="000000"/>
                </a:solidFill>
                <a:latin typeface="Microsoft JhengHei" panose="020B0604030504040204" pitchFamily="34" charset="-120"/>
                <a:ea typeface="Microsoft JhengHei" panose="020B0604030504040204" pitchFamily="34" charset="-120"/>
              </a:rPr>
              <a:t>Meeting topic reply</a:t>
            </a:r>
            <a:endParaRPr lang="zh-TW" altLang="en-US" sz="2800" dirty="0">
              <a:solidFill>
                <a:srgbClr val="000000"/>
              </a:solidFill>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28059538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b="9170"/>
          <a:stretch/>
        </p:blipFill>
        <p:spPr>
          <a:xfrm>
            <a:off x="0" y="131128"/>
            <a:ext cx="11988799" cy="6361111"/>
          </a:xfrm>
          <a:prstGeom prst="rect">
            <a:avLst/>
          </a:prstGeom>
        </p:spPr>
      </p:pic>
    </p:spTree>
    <p:extLst>
      <p:ext uri="{BB962C8B-B14F-4D97-AF65-F5344CB8AC3E}">
        <p14:creationId xmlns:p14="http://schemas.microsoft.com/office/powerpoint/2010/main" val="2456370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34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6F9F36-CDE4-56D1-878A-C632EFEE2A38}"/>
            </a:ext>
          </a:extLst>
        </p:cNvPr>
        <p:cNvGrpSpPr/>
        <p:nvPr/>
      </p:nvGrpSpPr>
      <p:grpSpPr>
        <a:xfrm>
          <a:off x="0" y="0"/>
          <a:ext cx="0" cy="0"/>
          <a:chOff x="0" y="0"/>
          <a:chExt cx="0" cy="0"/>
        </a:xfrm>
      </p:grpSpPr>
      <p:graphicFrame>
        <p:nvGraphicFramePr>
          <p:cNvPr id="2" name="表格 6">
            <a:extLst>
              <a:ext uri="{FF2B5EF4-FFF2-40B4-BE49-F238E27FC236}">
                <a16:creationId xmlns:a16="http://schemas.microsoft.com/office/drawing/2014/main" id="{F458161B-EDBF-2930-890F-8CFDC0E1608F}"/>
              </a:ext>
            </a:extLst>
          </p:cNvPr>
          <p:cNvGraphicFramePr>
            <a:graphicFrameLocks noGrp="1"/>
          </p:cNvGraphicFramePr>
          <p:nvPr>
            <p:extLst>
              <p:ext uri="{D42A27DB-BD31-4B8C-83A1-F6EECF244321}">
                <p14:modId xmlns:p14="http://schemas.microsoft.com/office/powerpoint/2010/main" val="2939924848"/>
              </p:ext>
            </p:extLst>
          </p:nvPr>
        </p:nvGraphicFramePr>
        <p:xfrm>
          <a:off x="317800" y="950981"/>
          <a:ext cx="11556400" cy="2991871"/>
        </p:xfrm>
        <a:graphic>
          <a:graphicData uri="http://schemas.openxmlformats.org/drawingml/2006/table">
            <a:tbl>
              <a:tblPr>
                <a:tableStyleId>{69CF1AB2-1976-4502-BF36-3FF5EA218861}</a:tableStyleId>
              </a:tblPr>
              <a:tblGrid>
                <a:gridCol w="1415637">
                  <a:extLst>
                    <a:ext uri="{9D8B030D-6E8A-4147-A177-3AD203B41FA5}">
                      <a16:colId xmlns:a16="http://schemas.microsoft.com/office/drawing/2014/main" val="2530618275"/>
                    </a:ext>
                  </a:extLst>
                </a:gridCol>
                <a:gridCol w="4338179">
                  <a:extLst>
                    <a:ext uri="{9D8B030D-6E8A-4147-A177-3AD203B41FA5}">
                      <a16:colId xmlns:a16="http://schemas.microsoft.com/office/drawing/2014/main" val="526501027"/>
                    </a:ext>
                  </a:extLst>
                </a:gridCol>
                <a:gridCol w="5802584">
                  <a:extLst>
                    <a:ext uri="{9D8B030D-6E8A-4147-A177-3AD203B41FA5}">
                      <a16:colId xmlns:a16="http://schemas.microsoft.com/office/drawing/2014/main" val="2050026107"/>
                    </a:ext>
                  </a:extLst>
                </a:gridCol>
              </a:tblGrid>
              <a:tr h="241051">
                <a:tc>
                  <a:txBody>
                    <a:bodyPr/>
                    <a:lstStyle/>
                    <a:p>
                      <a:pPr algn="ctr" rtl="0" fontAlgn="ctr"/>
                      <a:r>
                        <a:rPr lang="en-US" sz="1200" b="0" i="0" u="none" strike="noStrike" dirty="0">
                          <a:solidFill>
                            <a:srgbClr val="000000"/>
                          </a:solidFill>
                          <a:effectLst/>
                          <a:latin typeface="Microsoft JhengHei" panose="020B0604030504040204" pitchFamily="34" charset="-120"/>
                          <a:ea typeface="Microsoft JhengHei" panose="020B0604030504040204" pitchFamily="34" charset="-120"/>
                        </a:rPr>
                        <a:t>Team</a:t>
                      </a:r>
                    </a:p>
                  </a:txBody>
                  <a:tcPr marL="7620" marR="7620" marT="7620" marB="0" anchor="ctr">
                    <a:solidFill>
                      <a:schemeClr val="accent1">
                        <a:lumMod val="40000"/>
                        <a:lumOff val="60000"/>
                      </a:schemeClr>
                    </a:solidFill>
                  </a:tcPr>
                </a:tc>
                <a:tc>
                  <a:txBody>
                    <a:bodyPr/>
                    <a:lstStyle/>
                    <a:p>
                      <a:pPr algn="ctr" rtl="0" fontAlgn="ctr"/>
                      <a:r>
                        <a:rPr lang="en-US" altLang="zh-TW" sz="1200" b="0" i="0" u="none" strike="noStrike" dirty="0">
                          <a:solidFill>
                            <a:srgbClr val="000000"/>
                          </a:solidFill>
                          <a:effectLst/>
                          <a:latin typeface="Microsoft JhengHei" panose="020B0604030504040204" pitchFamily="34" charset="-120"/>
                          <a:ea typeface="Microsoft JhengHei" panose="020B0604030504040204" pitchFamily="34" charset="-120"/>
                        </a:rPr>
                        <a:t>Content</a:t>
                      </a:r>
                    </a:p>
                  </a:txBody>
                  <a:tcPr marL="7620" marR="7620" marT="7620" marB="0" anchor="ctr">
                    <a:solidFill>
                      <a:schemeClr val="accent1">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200" u="none" strike="noStrike" kern="1200" dirty="0">
                          <a:solidFill>
                            <a:schemeClr val="dk1"/>
                          </a:solidFill>
                          <a:effectLst/>
                          <a:latin typeface="Microsoft JhengHei" panose="020B0604030504040204" pitchFamily="34" charset="-120"/>
                          <a:ea typeface="Microsoft JhengHei" panose="020B0604030504040204" pitchFamily="34" charset="-120"/>
                          <a:cs typeface="+mn-cs"/>
                        </a:rPr>
                        <a:t>Answer</a:t>
                      </a:r>
                      <a:endParaRPr lang="zh-TW" altLang="en-US" sz="1200" u="none" strike="noStrike" kern="1200" dirty="0">
                        <a:solidFill>
                          <a:schemeClr val="dk1"/>
                        </a:solidFill>
                        <a:effectLst/>
                        <a:latin typeface="Microsoft JhengHei" panose="020B0604030504040204" pitchFamily="34" charset="-120"/>
                        <a:ea typeface="Microsoft JhengHei" panose="020B0604030504040204" pitchFamily="34" charset="-120"/>
                        <a:cs typeface="+mn-cs"/>
                      </a:endParaRPr>
                    </a:p>
                  </a:txBody>
                  <a:tcPr marL="7620" marR="7620" marT="7620" marB="0" anchor="ctr">
                    <a:solidFill>
                      <a:schemeClr val="accent1">
                        <a:lumMod val="40000"/>
                        <a:lumOff val="60000"/>
                      </a:schemeClr>
                    </a:solidFill>
                  </a:tcPr>
                </a:tc>
                <a:extLst>
                  <a:ext uri="{0D108BD9-81ED-4DB2-BD59-A6C34878D82A}">
                    <a16:rowId xmlns:a16="http://schemas.microsoft.com/office/drawing/2014/main" val="1914157263"/>
                  </a:ext>
                </a:extLst>
              </a:tr>
              <a:tr h="2027286">
                <a:tc>
                  <a:txBody>
                    <a:bodyPr/>
                    <a:lstStyle/>
                    <a:p>
                      <a:pPr algn="ctr" fontAlgn="ctr"/>
                      <a:r>
                        <a:rPr lang="en-US" sz="1200">
                          <a:latin typeface="Microsoft JhengHei" panose="020B0604030504040204" pitchFamily="34" charset="-120"/>
                          <a:ea typeface="Microsoft JhengHei" panose="020B0604030504040204" pitchFamily="34" charset="-120"/>
                        </a:rPr>
                        <a:t>AI Team</a:t>
                      </a:r>
                    </a:p>
                    <a:p>
                      <a:pPr algn="ctr" fontAlgn="ct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 CBD security team</a:t>
                      </a:r>
                      <a:endParaRPr lang="en-US" altLang="zh-TW" sz="1200" b="0" i="0" u="none" strike="noStrike" dirty="0">
                        <a:solidFill>
                          <a:srgbClr val="000000"/>
                        </a:solidFill>
                        <a:effectLst/>
                        <a:latin typeface="Microsoft JhengHei" panose="020B0604030504040204" pitchFamily="34" charset="-120"/>
                        <a:ea typeface="Microsoft JhengHei" panose="020B0604030504040204" pitchFamily="34" charset="-120"/>
                      </a:endParaRPr>
                    </a:p>
                  </a:txBody>
                  <a:tcPr marL="7620" marR="7620" marT="7620" marB="0" anchor="ctr">
                    <a:noFill/>
                  </a:tcPr>
                </a:tc>
                <a:tc>
                  <a:txBody>
                    <a:bodyPr/>
                    <a:lstStyle/>
                    <a:p>
                      <a:pPr algn="l" fontAlgn="ct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1.BBS</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巡檢開發停止原因</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:4/1</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晚上</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B09-2FIT</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机房警报问题</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,AI</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排查结果</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 CPEGIICAI</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的</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2</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台</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Server</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未见异常且已关闭</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360 IP CAM AI</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系统，并对</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server</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做断电处理。但为保险起见，</a:t>
                      </a: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360IP CAM</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将暂停服务。</a:t>
                      </a: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p>
                      <a:pPr algn="l" fontAlgn="ct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p>
                      <a:pPr algn="l" fontAlgn="ct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2.</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列出廠商需要提供的安全驗證文件</a:t>
                      </a: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p>
                      <a:pPr algn="l" fontAlgn="ct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p>
                      <a:pPr algn="l" fontAlgn="ct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3.</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郵件推動廠商儘快給出安全認證</a:t>
                      </a: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p>
                      <a:pPr algn="l" fontAlgn="ct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p>
                      <a:pPr algn="l" fontAlgn="ctr"/>
                      <a:r>
                        <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rPr>
                        <a:t>4.</a:t>
                      </a:r>
                      <a:r>
                        <a:rPr lang="zh-TW" altLang="en-US" sz="1200" b="0" i="0" u="none" strike="noStrike">
                          <a:solidFill>
                            <a:srgbClr val="000000"/>
                          </a:solidFill>
                          <a:effectLst/>
                          <a:latin typeface="Microsoft JhengHei" panose="020B0604030504040204" pitchFamily="34" charset="-120"/>
                          <a:ea typeface="Microsoft JhengHei" panose="020B0604030504040204" pitchFamily="34" charset="-120"/>
                        </a:rPr>
                        <a:t>確認認證無問題，專案啟</a:t>
                      </a:r>
                      <a:r>
                        <a:rPr lang="zh-TW" altLang="en-US" sz="1200" b="0" i="0" u="none" strike="noStrike" smtClean="0">
                          <a:solidFill>
                            <a:srgbClr val="000000"/>
                          </a:solidFill>
                          <a:effectLst/>
                          <a:latin typeface="Microsoft JhengHei" panose="020B0604030504040204" pitchFamily="34" charset="-120"/>
                          <a:ea typeface="Microsoft JhengHei" panose="020B0604030504040204" pitchFamily="34" charset="-120"/>
                        </a:rPr>
                        <a:t>動</a:t>
                      </a:r>
                      <a:endParaRPr lang="en-US" altLang="zh-TW" sz="12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7620" marR="7620" marT="7620" marB="0" anchor="c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200"/>
                        <a:t>关于供应商来</a:t>
                      </a:r>
                      <a:r>
                        <a:rPr lang="en-US" altLang="zh-CN" sz="1200"/>
                        <a:t>Fii</a:t>
                      </a:r>
                      <a:r>
                        <a:rPr lang="zh-CN" altLang="en-US" sz="1200"/>
                        <a:t>富联厂区检修，报告须包含如下內容，且除了越南文版外，至少须附有中文版或英文版：</a:t>
                      </a: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200"/>
                        <a:t> </a:t>
                      </a:r>
                      <a:r>
                        <a:rPr lang="en-US" altLang="zh-CN" sz="1200"/>
                        <a:t>1.</a:t>
                      </a:r>
                      <a:r>
                        <a:rPr lang="zh-CN" altLang="en-US" sz="1200"/>
                        <a:t>故障分析報告，包含</a:t>
                      </a:r>
                      <a:r>
                        <a:rPr lang="en-US" altLang="zh-CN" sz="1200"/>
                        <a:t>GPU</a:t>
                      </a:r>
                      <a:r>
                        <a:rPr lang="zh-CN" altLang="en-US" sz="1200"/>
                        <a:t>烧毁原因分析和实验验证报告。如果烧毁责任在厂商，则厂商须分析具体原因，且免费更换同型号新</a:t>
                      </a:r>
                      <a:r>
                        <a:rPr lang="en-US" altLang="zh-CN" sz="1200"/>
                        <a:t>GPU</a:t>
                      </a:r>
                      <a:r>
                        <a:rPr lang="zh-CN" altLang="en-US" sz="1200"/>
                        <a:t>；如果烧毁责任在</a:t>
                      </a:r>
                      <a:r>
                        <a:rPr lang="en-US" altLang="zh-CN" sz="1200"/>
                        <a:t>Fii</a:t>
                      </a:r>
                      <a:r>
                        <a:rPr lang="zh-CN" altLang="en-US" sz="1200"/>
                        <a:t>，则厂商须提供再现实验报告，并取得</a:t>
                      </a:r>
                      <a:r>
                        <a:rPr lang="en-US" altLang="zh-CN" sz="1200"/>
                        <a:t>Fii</a:t>
                      </a:r>
                      <a:r>
                        <a:rPr lang="zh-CN" altLang="en-US" sz="1200"/>
                        <a:t>的</a:t>
                      </a:r>
                      <a:r>
                        <a:rPr lang="en-US" altLang="zh-CN" sz="1200"/>
                        <a:t>IT</a:t>
                      </a:r>
                      <a:r>
                        <a:rPr lang="zh-CN" altLang="en-US" sz="1200"/>
                        <a:t>处级主管和工务处级主管的签字认可。 </a:t>
                      </a: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a:t>2.</a:t>
                      </a:r>
                      <a:r>
                        <a:rPr lang="zh-CN" altLang="en-US" sz="1200"/>
                        <a:t>检修报告。对有异常的</a:t>
                      </a:r>
                      <a:r>
                        <a:rPr lang="en-US" altLang="zh-CN" sz="1200"/>
                        <a:t>4</a:t>
                      </a:r>
                      <a:r>
                        <a:rPr lang="zh-CN" altLang="en-US" sz="1200"/>
                        <a:t>台</a:t>
                      </a:r>
                      <a:r>
                        <a:rPr lang="en-US" altLang="zh-CN" sz="1200"/>
                        <a:t>AI</a:t>
                      </a:r>
                      <a:r>
                        <a:rPr lang="zh-CN" altLang="en-US" sz="1200"/>
                        <a:t>服务器的检修项目清单、排除再次烧毁风险的证据和检修结论。</a:t>
                      </a: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200"/>
                        <a:t> </a:t>
                      </a:r>
                      <a:r>
                        <a:rPr lang="en-US" altLang="zh-CN" sz="1200"/>
                        <a:t>3.</a:t>
                      </a:r>
                      <a:r>
                        <a:rPr lang="zh-CN" altLang="en-US" sz="1200"/>
                        <a:t>质量保证书。如果</a:t>
                      </a:r>
                      <a:r>
                        <a:rPr lang="en-US" altLang="zh-CN" sz="1200"/>
                        <a:t>4</a:t>
                      </a:r>
                      <a:r>
                        <a:rPr lang="zh-CN" altLang="en-US" sz="1200"/>
                        <a:t>台</a:t>
                      </a:r>
                      <a:r>
                        <a:rPr lang="en-US" altLang="zh-CN" sz="1200"/>
                        <a:t>AI</a:t>
                      </a:r>
                      <a:r>
                        <a:rPr lang="zh-CN" altLang="en-US" sz="1200"/>
                        <a:t>服务器检修后合格，则供应商须书面承诺若发生类似烧毁异常甚至火灾，将承担全部责任。</a:t>
                      </a: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CN" sz="1200"/>
                    </a:p>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200"/>
                        <a:t> 以上请让供应商在检修后及时提交。然后用户阿实请</a:t>
                      </a:r>
                      <a:r>
                        <a:rPr lang="en-US" altLang="zh-CN" sz="1200"/>
                        <a:t>IT</a:t>
                      </a:r>
                      <a:r>
                        <a:rPr lang="zh-CN" altLang="en-US" sz="1200"/>
                        <a:t>、工务等相关主管签核认可報告后，再重新启用检修合格的</a:t>
                      </a:r>
                      <a:r>
                        <a:rPr lang="en-US" altLang="zh-CN" sz="1200"/>
                        <a:t>AI</a:t>
                      </a:r>
                      <a:r>
                        <a:rPr lang="zh-CN" altLang="en-US" sz="1200"/>
                        <a:t>服务器。</a:t>
                      </a:r>
                      <a:endParaRPr lang="en-US" altLang="zh-TW" sz="1200" b="0" dirty="0">
                        <a:solidFill>
                          <a:schemeClr val="tx1"/>
                        </a:solidFill>
                        <a:latin typeface="Microsoft JhengHei" panose="020B0604030504040204" pitchFamily="34" charset="-120"/>
                        <a:ea typeface="Microsoft JhengHei" panose="020B0604030504040204" pitchFamily="34" charset="-120"/>
                      </a:endParaRPr>
                    </a:p>
                  </a:txBody>
                  <a:tcPr marL="7620" marR="7620" marT="7620" marB="0" anchor="ctr">
                    <a:noFill/>
                  </a:tcPr>
                </a:tc>
                <a:extLst>
                  <a:ext uri="{0D108BD9-81ED-4DB2-BD59-A6C34878D82A}">
                    <a16:rowId xmlns:a16="http://schemas.microsoft.com/office/drawing/2014/main" val="1897064569"/>
                  </a:ext>
                </a:extLst>
              </a:tr>
            </a:tbl>
          </a:graphicData>
        </a:graphic>
      </p:graphicFrame>
      <p:sp>
        <p:nvSpPr>
          <p:cNvPr id="4" name="TextBox 3">
            <a:extLst>
              <a:ext uri="{FF2B5EF4-FFF2-40B4-BE49-F238E27FC236}">
                <a16:creationId xmlns:a16="http://schemas.microsoft.com/office/drawing/2014/main" id="{E618CC5A-EBE6-63EB-257B-224FCDBD867D}"/>
              </a:ext>
            </a:extLst>
          </p:cNvPr>
          <p:cNvSpPr txBox="1"/>
          <p:nvPr/>
        </p:nvSpPr>
        <p:spPr>
          <a:xfrm flipH="1">
            <a:off x="84679" y="92313"/>
            <a:ext cx="5451080" cy="369332"/>
          </a:xfrm>
          <a:prstGeom prst="rect">
            <a:avLst/>
          </a:prstGeom>
          <a:noFill/>
        </p:spPr>
        <p:txBody>
          <a:bodyPr wrap="square" rtlCol="0">
            <a:spAutoFit/>
          </a:bodyPr>
          <a:lstStyle/>
          <a:p>
            <a:pPr>
              <a:buClr>
                <a:srgbClr val="406196"/>
              </a:buClr>
            </a:pPr>
            <a:r>
              <a:rPr lang="en-US" altLang="zh-TW" dirty="0">
                <a:solidFill>
                  <a:srgbClr val="000000"/>
                </a:solidFill>
                <a:latin typeface="Microsoft JhengHei" panose="020B0604030504040204" pitchFamily="34" charset="-120"/>
                <a:ea typeface="Microsoft JhengHei" panose="020B0604030504040204" pitchFamily="34" charset="-120"/>
              </a:rPr>
              <a:t>Meeting topic reply</a:t>
            </a:r>
            <a:endParaRPr lang="zh-TW" altLang="en-US" dirty="0">
              <a:solidFill>
                <a:srgbClr val="000000"/>
              </a:solidFill>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4130842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98BD89-FF83-8A20-0B58-17B052D25F51}"/>
              </a:ext>
            </a:extLst>
          </p:cNvPr>
          <p:cNvSpPr txBox="1"/>
          <p:nvPr/>
        </p:nvSpPr>
        <p:spPr>
          <a:xfrm>
            <a:off x="0" y="246221"/>
            <a:ext cx="9530032" cy="369332"/>
          </a:xfrm>
          <a:prstGeom prst="rect">
            <a:avLst/>
          </a:prstGeom>
          <a:noFill/>
        </p:spPr>
        <p:txBody>
          <a:bodyPr wrap="square">
            <a:spAutoFit/>
          </a:bodyPr>
          <a:lstStyle/>
          <a:p>
            <a:r>
              <a:rPr lang="en-US">
                <a:solidFill>
                  <a:srgbClr val="0000CC"/>
                </a:solidFill>
              </a:rPr>
              <a:t>The sections requiring feasibility assessment include I, III, IV, V.</a:t>
            </a:r>
          </a:p>
        </p:txBody>
      </p:sp>
      <p:pic>
        <p:nvPicPr>
          <p:cNvPr id="4" name="Hình ảnh 3">
            <a:extLst>
              <a:ext uri="{FF2B5EF4-FFF2-40B4-BE49-F238E27FC236}">
                <a16:creationId xmlns:a16="http://schemas.microsoft.com/office/drawing/2014/main" id="{9DFDDEBB-03F8-9B9C-5082-9C585685F55C}"/>
              </a:ext>
            </a:extLst>
          </p:cNvPr>
          <p:cNvPicPr>
            <a:picLocks noChangeAspect="1"/>
          </p:cNvPicPr>
          <p:nvPr/>
        </p:nvPicPr>
        <p:blipFill>
          <a:blip r:embed="rId2"/>
          <a:stretch>
            <a:fillRect/>
          </a:stretch>
        </p:blipFill>
        <p:spPr>
          <a:xfrm>
            <a:off x="0" y="992233"/>
            <a:ext cx="12192000" cy="5619546"/>
          </a:xfrm>
          <a:prstGeom prst="rect">
            <a:avLst/>
          </a:prstGeom>
          <a:ln>
            <a:solidFill>
              <a:srgbClr val="0000CC"/>
            </a:solidFill>
          </a:ln>
        </p:spPr>
      </p:pic>
      <p:sp>
        <p:nvSpPr>
          <p:cNvPr id="6" name="Hình chữ nhật 5">
            <a:extLst>
              <a:ext uri="{FF2B5EF4-FFF2-40B4-BE49-F238E27FC236}">
                <a16:creationId xmlns:a16="http://schemas.microsoft.com/office/drawing/2014/main" id="{96B9273D-9240-71A9-1019-318C469C2C35}"/>
              </a:ext>
            </a:extLst>
          </p:cNvPr>
          <p:cNvSpPr/>
          <p:nvPr/>
        </p:nvSpPr>
        <p:spPr>
          <a:xfrm>
            <a:off x="1388853" y="1423554"/>
            <a:ext cx="3001992" cy="441225"/>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ình chữ nhật 6">
            <a:extLst>
              <a:ext uri="{FF2B5EF4-FFF2-40B4-BE49-F238E27FC236}">
                <a16:creationId xmlns:a16="http://schemas.microsoft.com/office/drawing/2014/main" id="{E9311AB2-85FB-6568-D4A7-EED8DB29325D}"/>
              </a:ext>
            </a:extLst>
          </p:cNvPr>
          <p:cNvSpPr/>
          <p:nvPr/>
        </p:nvSpPr>
        <p:spPr>
          <a:xfrm>
            <a:off x="885645" y="2398338"/>
            <a:ext cx="3384430" cy="871705"/>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Hình chữ nhật 7">
            <a:extLst>
              <a:ext uri="{FF2B5EF4-FFF2-40B4-BE49-F238E27FC236}">
                <a16:creationId xmlns:a16="http://schemas.microsoft.com/office/drawing/2014/main" id="{E5AA5D5C-3536-3ACA-87C2-96A6001EF06B}"/>
              </a:ext>
            </a:extLst>
          </p:cNvPr>
          <p:cNvSpPr/>
          <p:nvPr/>
        </p:nvSpPr>
        <p:spPr>
          <a:xfrm>
            <a:off x="86264" y="3369448"/>
            <a:ext cx="4201064" cy="1427034"/>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ình chữ nhật 9">
            <a:extLst>
              <a:ext uri="{FF2B5EF4-FFF2-40B4-BE49-F238E27FC236}">
                <a16:creationId xmlns:a16="http://schemas.microsoft.com/office/drawing/2014/main" id="{D284AAB6-DEDC-3AE8-3865-10C5BAA87285}"/>
              </a:ext>
            </a:extLst>
          </p:cNvPr>
          <p:cNvSpPr/>
          <p:nvPr/>
        </p:nvSpPr>
        <p:spPr>
          <a:xfrm>
            <a:off x="362309" y="4874117"/>
            <a:ext cx="3907766" cy="1095558"/>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Box 4">
            <a:extLst>
              <a:ext uri="{FF2B5EF4-FFF2-40B4-BE49-F238E27FC236}">
                <a16:creationId xmlns:a16="http://schemas.microsoft.com/office/drawing/2014/main" id="{40F10FC0-5681-3DBE-60B3-9883E09A8BD9}"/>
              </a:ext>
            </a:extLst>
          </p:cNvPr>
          <p:cNvSpPr txBox="1"/>
          <p:nvPr/>
        </p:nvSpPr>
        <p:spPr>
          <a:xfrm>
            <a:off x="10679502" y="6611779"/>
            <a:ext cx="1512498" cy="246221"/>
          </a:xfrm>
          <a:prstGeom prst="rect">
            <a:avLst/>
          </a:prstGeom>
          <a:noFill/>
        </p:spPr>
        <p:txBody>
          <a:bodyPr wrap="square">
            <a:spAutoFit/>
          </a:bodyPr>
          <a:lstStyle/>
          <a:p>
            <a:pPr algn="ctr"/>
            <a:r>
              <a:rPr lang="en-US" sz="1000">
                <a:solidFill>
                  <a:schemeClr val="bg1"/>
                </a:solidFill>
              </a:rPr>
              <a:t>1</a:t>
            </a:r>
          </a:p>
        </p:txBody>
      </p:sp>
    </p:spTree>
    <p:extLst>
      <p:ext uri="{BB962C8B-B14F-4D97-AF65-F5344CB8AC3E}">
        <p14:creationId xmlns:p14="http://schemas.microsoft.com/office/powerpoint/2010/main" val="3732761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76129" y="0"/>
            <a:ext cx="9070848" cy="365760"/>
          </a:xfrm>
          <a:prstGeom prst="rect">
            <a:avLst/>
          </a:prstGeom>
          <a:noFill/>
          <a:ln/>
        </p:spPr>
        <p:txBody>
          <a:bodyPr wrap="square" lIns="0" tIns="0" rIns="0" bIns="0" rtlCol="0" anchor="ctr">
            <a:noAutofit/>
          </a:bodyPr>
          <a:lstStyle/>
          <a:p>
            <a:r>
              <a:rPr lang="en-US" dirty="0">
                <a:solidFill>
                  <a:srgbClr val="1F33FF"/>
                </a:solidFill>
                <a:latin typeface="Microsoft JhengHei" panose="020B0604030504040204" pitchFamily="34" charset="-120"/>
                <a:ea typeface="Microsoft JhengHei" panose="020B0604030504040204" pitchFamily="34" charset="-120"/>
                <a:cs typeface="Arial" pitchFamily="34" charset="-120"/>
              </a:rPr>
              <a:t>1. SMT Programming Requirement Assessment: Technical Feasibility Evaluation</a:t>
            </a:r>
            <a:endParaRPr lang="en-US" dirty="0">
              <a:latin typeface="Microsoft JhengHei" panose="020B0604030504040204" pitchFamily="34" charset="-120"/>
              <a:ea typeface="Microsoft JhengHei" panose="020B0604030504040204" pitchFamily="34" charset="-120"/>
            </a:endParaRPr>
          </a:p>
        </p:txBody>
      </p:sp>
      <p:sp>
        <p:nvSpPr>
          <p:cNvPr id="3" name="Shape 1"/>
          <p:cNvSpPr/>
          <p:nvPr/>
        </p:nvSpPr>
        <p:spPr>
          <a:xfrm>
            <a:off x="557841" y="475488"/>
            <a:ext cx="96012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4" name="Text 2"/>
          <p:cNvSpPr/>
          <p:nvPr/>
        </p:nvSpPr>
        <p:spPr>
          <a:xfrm>
            <a:off x="603561" y="530352"/>
            <a:ext cx="868680" cy="420624"/>
          </a:xfrm>
          <a:prstGeom prst="rect">
            <a:avLst/>
          </a:prstGeom>
          <a:noFill/>
          <a:ln/>
        </p:spPr>
        <p:txBody>
          <a:bodyPr wrap="square" lIns="0" tIns="0" rIns="0" bIns="0" rtlCol="0" anchor="ctr">
            <a:normAutofit/>
          </a:bodyPr>
          <a:lstStyle/>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Steps</a:t>
            </a:r>
            <a:endParaRPr lang="en-US" sz="1100" dirty="0">
              <a:latin typeface="Microsoft JhengHei" panose="020B0604030504040204" pitchFamily="34" charset="-120"/>
              <a:ea typeface="Microsoft JhengHei" panose="020B0604030504040204" pitchFamily="34" charset="-120"/>
            </a:endParaRPr>
          </a:p>
        </p:txBody>
      </p:sp>
      <p:sp>
        <p:nvSpPr>
          <p:cNvPr id="5" name="Shape 3"/>
          <p:cNvSpPr/>
          <p:nvPr/>
        </p:nvSpPr>
        <p:spPr>
          <a:xfrm>
            <a:off x="1517961" y="475488"/>
            <a:ext cx="30632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6" name="Text 4"/>
          <p:cNvSpPr/>
          <p:nvPr/>
        </p:nvSpPr>
        <p:spPr>
          <a:xfrm>
            <a:off x="1563681" y="530352"/>
            <a:ext cx="2971800" cy="420624"/>
          </a:xfrm>
          <a:prstGeom prst="rect">
            <a:avLst/>
          </a:prstGeom>
          <a:noFill/>
          <a:ln/>
        </p:spPr>
        <p:txBody>
          <a:bodyPr wrap="square" lIns="0" tIns="0" rIns="0" bIns="0" rtlCol="0" anchor="ctr">
            <a:normAutofit/>
          </a:bodyPr>
          <a:lstStyle/>
          <a:p>
            <a:pPr algn="ctr"/>
            <a:r>
              <a:rPr lang="en-US" sz="1100" b="1">
                <a:solidFill>
                  <a:srgbClr val="FFFFFF"/>
                </a:solidFill>
                <a:latin typeface="Microsoft JhengHei" panose="020B0604030504040204" pitchFamily="34" charset="-120"/>
                <a:ea typeface="Microsoft JhengHei" panose="020B0604030504040204" pitchFamily="34" charset="-120"/>
                <a:cs typeface="Arial" pitchFamily="34" charset="-120"/>
              </a:rPr>
              <a:t>Illustration </a:t>
            </a: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Images</a:t>
            </a:r>
            <a:endParaRPr lang="en-US" sz="1100" dirty="0">
              <a:latin typeface="Microsoft JhengHei" panose="020B0604030504040204" pitchFamily="34" charset="-120"/>
              <a:ea typeface="Microsoft JhengHei" panose="020B0604030504040204" pitchFamily="34" charset="-120"/>
            </a:endParaRPr>
          </a:p>
        </p:txBody>
      </p:sp>
      <p:sp>
        <p:nvSpPr>
          <p:cNvPr id="7" name="Shape 5"/>
          <p:cNvSpPr/>
          <p:nvPr/>
        </p:nvSpPr>
        <p:spPr>
          <a:xfrm>
            <a:off x="4581201" y="475488"/>
            <a:ext cx="12344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8" name="Text 6"/>
          <p:cNvSpPr/>
          <p:nvPr/>
        </p:nvSpPr>
        <p:spPr>
          <a:xfrm>
            <a:off x="4581201" y="475488"/>
            <a:ext cx="1234440" cy="530352"/>
          </a:xfrm>
          <a:prstGeom prst="rect">
            <a:avLst/>
          </a:prstGeom>
          <a:noFill/>
          <a:ln/>
        </p:spPr>
        <p:txBody>
          <a:bodyPr wrap="square" lIns="0" tIns="0" rIns="0" bIns="0" rtlCol="0" anchor="ctr">
            <a:normAutofit/>
          </a:bodyPr>
          <a:lstStyle/>
          <a:p>
            <a:pPr algn="ctr"/>
            <a:r>
              <a:rPr lang="en-US" sz="1100" b="1">
                <a:solidFill>
                  <a:srgbClr val="FFFFFF"/>
                </a:solidFill>
                <a:latin typeface="Microsoft JhengHei" panose="020B0604030504040204" pitchFamily="34" charset="-120"/>
                <a:ea typeface="Microsoft JhengHei" panose="020B0604030504040204" pitchFamily="34" charset="-120"/>
                <a:cs typeface="Arial" pitchFamily="34" charset="-120"/>
              </a:rPr>
              <a:t>Manual operation by ME-SMT Engineers</a:t>
            </a:r>
          </a:p>
        </p:txBody>
      </p:sp>
      <p:sp>
        <p:nvSpPr>
          <p:cNvPr id="9" name="Shape 7"/>
          <p:cNvSpPr/>
          <p:nvPr/>
        </p:nvSpPr>
        <p:spPr>
          <a:xfrm>
            <a:off x="5815641" y="475488"/>
            <a:ext cx="12344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1" name="Shape 9"/>
          <p:cNvSpPr/>
          <p:nvPr/>
        </p:nvSpPr>
        <p:spPr>
          <a:xfrm>
            <a:off x="7050081" y="475488"/>
            <a:ext cx="7772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2" name="Text 10"/>
          <p:cNvSpPr/>
          <p:nvPr/>
        </p:nvSpPr>
        <p:spPr>
          <a:xfrm>
            <a:off x="7095801" y="530352"/>
            <a:ext cx="685800" cy="420624"/>
          </a:xfrm>
          <a:prstGeom prst="rect">
            <a:avLst/>
          </a:prstGeom>
          <a:noFill/>
          <a:ln/>
        </p:spPr>
        <p:txBody>
          <a:bodyPr wrap="square" lIns="0" tIns="0" rIns="0" bIns="0" rtlCol="0" anchor="ctr">
            <a:normAutofit/>
          </a:bodyPr>
          <a:lstStyle/>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Technical</a:t>
            </a:r>
            <a:endParaRPr lang="en-US" sz="1100" dirty="0">
              <a:latin typeface="Microsoft JhengHei" panose="020B0604030504040204" pitchFamily="34" charset="-120"/>
              <a:ea typeface="Microsoft JhengHei" panose="020B0604030504040204" pitchFamily="34" charset="-120"/>
            </a:endParaRPr>
          </a:p>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Feasibility</a:t>
            </a:r>
            <a:endParaRPr lang="en-US" sz="1100" dirty="0">
              <a:latin typeface="Microsoft JhengHei" panose="020B0604030504040204" pitchFamily="34" charset="-120"/>
              <a:ea typeface="Microsoft JhengHei" panose="020B0604030504040204" pitchFamily="34" charset="-120"/>
            </a:endParaRPr>
          </a:p>
        </p:txBody>
      </p:sp>
      <p:sp>
        <p:nvSpPr>
          <p:cNvPr id="13" name="Shape 11"/>
          <p:cNvSpPr/>
          <p:nvPr/>
        </p:nvSpPr>
        <p:spPr>
          <a:xfrm>
            <a:off x="7827321" y="475488"/>
            <a:ext cx="187452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4" name="Text 12"/>
          <p:cNvSpPr/>
          <p:nvPr/>
        </p:nvSpPr>
        <p:spPr>
          <a:xfrm>
            <a:off x="7873041" y="530352"/>
            <a:ext cx="1783080" cy="420624"/>
          </a:xfrm>
          <a:prstGeom prst="rect">
            <a:avLst/>
          </a:prstGeom>
          <a:noFill/>
          <a:ln/>
        </p:spPr>
        <p:txBody>
          <a:bodyPr wrap="square" lIns="0" tIns="0" rIns="0" bIns="0" rtlCol="0" anchor="ctr">
            <a:normAutofit/>
          </a:bodyPr>
          <a:lstStyle/>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Prerequisites</a:t>
            </a:r>
            <a:endParaRPr lang="en-US" sz="1100" dirty="0">
              <a:latin typeface="Microsoft JhengHei" panose="020B0604030504040204" pitchFamily="34" charset="-120"/>
              <a:ea typeface="Microsoft JhengHei" panose="020B0604030504040204" pitchFamily="34" charset="-120"/>
            </a:endParaRPr>
          </a:p>
        </p:txBody>
      </p:sp>
      <p:sp>
        <p:nvSpPr>
          <p:cNvPr id="15" name="Shape 13"/>
          <p:cNvSpPr/>
          <p:nvPr/>
        </p:nvSpPr>
        <p:spPr>
          <a:xfrm>
            <a:off x="557841" y="1005840"/>
            <a:ext cx="96012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6" name="Text 14"/>
          <p:cNvSpPr/>
          <p:nvPr/>
        </p:nvSpPr>
        <p:spPr>
          <a:xfrm>
            <a:off x="594417" y="1060704"/>
            <a:ext cx="886968" cy="279806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I. BOM</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Data</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Organization</a:t>
            </a:r>
            <a:endParaRPr lang="en-US" sz="1100" dirty="0">
              <a:latin typeface="Microsoft JhengHei" panose="020B0604030504040204" pitchFamily="34" charset="-120"/>
              <a:ea typeface="Microsoft JhengHei" panose="020B0604030504040204" pitchFamily="34" charset="-120"/>
            </a:endParaRPr>
          </a:p>
        </p:txBody>
      </p:sp>
      <p:sp>
        <p:nvSpPr>
          <p:cNvPr id="17" name="Shape 15"/>
          <p:cNvSpPr/>
          <p:nvPr/>
        </p:nvSpPr>
        <p:spPr>
          <a:xfrm>
            <a:off x="1517961" y="1005840"/>
            <a:ext cx="3063240" cy="2907792"/>
          </a:xfrm>
          <a:prstGeom prst="rect">
            <a:avLst/>
          </a:prstGeom>
          <a:solidFill>
            <a:srgbClr val="F1F1F1"/>
          </a:solidFill>
          <a:ln w="12700">
            <a:solidFill>
              <a:srgbClr val="222222"/>
            </a:solidFill>
            <a:prstDash val="solid"/>
          </a:ln>
        </p:spPr>
        <p:txBody>
          <a:bodyPr/>
          <a:lstStyle/>
          <a:p>
            <a:endParaRPr lang="en-US" sz="1100" dirty="0">
              <a:latin typeface="Microsoft JhengHei" panose="020B0604030504040204" pitchFamily="34" charset="-120"/>
              <a:ea typeface="Microsoft JhengHei" panose="020B0604030504040204" pitchFamily="34" charset="-120"/>
            </a:endParaRPr>
          </a:p>
        </p:txBody>
      </p:sp>
      <p:sp>
        <p:nvSpPr>
          <p:cNvPr id="19" name="Text 16"/>
          <p:cNvSpPr/>
          <p:nvPr/>
        </p:nvSpPr>
        <p:spPr>
          <a:xfrm>
            <a:off x="1591113" y="3712464"/>
            <a:ext cx="2916936" cy="128016"/>
          </a:xfrm>
          <a:prstGeom prst="rect">
            <a:avLst/>
          </a:prstGeom>
          <a:noFill/>
          <a:ln/>
        </p:spPr>
        <p:txBody>
          <a:bodyPr wrap="square" lIns="0" tIns="0" rIns="0" bIns="0" rtlCol="0" anchor="ctr">
            <a:noAutofit/>
          </a:bodyPr>
          <a:lstStyle/>
          <a:p>
            <a:pPr algn="ctr"/>
            <a:r>
              <a:rPr lang="en-US" sz="1100" i="1" dirty="0">
                <a:solidFill>
                  <a:srgbClr val="555555"/>
                </a:solidFill>
                <a:latin typeface="Microsoft JhengHei" panose="020B0604030504040204" pitchFamily="34" charset="-120"/>
                <a:ea typeface="Microsoft JhengHei" panose="020B0604030504040204" pitchFamily="34" charset="-120"/>
                <a:cs typeface="Arial" pitchFamily="34" charset="-120"/>
              </a:rPr>
              <a:t>NPI p9 + p10</a:t>
            </a:r>
            <a:endParaRPr lang="en-US" sz="1100" dirty="0">
              <a:latin typeface="Microsoft JhengHei" panose="020B0604030504040204" pitchFamily="34" charset="-120"/>
              <a:ea typeface="Microsoft JhengHei" panose="020B0604030504040204" pitchFamily="34" charset="-120"/>
            </a:endParaRPr>
          </a:p>
        </p:txBody>
      </p:sp>
      <p:sp>
        <p:nvSpPr>
          <p:cNvPr id="20" name="Shape 17"/>
          <p:cNvSpPr/>
          <p:nvPr/>
        </p:nvSpPr>
        <p:spPr>
          <a:xfrm>
            <a:off x="4581201" y="1005840"/>
            <a:ext cx="12344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1" name="Text 18"/>
          <p:cNvSpPr/>
          <p:nvPr/>
        </p:nvSpPr>
        <p:spPr>
          <a:xfrm>
            <a:off x="4654353" y="1078992"/>
            <a:ext cx="1088136" cy="2761488"/>
          </a:xfrm>
          <a:prstGeom prst="rect">
            <a:avLst/>
          </a:prstGeom>
          <a:noFill/>
          <a:ln/>
        </p:spPr>
        <p:txBody>
          <a:bodyPr wrap="square" lIns="0" tIns="0" rIns="0" bIns="0" rtlCol="0" anchor="ctr">
            <a:normAutofit fontScale="92500"/>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Split BOM / ITEM by required format;</a:t>
            </a:r>
          </a:p>
          <a:p>
            <a:pPr marL="228600" indent="-228600">
              <a:buFont typeface="+mj-lt"/>
              <a:buAutoNum type="arabicPeriod"/>
            </a:pPr>
            <a:endPar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Create BOM Convert;</a:t>
            </a:r>
          </a:p>
          <a:p>
            <a:pPr marL="228600" indent="-228600">
              <a:buFont typeface="+mj-lt"/>
              <a:buAutoNum type="arabicPeriod"/>
            </a:pPr>
            <a:endPar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Filter primary vs secondary rows;</a:t>
            </a:r>
          </a:p>
          <a:p>
            <a:pPr marL="228600" indent="-228600">
              <a:buFont typeface="+mj-lt"/>
              <a:buAutoNum type="arabicPeriod"/>
            </a:pPr>
            <a:endPar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Use VLOOKUP to map mount-point names &amp; export TXT;</a:t>
            </a:r>
            <a:endParaRPr lang="en-US" sz="1100" dirty="0">
              <a:latin typeface="Microsoft JhengHei" panose="020B0604030504040204" pitchFamily="34" charset="-120"/>
              <a:ea typeface="Microsoft JhengHei" panose="020B0604030504040204" pitchFamily="34" charset="-120"/>
            </a:endParaRPr>
          </a:p>
        </p:txBody>
      </p:sp>
      <p:sp>
        <p:nvSpPr>
          <p:cNvPr id="22" name="Shape 19"/>
          <p:cNvSpPr/>
          <p:nvPr/>
        </p:nvSpPr>
        <p:spPr>
          <a:xfrm>
            <a:off x="5815641" y="1005840"/>
            <a:ext cx="12344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3" name="Text 20"/>
          <p:cNvSpPr/>
          <p:nvPr/>
        </p:nvSpPr>
        <p:spPr>
          <a:xfrm>
            <a:off x="5888793" y="1078992"/>
            <a:ext cx="1088136" cy="2761488"/>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Develop BOM parser, </a:t>
            </a:r>
          </a:p>
          <a:p>
            <a:pPr marL="228600" indent="-228600">
              <a:buFont typeface="+mj-lt"/>
              <a:buAutoNum type="arabicPeriod"/>
            </a:pPr>
            <a:endPar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Format normalizer,</a:t>
            </a:r>
          </a:p>
          <a:p>
            <a:pPr marL="228600" indent="-228600">
              <a:buFont typeface="+mj-lt"/>
              <a:buAutoNum type="arabicPeriod"/>
            </a:pPr>
            <a:endPar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Mount-point mapping, </a:t>
            </a:r>
          </a:p>
          <a:p>
            <a:pPr marL="228600" indent="-228600">
              <a:buFont typeface="+mj-lt"/>
              <a:buAutoNum type="arabicPeriod"/>
            </a:pPr>
            <a:endPar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Pre-check engine for later program generation.</a:t>
            </a:r>
            <a:endParaRPr lang="en-US" sz="1100" dirty="0">
              <a:latin typeface="Microsoft JhengHei" panose="020B0604030504040204" pitchFamily="34" charset="-120"/>
              <a:ea typeface="Microsoft JhengHei" panose="020B0604030504040204" pitchFamily="34" charset="-120"/>
            </a:endParaRPr>
          </a:p>
        </p:txBody>
      </p:sp>
      <p:sp>
        <p:nvSpPr>
          <p:cNvPr id="24" name="Shape 21"/>
          <p:cNvSpPr/>
          <p:nvPr/>
        </p:nvSpPr>
        <p:spPr>
          <a:xfrm>
            <a:off x="7050081" y="1005840"/>
            <a:ext cx="7772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5" name="Text 22"/>
          <p:cNvSpPr/>
          <p:nvPr/>
        </p:nvSpPr>
        <p:spPr>
          <a:xfrm>
            <a:off x="7114089" y="1060704"/>
            <a:ext cx="649224" cy="279806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Feasible</a:t>
            </a:r>
            <a:endParaRPr lang="en-US" sz="1100" dirty="0">
              <a:latin typeface="Microsoft JhengHei" panose="020B0604030504040204" pitchFamily="34" charset="-120"/>
              <a:ea typeface="Microsoft JhengHei" panose="020B0604030504040204" pitchFamily="34" charset="-120"/>
            </a:endParaRPr>
          </a:p>
        </p:txBody>
      </p:sp>
      <p:sp>
        <p:nvSpPr>
          <p:cNvPr id="26" name="Shape 23"/>
          <p:cNvSpPr/>
          <p:nvPr/>
        </p:nvSpPr>
        <p:spPr>
          <a:xfrm>
            <a:off x="7827321" y="1005840"/>
            <a:ext cx="1874520" cy="2907792"/>
          </a:xfrm>
          <a:prstGeom prst="rect">
            <a:avLst/>
          </a:prstGeom>
          <a:solidFill>
            <a:srgbClr val="FFF200"/>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7" name="Text 24"/>
          <p:cNvSpPr/>
          <p:nvPr/>
        </p:nvSpPr>
        <p:spPr>
          <a:xfrm>
            <a:off x="7900473" y="1078992"/>
            <a:ext cx="1728216" cy="2761488"/>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Clean BOM / ITEM field names.</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Access to Fox PDM export.</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Main / substitute-part rules agreed.</a:t>
            </a:r>
            <a:endParaRPr lang="en-US" sz="1100" dirty="0">
              <a:latin typeface="Microsoft JhengHei" panose="020B0604030504040204" pitchFamily="34" charset="-120"/>
              <a:ea typeface="Microsoft JhengHei" panose="020B0604030504040204" pitchFamily="34" charset="-120"/>
            </a:endParaRPr>
          </a:p>
        </p:txBody>
      </p:sp>
      <p:sp>
        <p:nvSpPr>
          <p:cNvPr id="28" name="Shape 25"/>
          <p:cNvSpPr/>
          <p:nvPr/>
        </p:nvSpPr>
        <p:spPr>
          <a:xfrm>
            <a:off x="557841" y="3913632"/>
            <a:ext cx="960120" cy="2623638"/>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9" name="Text 26"/>
          <p:cNvSpPr/>
          <p:nvPr/>
        </p:nvSpPr>
        <p:spPr>
          <a:xfrm>
            <a:off x="594417" y="3968496"/>
            <a:ext cx="886968" cy="2524633"/>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III. Gerber File</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Organization /</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Processing</a:t>
            </a:r>
            <a:endParaRPr lang="en-US" sz="1100" dirty="0">
              <a:latin typeface="Microsoft JhengHei" panose="020B0604030504040204" pitchFamily="34" charset="-120"/>
              <a:ea typeface="Microsoft JhengHei" panose="020B0604030504040204" pitchFamily="34" charset="-120"/>
            </a:endParaRPr>
          </a:p>
        </p:txBody>
      </p:sp>
      <p:sp>
        <p:nvSpPr>
          <p:cNvPr id="30" name="Shape 27"/>
          <p:cNvSpPr/>
          <p:nvPr/>
        </p:nvSpPr>
        <p:spPr>
          <a:xfrm>
            <a:off x="1517961" y="3913632"/>
            <a:ext cx="3063240" cy="2623638"/>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pic>
        <p:nvPicPr>
          <p:cNvPr id="31" name="Image 1" descr="/mnt/data/ppt_assets/step3_gerber.jpg"/>
          <p:cNvPicPr>
            <a:picLocks noChangeAspect="1"/>
          </p:cNvPicPr>
          <p:nvPr/>
        </p:nvPicPr>
        <p:blipFill>
          <a:blip r:embed="rId3"/>
          <a:stretch>
            <a:fillRect/>
          </a:stretch>
        </p:blipFill>
        <p:spPr>
          <a:xfrm>
            <a:off x="1563681" y="4848673"/>
            <a:ext cx="2971800" cy="854830"/>
          </a:xfrm>
          <a:prstGeom prst="rect">
            <a:avLst/>
          </a:prstGeom>
        </p:spPr>
      </p:pic>
      <p:sp>
        <p:nvSpPr>
          <p:cNvPr id="32" name="Text 28"/>
          <p:cNvSpPr/>
          <p:nvPr/>
        </p:nvSpPr>
        <p:spPr>
          <a:xfrm>
            <a:off x="1641405" y="6315398"/>
            <a:ext cx="2916936" cy="128016"/>
          </a:xfrm>
          <a:prstGeom prst="rect">
            <a:avLst/>
          </a:prstGeom>
          <a:noFill/>
          <a:ln/>
        </p:spPr>
        <p:txBody>
          <a:bodyPr wrap="square" lIns="0" tIns="0" rIns="0" bIns="0" rtlCol="0" anchor="ctr">
            <a:noAutofit/>
          </a:bodyPr>
          <a:lstStyle/>
          <a:p>
            <a:pPr algn="ctr"/>
            <a:r>
              <a:rPr lang="en-US" sz="1100" i="1" dirty="0">
                <a:solidFill>
                  <a:srgbClr val="555555"/>
                </a:solidFill>
                <a:latin typeface="Microsoft JhengHei" panose="020B0604030504040204" pitchFamily="34" charset="-120"/>
                <a:ea typeface="Microsoft JhengHei" panose="020B0604030504040204" pitchFamily="34" charset="-120"/>
                <a:cs typeface="Arial" pitchFamily="34" charset="-120"/>
              </a:rPr>
              <a:t>NPI p3 + p6</a:t>
            </a:r>
            <a:endParaRPr lang="en-US" sz="1100" dirty="0">
              <a:latin typeface="Microsoft JhengHei" panose="020B0604030504040204" pitchFamily="34" charset="-120"/>
              <a:ea typeface="Microsoft JhengHei" panose="020B0604030504040204" pitchFamily="34" charset="-120"/>
            </a:endParaRPr>
          </a:p>
        </p:txBody>
      </p:sp>
      <p:sp>
        <p:nvSpPr>
          <p:cNvPr id="33" name="Shape 29"/>
          <p:cNvSpPr/>
          <p:nvPr/>
        </p:nvSpPr>
        <p:spPr>
          <a:xfrm>
            <a:off x="4581201" y="3913632"/>
            <a:ext cx="1234440" cy="2623638"/>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34" name="Text 30"/>
          <p:cNvSpPr/>
          <p:nvPr/>
        </p:nvSpPr>
        <p:spPr>
          <a:xfrm>
            <a:off x="4654353" y="3986784"/>
            <a:ext cx="1088136" cy="2491631"/>
          </a:xfrm>
          <a:prstGeom prst="rect">
            <a:avLst/>
          </a:prstGeom>
          <a:noFill/>
          <a:ln/>
        </p:spPr>
        <p:txBody>
          <a:bodyPr wrap="square" lIns="0" tIns="0" rIns="0" bIns="0" rtlCol="0" anchor="ctr">
            <a:normAutofit fontScale="92500" lnSpcReduction="10000"/>
          </a:bodyPr>
          <a:lstStyle/>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Import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ODB++ into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CAM350.</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Export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B-side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DXF.</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Mirror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BOT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direction.</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Mark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reference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points &amp;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calculate Mark / Block / Mack coordinates.</a:t>
            </a:r>
            <a:endParaRPr lang="en-US" sz="1100" dirty="0">
              <a:latin typeface="Microsoft JhengHei" panose="020B0604030504040204" pitchFamily="34" charset="-120"/>
              <a:ea typeface="Microsoft JhengHei" panose="020B0604030504040204" pitchFamily="34" charset="-120"/>
            </a:endParaRPr>
          </a:p>
        </p:txBody>
      </p:sp>
      <p:sp>
        <p:nvSpPr>
          <p:cNvPr id="35" name="Shape 31"/>
          <p:cNvSpPr/>
          <p:nvPr/>
        </p:nvSpPr>
        <p:spPr>
          <a:xfrm>
            <a:off x="5815641" y="3913632"/>
            <a:ext cx="1234440" cy="2623638"/>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36" name="Text 32"/>
          <p:cNvSpPr/>
          <p:nvPr/>
        </p:nvSpPr>
        <p:spPr>
          <a:xfrm>
            <a:off x="5888793" y="3986784"/>
            <a:ext cx="1088136" cy="2491631"/>
          </a:xfrm>
          <a:prstGeom prst="rect">
            <a:avLst/>
          </a:prstGeom>
          <a:noFill/>
          <a:ln/>
        </p:spPr>
        <p:txBody>
          <a:bodyPr wrap="square" lIns="0" tIns="0" rIns="0" bIns="0" rtlCol="0" anchor="ctr">
            <a:normAutofit lnSpcReduction="10000"/>
          </a:bodyPr>
          <a:lstStyle/>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Develop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CAM/Gerber parser</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Side-orientation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logic</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Reference-point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extraction</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Coordinate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pre-processing.</a:t>
            </a:r>
            <a:endParaRPr lang="en-US" sz="1100" dirty="0">
              <a:latin typeface="Microsoft JhengHei" panose="020B0604030504040204" pitchFamily="34" charset="-120"/>
              <a:ea typeface="Microsoft JhengHei" panose="020B0604030504040204" pitchFamily="34" charset="-120"/>
            </a:endParaRPr>
          </a:p>
        </p:txBody>
      </p:sp>
      <p:sp>
        <p:nvSpPr>
          <p:cNvPr id="37" name="Shape 33"/>
          <p:cNvSpPr/>
          <p:nvPr/>
        </p:nvSpPr>
        <p:spPr>
          <a:xfrm>
            <a:off x="7050081" y="3913632"/>
            <a:ext cx="777240" cy="2623638"/>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38" name="Text 34"/>
          <p:cNvSpPr/>
          <p:nvPr/>
        </p:nvSpPr>
        <p:spPr>
          <a:xfrm>
            <a:off x="7114089" y="3968496"/>
            <a:ext cx="649224" cy="256877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Feasible</a:t>
            </a:r>
            <a:endParaRPr lang="en-US" sz="1100" dirty="0">
              <a:latin typeface="Microsoft JhengHei" panose="020B0604030504040204" pitchFamily="34" charset="-120"/>
              <a:ea typeface="Microsoft JhengHei" panose="020B0604030504040204" pitchFamily="34" charset="-120"/>
            </a:endParaRPr>
          </a:p>
        </p:txBody>
      </p:sp>
      <p:sp>
        <p:nvSpPr>
          <p:cNvPr id="39" name="Shape 35"/>
          <p:cNvSpPr/>
          <p:nvPr/>
        </p:nvSpPr>
        <p:spPr>
          <a:xfrm>
            <a:off x="7827321" y="3913632"/>
            <a:ext cx="1874520" cy="2623638"/>
          </a:xfrm>
          <a:prstGeom prst="rect">
            <a:avLst/>
          </a:prstGeom>
          <a:solidFill>
            <a:srgbClr val="FFF200"/>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40" name="Text 36"/>
          <p:cNvSpPr/>
          <p:nvPr/>
        </p:nvSpPr>
        <p:spPr>
          <a:xfrm>
            <a:off x="7900473" y="3986784"/>
            <a:ext cx="1728216" cy="2550486"/>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ODB++ / DXF files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available.</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Fixed board-side naming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rules.</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Reference-point selection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rule st&amp;ardized</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a:t>
            </a:r>
            <a:endParaRPr lang="en-US" sz="1100" dirty="0">
              <a:latin typeface="Microsoft JhengHei" panose="020B0604030504040204" pitchFamily="34" charset="-120"/>
              <a:ea typeface="Microsoft JhengHei" panose="020B0604030504040204" pitchFamily="34" charset="-120"/>
            </a:endParaRPr>
          </a:p>
        </p:txBody>
      </p:sp>
      <p:pic>
        <p:nvPicPr>
          <p:cNvPr id="18" name="Image 0" descr="/mnt/data/ppt_assets/step1_bom.jpg"/>
          <p:cNvPicPr>
            <a:picLocks noChangeAspect="1"/>
          </p:cNvPicPr>
          <p:nvPr/>
        </p:nvPicPr>
        <p:blipFill>
          <a:blip r:embed="rId4"/>
          <a:stretch>
            <a:fillRect/>
          </a:stretch>
        </p:blipFill>
        <p:spPr>
          <a:xfrm>
            <a:off x="1563681" y="1940881"/>
            <a:ext cx="2971800" cy="854830"/>
          </a:xfrm>
          <a:prstGeom prst="rect">
            <a:avLst/>
          </a:prstGeom>
        </p:spPr>
      </p:pic>
      <p:sp>
        <p:nvSpPr>
          <p:cNvPr id="41" name="Text 8">
            <a:extLst>
              <a:ext uri="{FF2B5EF4-FFF2-40B4-BE49-F238E27FC236}">
                <a16:creationId xmlns:a16="http://schemas.microsoft.com/office/drawing/2014/main" id="{964B098D-0C34-819F-E010-6A7D25374037}"/>
              </a:ext>
            </a:extLst>
          </p:cNvPr>
          <p:cNvSpPr/>
          <p:nvPr/>
        </p:nvSpPr>
        <p:spPr>
          <a:xfrm>
            <a:off x="5815641" y="475488"/>
            <a:ext cx="1234440" cy="530352"/>
          </a:xfrm>
          <a:prstGeom prst="rect">
            <a:avLst/>
          </a:prstGeom>
          <a:noFill/>
          <a:ln/>
        </p:spPr>
        <p:txBody>
          <a:bodyPr wrap="square" lIns="0" tIns="0" rIns="0" bIns="0" rtlCol="0" anchor="ctr">
            <a:normAutofit/>
          </a:bodyPr>
          <a:lstStyle/>
          <a:p>
            <a:pPr algn="ctr"/>
            <a:r>
              <a:rPr lang="en-US" sz="1100" b="1">
                <a:solidFill>
                  <a:srgbClr val="FFFFFF"/>
                </a:solidFill>
                <a:latin typeface="Microsoft JhengHei" panose="020B0604030504040204" pitchFamily="34" charset="-120"/>
                <a:ea typeface="Microsoft JhengHei" panose="020B0604030504040204" pitchFamily="34" charset="-120"/>
                <a:cs typeface="Arial" pitchFamily="34" charset="-120"/>
              </a:rPr>
              <a:t>Should be Automated by system </a:t>
            </a:r>
            <a:endParaRPr lang="en-US" sz="1100" dirty="0">
              <a:latin typeface="Microsoft JhengHei" panose="020B0604030504040204" pitchFamily="34" charset="-120"/>
              <a:ea typeface="Microsoft JhengHei" panose="020B0604030504040204" pitchFamily="34" charset="-120"/>
            </a:endParaRPr>
          </a:p>
        </p:txBody>
      </p:sp>
      <p:sp>
        <p:nvSpPr>
          <p:cNvPr id="10" name="TextBox 4">
            <a:extLst>
              <a:ext uri="{FF2B5EF4-FFF2-40B4-BE49-F238E27FC236}">
                <a16:creationId xmlns:a16="http://schemas.microsoft.com/office/drawing/2014/main" id="{F7836A34-ABAB-E10C-FEF2-FFD681E6A0AF}"/>
              </a:ext>
            </a:extLst>
          </p:cNvPr>
          <p:cNvSpPr txBox="1"/>
          <p:nvPr/>
        </p:nvSpPr>
        <p:spPr>
          <a:xfrm>
            <a:off x="10679502" y="6611779"/>
            <a:ext cx="1512498" cy="246221"/>
          </a:xfrm>
          <a:prstGeom prst="rect">
            <a:avLst/>
          </a:prstGeom>
          <a:noFill/>
        </p:spPr>
        <p:txBody>
          <a:bodyPr wrap="square">
            <a:spAutoFit/>
          </a:bodyPr>
          <a:lstStyle/>
          <a:p>
            <a:pPr algn="ctr"/>
            <a:r>
              <a:rPr lang="en-US" sz="1000">
                <a:solidFill>
                  <a:schemeClr val="bg1"/>
                </a:solidFill>
              </a:rPr>
              <a:t>2</a:t>
            </a:r>
          </a:p>
        </p:txBody>
      </p:sp>
    </p:spTree>
    <p:extLst>
      <p:ext uri="{BB962C8B-B14F-4D97-AF65-F5344CB8AC3E}">
        <p14:creationId xmlns:p14="http://schemas.microsoft.com/office/powerpoint/2010/main" val="2851044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67503" y="0"/>
            <a:ext cx="9070848" cy="365760"/>
          </a:xfrm>
          <a:prstGeom prst="rect">
            <a:avLst/>
          </a:prstGeom>
          <a:noFill/>
          <a:ln/>
        </p:spPr>
        <p:txBody>
          <a:bodyPr wrap="square" lIns="0" tIns="0" rIns="0" bIns="0" rtlCol="0" anchor="ctr">
            <a:noAutofit/>
          </a:bodyPr>
          <a:lstStyle/>
          <a:p>
            <a:r>
              <a:rPr lang="en-US" dirty="0">
                <a:solidFill>
                  <a:srgbClr val="1F33FF"/>
                </a:solidFill>
                <a:latin typeface="Microsoft JhengHei" panose="020B0604030504040204" pitchFamily="34" charset="-120"/>
                <a:ea typeface="Microsoft JhengHei" panose="020B0604030504040204" pitchFamily="34" charset="-120"/>
                <a:cs typeface="Arial" pitchFamily="34" charset="-120"/>
              </a:rPr>
              <a:t>1. SMT Programming Requirement Assessment: Technical Feasibility Evaluation</a:t>
            </a:r>
            <a:endParaRPr lang="en-US" dirty="0">
              <a:latin typeface="Microsoft JhengHei" panose="020B0604030504040204" pitchFamily="34" charset="-120"/>
              <a:ea typeface="Microsoft JhengHei" panose="020B0604030504040204" pitchFamily="34" charset="-120"/>
            </a:endParaRPr>
          </a:p>
        </p:txBody>
      </p:sp>
      <p:sp>
        <p:nvSpPr>
          <p:cNvPr id="3" name="Shape 1"/>
          <p:cNvSpPr/>
          <p:nvPr/>
        </p:nvSpPr>
        <p:spPr>
          <a:xfrm>
            <a:off x="549215" y="475488"/>
            <a:ext cx="96012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4" name="Text 2"/>
          <p:cNvSpPr/>
          <p:nvPr/>
        </p:nvSpPr>
        <p:spPr>
          <a:xfrm>
            <a:off x="594935" y="530352"/>
            <a:ext cx="868680" cy="420624"/>
          </a:xfrm>
          <a:prstGeom prst="rect">
            <a:avLst/>
          </a:prstGeom>
          <a:noFill/>
          <a:ln/>
        </p:spPr>
        <p:txBody>
          <a:bodyPr wrap="square" lIns="0" tIns="0" rIns="0" bIns="0" rtlCol="0" anchor="ctr">
            <a:normAutofit/>
          </a:bodyPr>
          <a:lstStyle/>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Steps</a:t>
            </a:r>
            <a:endParaRPr lang="en-US" sz="1100" dirty="0">
              <a:latin typeface="Microsoft JhengHei" panose="020B0604030504040204" pitchFamily="34" charset="-120"/>
              <a:ea typeface="Microsoft JhengHei" panose="020B0604030504040204" pitchFamily="34" charset="-120"/>
            </a:endParaRPr>
          </a:p>
        </p:txBody>
      </p:sp>
      <p:sp>
        <p:nvSpPr>
          <p:cNvPr id="5" name="Shape 3"/>
          <p:cNvSpPr/>
          <p:nvPr/>
        </p:nvSpPr>
        <p:spPr>
          <a:xfrm>
            <a:off x="1509335" y="475488"/>
            <a:ext cx="30632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6" name="Text 4"/>
          <p:cNvSpPr/>
          <p:nvPr/>
        </p:nvSpPr>
        <p:spPr>
          <a:xfrm>
            <a:off x="1555055" y="530352"/>
            <a:ext cx="2971800" cy="420624"/>
          </a:xfrm>
          <a:prstGeom prst="rect">
            <a:avLst/>
          </a:prstGeom>
          <a:noFill/>
          <a:ln/>
        </p:spPr>
        <p:txBody>
          <a:bodyPr wrap="square" lIns="0" tIns="0" rIns="0" bIns="0" rtlCol="0" anchor="ctr">
            <a:normAutofit/>
          </a:bodyPr>
          <a:lstStyle/>
          <a:p>
            <a:pPr algn="ctr"/>
            <a:r>
              <a:rPr lang="en-US" sz="1100" b="1">
                <a:solidFill>
                  <a:srgbClr val="FFFFFF"/>
                </a:solidFill>
                <a:latin typeface="Microsoft JhengHei" panose="020B0604030504040204" pitchFamily="34" charset="-120"/>
                <a:ea typeface="Microsoft JhengHei" panose="020B0604030504040204" pitchFamily="34" charset="-120"/>
                <a:cs typeface="Arial" pitchFamily="34" charset="-120"/>
              </a:rPr>
              <a:t>Illustration Images</a:t>
            </a:r>
            <a:endParaRPr lang="en-US" sz="1100" dirty="0">
              <a:latin typeface="Microsoft JhengHei" panose="020B0604030504040204" pitchFamily="34" charset="-120"/>
              <a:ea typeface="Microsoft JhengHei" panose="020B0604030504040204" pitchFamily="34" charset="-120"/>
            </a:endParaRPr>
          </a:p>
        </p:txBody>
      </p:sp>
      <p:sp>
        <p:nvSpPr>
          <p:cNvPr id="7" name="Shape 5"/>
          <p:cNvSpPr/>
          <p:nvPr/>
        </p:nvSpPr>
        <p:spPr>
          <a:xfrm>
            <a:off x="4572575" y="475488"/>
            <a:ext cx="12344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8" name="Text 6"/>
          <p:cNvSpPr/>
          <p:nvPr/>
        </p:nvSpPr>
        <p:spPr>
          <a:xfrm>
            <a:off x="4572575" y="475487"/>
            <a:ext cx="1234440" cy="530351"/>
          </a:xfrm>
          <a:prstGeom prst="rect">
            <a:avLst/>
          </a:prstGeom>
          <a:noFill/>
          <a:ln/>
        </p:spPr>
        <p:txBody>
          <a:bodyPr wrap="square" lIns="0" tIns="0" rIns="0" bIns="0" rtlCol="0" anchor="ctr">
            <a:normAutofit/>
          </a:bodyPr>
          <a:lstStyle/>
          <a:p>
            <a:pPr algn="ctr"/>
            <a:r>
              <a:rPr lang="en-US" sz="1100" b="1">
                <a:solidFill>
                  <a:srgbClr val="FFFFFF"/>
                </a:solidFill>
                <a:latin typeface="Microsoft JhengHei" panose="020B0604030504040204" pitchFamily="34" charset="-120"/>
                <a:ea typeface="Microsoft JhengHei" panose="020B0604030504040204" pitchFamily="34" charset="-120"/>
                <a:cs typeface="Arial" pitchFamily="34" charset="-120"/>
              </a:rPr>
              <a:t>Manual operation by ME-SMT Engineers</a:t>
            </a:r>
          </a:p>
        </p:txBody>
      </p:sp>
      <p:sp>
        <p:nvSpPr>
          <p:cNvPr id="9" name="Shape 7"/>
          <p:cNvSpPr/>
          <p:nvPr/>
        </p:nvSpPr>
        <p:spPr>
          <a:xfrm>
            <a:off x="5807015" y="475488"/>
            <a:ext cx="12344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1" name="Shape 9"/>
          <p:cNvSpPr/>
          <p:nvPr/>
        </p:nvSpPr>
        <p:spPr>
          <a:xfrm>
            <a:off x="7041455" y="475488"/>
            <a:ext cx="77724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2" name="Text 10"/>
          <p:cNvSpPr/>
          <p:nvPr/>
        </p:nvSpPr>
        <p:spPr>
          <a:xfrm>
            <a:off x="7087175" y="530352"/>
            <a:ext cx="685800" cy="420624"/>
          </a:xfrm>
          <a:prstGeom prst="rect">
            <a:avLst/>
          </a:prstGeom>
          <a:noFill/>
          <a:ln/>
        </p:spPr>
        <p:txBody>
          <a:bodyPr wrap="square" lIns="0" tIns="0" rIns="0" bIns="0" rtlCol="0" anchor="ctr">
            <a:normAutofit/>
          </a:bodyPr>
          <a:lstStyle/>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Technical</a:t>
            </a:r>
            <a:endParaRPr lang="en-US" sz="1100" dirty="0">
              <a:latin typeface="Microsoft JhengHei" panose="020B0604030504040204" pitchFamily="34" charset="-120"/>
              <a:ea typeface="Microsoft JhengHei" panose="020B0604030504040204" pitchFamily="34" charset="-120"/>
            </a:endParaRPr>
          </a:p>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Feasibility</a:t>
            </a:r>
            <a:endParaRPr lang="en-US" sz="1100" dirty="0">
              <a:latin typeface="Microsoft JhengHei" panose="020B0604030504040204" pitchFamily="34" charset="-120"/>
              <a:ea typeface="Microsoft JhengHei" panose="020B0604030504040204" pitchFamily="34" charset="-120"/>
            </a:endParaRPr>
          </a:p>
        </p:txBody>
      </p:sp>
      <p:sp>
        <p:nvSpPr>
          <p:cNvPr id="13" name="Shape 11"/>
          <p:cNvSpPr/>
          <p:nvPr/>
        </p:nvSpPr>
        <p:spPr>
          <a:xfrm>
            <a:off x="7818695" y="475488"/>
            <a:ext cx="1874520" cy="530352"/>
          </a:xfrm>
          <a:prstGeom prst="rect">
            <a:avLst/>
          </a:prstGeom>
          <a:solidFill>
            <a:srgbClr val="6FA8DC"/>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4" name="Text 12"/>
          <p:cNvSpPr/>
          <p:nvPr/>
        </p:nvSpPr>
        <p:spPr>
          <a:xfrm>
            <a:off x="7864415" y="530352"/>
            <a:ext cx="1783080" cy="420624"/>
          </a:xfrm>
          <a:prstGeom prst="rect">
            <a:avLst/>
          </a:prstGeom>
          <a:noFill/>
          <a:ln/>
        </p:spPr>
        <p:txBody>
          <a:bodyPr wrap="square" lIns="0" tIns="0" rIns="0" bIns="0" rtlCol="0" anchor="ctr">
            <a:normAutofit/>
          </a:bodyPr>
          <a:lstStyle/>
          <a:p>
            <a:pPr algn="ctr"/>
            <a:r>
              <a:rPr lang="en-US" sz="1100" b="1" dirty="0">
                <a:solidFill>
                  <a:srgbClr val="FFFFFF"/>
                </a:solidFill>
                <a:latin typeface="Microsoft JhengHei" panose="020B0604030504040204" pitchFamily="34" charset="-120"/>
                <a:ea typeface="Microsoft JhengHei" panose="020B0604030504040204" pitchFamily="34" charset="-120"/>
                <a:cs typeface="Arial" pitchFamily="34" charset="-120"/>
              </a:rPr>
              <a:t>Prerequisites</a:t>
            </a:r>
            <a:endParaRPr lang="en-US" sz="1100" dirty="0">
              <a:latin typeface="Microsoft JhengHei" panose="020B0604030504040204" pitchFamily="34" charset="-120"/>
              <a:ea typeface="Microsoft JhengHei" panose="020B0604030504040204" pitchFamily="34" charset="-120"/>
            </a:endParaRPr>
          </a:p>
        </p:txBody>
      </p:sp>
      <p:sp>
        <p:nvSpPr>
          <p:cNvPr id="15" name="Shape 13"/>
          <p:cNvSpPr/>
          <p:nvPr/>
        </p:nvSpPr>
        <p:spPr>
          <a:xfrm>
            <a:off x="549215" y="1005840"/>
            <a:ext cx="96012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16" name="Text 14"/>
          <p:cNvSpPr/>
          <p:nvPr/>
        </p:nvSpPr>
        <p:spPr>
          <a:xfrm>
            <a:off x="585791" y="1060704"/>
            <a:ext cx="886968" cy="279806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IV. CAD Coordinate</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File Organization /</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Processing</a:t>
            </a:r>
            <a:endParaRPr lang="en-US" sz="1100" dirty="0">
              <a:latin typeface="Microsoft JhengHei" panose="020B0604030504040204" pitchFamily="34" charset="-120"/>
              <a:ea typeface="Microsoft JhengHei" panose="020B0604030504040204" pitchFamily="34" charset="-120"/>
            </a:endParaRPr>
          </a:p>
        </p:txBody>
      </p:sp>
      <p:sp>
        <p:nvSpPr>
          <p:cNvPr id="17" name="Shape 15"/>
          <p:cNvSpPr/>
          <p:nvPr/>
        </p:nvSpPr>
        <p:spPr>
          <a:xfrm>
            <a:off x="1509335" y="1005840"/>
            <a:ext cx="30632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pic>
        <p:nvPicPr>
          <p:cNvPr id="18" name="Image 0" descr="/mnt/data/ppt_assets/step4_cad.jpg"/>
          <p:cNvPicPr>
            <a:picLocks noChangeAspect="1"/>
          </p:cNvPicPr>
          <p:nvPr/>
        </p:nvPicPr>
        <p:blipFill>
          <a:blip r:embed="rId3"/>
          <a:stretch>
            <a:fillRect/>
          </a:stretch>
        </p:blipFill>
        <p:spPr>
          <a:xfrm>
            <a:off x="1555055" y="1940881"/>
            <a:ext cx="2971800" cy="854830"/>
          </a:xfrm>
          <a:prstGeom prst="rect">
            <a:avLst/>
          </a:prstGeom>
        </p:spPr>
      </p:pic>
      <p:sp>
        <p:nvSpPr>
          <p:cNvPr id="19" name="Text 16"/>
          <p:cNvSpPr/>
          <p:nvPr/>
        </p:nvSpPr>
        <p:spPr>
          <a:xfrm>
            <a:off x="1582487" y="3712464"/>
            <a:ext cx="2916936" cy="128016"/>
          </a:xfrm>
          <a:prstGeom prst="rect">
            <a:avLst/>
          </a:prstGeom>
          <a:noFill/>
          <a:ln/>
        </p:spPr>
        <p:txBody>
          <a:bodyPr wrap="square" lIns="0" tIns="0" rIns="0" bIns="0" rtlCol="0" anchor="ctr">
            <a:noAutofit/>
          </a:bodyPr>
          <a:lstStyle/>
          <a:p>
            <a:pPr algn="ctr"/>
            <a:r>
              <a:rPr lang="en-US" sz="1100" i="1" dirty="0">
                <a:solidFill>
                  <a:srgbClr val="555555"/>
                </a:solidFill>
                <a:latin typeface="Microsoft JhengHei" panose="020B0604030504040204" pitchFamily="34" charset="-120"/>
                <a:ea typeface="Microsoft JhengHei" panose="020B0604030504040204" pitchFamily="34" charset="-120"/>
                <a:cs typeface="Arial" pitchFamily="34" charset="-120"/>
              </a:rPr>
              <a:t>NPI p7 + p8</a:t>
            </a:r>
            <a:endParaRPr lang="en-US" sz="1100" dirty="0">
              <a:latin typeface="Microsoft JhengHei" panose="020B0604030504040204" pitchFamily="34" charset="-120"/>
              <a:ea typeface="Microsoft JhengHei" panose="020B0604030504040204" pitchFamily="34" charset="-120"/>
            </a:endParaRPr>
          </a:p>
        </p:txBody>
      </p:sp>
      <p:sp>
        <p:nvSpPr>
          <p:cNvPr id="20" name="Shape 17"/>
          <p:cNvSpPr/>
          <p:nvPr/>
        </p:nvSpPr>
        <p:spPr>
          <a:xfrm>
            <a:off x="4572575" y="1005840"/>
            <a:ext cx="12344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1" name="Text 18"/>
          <p:cNvSpPr/>
          <p:nvPr/>
        </p:nvSpPr>
        <p:spPr>
          <a:xfrm>
            <a:off x="4645727" y="1078992"/>
            <a:ext cx="1088136" cy="2761488"/>
          </a:xfrm>
          <a:prstGeom prst="rect">
            <a:avLst/>
          </a:prstGeom>
          <a:noFill/>
          <a:ln/>
        </p:spPr>
        <p:txBody>
          <a:bodyPr wrap="square" lIns="0" tIns="0" rIns="0" bIns="0" rtlCol="0" anchor="ctr">
            <a:normAutofit fontScale="92500"/>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Select origin reference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part.</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Create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PRN.</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Rotate + mirror CAD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angles.</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Apply +270 rotation rule.</a:t>
            </a: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Check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X / Y /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angle &amp;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100% polarity for sensitive parts.</a:t>
            </a:r>
            <a:endParaRPr lang="en-US" sz="1100" dirty="0">
              <a:latin typeface="Microsoft JhengHei" panose="020B0604030504040204" pitchFamily="34" charset="-120"/>
              <a:ea typeface="Microsoft JhengHei" panose="020B0604030504040204" pitchFamily="34" charset="-120"/>
            </a:endParaRPr>
          </a:p>
        </p:txBody>
      </p:sp>
      <p:sp>
        <p:nvSpPr>
          <p:cNvPr id="22" name="Shape 19"/>
          <p:cNvSpPr/>
          <p:nvPr/>
        </p:nvSpPr>
        <p:spPr>
          <a:xfrm>
            <a:off x="5807015" y="1005840"/>
            <a:ext cx="12344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3" name="Text 20"/>
          <p:cNvSpPr/>
          <p:nvPr/>
        </p:nvSpPr>
        <p:spPr>
          <a:xfrm>
            <a:off x="5816159" y="1078992"/>
            <a:ext cx="1289304" cy="2761488"/>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Develop CAD/CTR/BOM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reconciliation,</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origin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setup, coordinate transformation</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angle conversion,</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polarity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check</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&amp;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CSV export.</a:t>
            </a:r>
            <a:endParaRPr lang="en-US" sz="1100" dirty="0">
              <a:latin typeface="Microsoft JhengHei" panose="020B0604030504040204" pitchFamily="34" charset="-120"/>
              <a:ea typeface="Microsoft JhengHei" panose="020B0604030504040204" pitchFamily="34" charset="-120"/>
            </a:endParaRPr>
          </a:p>
        </p:txBody>
      </p:sp>
      <p:sp>
        <p:nvSpPr>
          <p:cNvPr id="24" name="Shape 21"/>
          <p:cNvSpPr/>
          <p:nvPr/>
        </p:nvSpPr>
        <p:spPr>
          <a:xfrm>
            <a:off x="7041455" y="1005840"/>
            <a:ext cx="777240" cy="2907792"/>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5" name="Text 22"/>
          <p:cNvSpPr/>
          <p:nvPr/>
        </p:nvSpPr>
        <p:spPr>
          <a:xfrm>
            <a:off x="7105463" y="1060704"/>
            <a:ext cx="649224" cy="279806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Feasible</a:t>
            </a:r>
            <a:endParaRPr lang="en-US" sz="1100" dirty="0">
              <a:latin typeface="Microsoft JhengHei" panose="020B0604030504040204" pitchFamily="34" charset="-120"/>
              <a:ea typeface="Microsoft JhengHei" panose="020B0604030504040204" pitchFamily="34" charset="-120"/>
            </a:endParaRPr>
          </a:p>
        </p:txBody>
      </p:sp>
      <p:sp>
        <p:nvSpPr>
          <p:cNvPr id="26" name="Shape 23"/>
          <p:cNvSpPr/>
          <p:nvPr/>
        </p:nvSpPr>
        <p:spPr>
          <a:xfrm>
            <a:off x="7818695" y="1005840"/>
            <a:ext cx="1874520" cy="2907792"/>
          </a:xfrm>
          <a:prstGeom prst="rect">
            <a:avLst/>
          </a:prstGeom>
          <a:solidFill>
            <a:srgbClr val="FFF200"/>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7" name="Text 24"/>
          <p:cNvSpPr/>
          <p:nvPr/>
        </p:nvSpPr>
        <p:spPr>
          <a:xfrm>
            <a:off x="7891847" y="1078992"/>
            <a:ext cx="1728216" cy="2761488"/>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CAD / BOM / CTR naming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consistent.</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Approved angle / polarity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rules.</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Polarized-part exceptions maintained.</a:t>
            </a:r>
            <a:endParaRPr lang="en-US" sz="1100" dirty="0">
              <a:latin typeface="Microsoft JhengHei" panose="020B0604030504040204" pitchFamily="34" charset="-120"/>
              <a:ea typeface="Microsoft JhengHei" panose="020B0604030504040204" pitchFamily="34" charset="-120"/>
            </a:endParaRPr>
          </a:p>
        </p:txBody>
      </p:sp>
      <p:sp>
        <p:nvSpPr>
          <p:cNvPr id="28" name="Shape 25"/>
          <p:cNvSpPr/>
          <p:nvPr/>
        </p:nvSpPr>
        <p:spPr>
          <a:xfrm>
            <a:off x="549215" y="3913632"/>
            <a:ext cx="960120" cy="2632264"/>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29" name="Text 26"/>
          <p:cNvSpPr/>
          <p:nvPr/>
        </p:nvSpPr>
        <p:spPr>
          <a:xfrm>
            <a:off x="585791" y="3968496"/>
            <a:ext cx="886968" cy="279806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V. Program</a:t>
            </a:r>
            <a:endParaRPr lang="en-US" sz="1100" dirty="0">
              <a:latin typeface="Microsoft JhengHei" panose="020B0604030504040204" pitchFamily="34" charset="-120"/>
              <a:ea typeface="Microsoft JhengHei" panose="020B0604030504040204" pitchFamily="34" charset="-120"/>
            </a:endParaRPr>
          </a:p>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Optimization</a:t>
            </a:r>
            <a:endParaRPr lang="en-US" sz="1100" dirty="0">
              <a:latin typeface="Microsoft JhengHei" panose="020B0604030504040204" pitchFamily="34" charset="-120"/>
              <a:ea typeface="Microsoft JhengHei" panose="020B0604030504040204" pitchFamily="34" charset="-120"/>
            </a:endParaRPr>
          </a:p>
        </p:txBody>
      </p:sp>
      <p:sp>
        <p:nvSpPr>
          <p:cNvPr id="30" name="Shape 27"/>
          <p:cNvSpPr/>
          <p:nvPr/>
        </p:nvSpPr>
        <p:spPr>
          <a:xfrm>
            <a:off x="1509335" y="3913632"/>
            <a:ext cx="3063240" cy="2632264"/>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pic>
        <p:nvPicPr>
          <p:cNvPr id="31" name="Image 1" descr="/mnt/data/ppt_assets/step5_program.jpg"/>
          <p:cNvPicPr>
            <a:picLocks noChangeAspect="1"/>
          </p:cNvPicPr>
          <p:nvPr/>
        </p:nvPicPr>
        <p:blipFill>
          <a:blip r:embed="rId4"/>
          <a:stretch>
            <a:fillRect/>
          </a:stretch>
        </p:blipFill>
        <p:spPr>
          <a:xfrm>
            <a:off x="1555055" y="4848673"/>
            <a:ext cx="2971800" cy="854830"/>
          </a:xfrm>
          <a:prstGeom prst="rect">
            <a:avLst/>
          </a:prstGeom>
        </p:spPr>
      </p:pic>
      <p:sp>
        <p:nvSpPr>
          <p:cNvPr id="32" name="Text 28"/>
          <p:cNvSpPr/>
          <p:nvPr/>
        </p:nvSpPr>
        <p:spPr>
          <a:xfrm>
            <a:off x="1582487" y="6363594"/>
            <a:ext cx="2916936" cy="128016"/>
          </a:xfrm>
          <a:prstGeom prst="rect">
            <a:avLst/>
          </a:prstGeom>
          <a:noFill/>
          <a:ln/>
        </p:spPr>
        <p:txBody>
          <a:bodyPr wrap="square" lIns="0" tIns="0" rIns="0" bIns="0" rtlCol="0" anchor="ctr">
            <a:noAutofit/>
          </a:bodyPr>
          <a:lstStyle/>
          <a:p>
            <a:pPr algn="ctr"/>
            <a:r>
              <a:rPr lang="en-US" sz="1100" i="1" dirty="0">
                <a:solidFill>
                  <a:srgbClr val="555555"/>
                </a:solidFill>
                <a:latin typeface="Microsoft JhengHei" panose="020B0604030504040204" pitchFamily="34" charset="-120"/>
                <a:ea typeface="Microsoft JhengHei" panose="020B0604030504040204" pitchFamily="34" charset="-120"/>
                <a:cs typeface="Arial" pitchFamily="34" charset="-120"/>
              </a:rPr>
              <a:t>NPI p11 + p17</a:t>
            </a:r>
            <a:endParaRPr lang="en-US" sz="1100" dirty="0">
              <a:latin typeface="Microsoft JhengHei" panose="020B0604030504040204" pitchFamily="34" charset="-120"/>
              <a:ea typeface="Microsoft JhengHei" panose="020B0604030504040204" pitchFamily="34" charset="-120"/>
            </a:endParaRPr>
          </a:p>
        </p:txBody>
      </p:sp>
      <p:sp>
        <p:nvSpPr>
          <p:cNvPr id="33" name="Shape 29"/>
          <p:cNvSpPr/>
          <p:nvPr/>
        </p:nvSpPr>
        <p:spPr>
          <a:xfrm>
            <a:off x="4572575" y="3913632"/>
            <a:ext cx="1234440" cy="2632264"/>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34" name="Text 30"/>
          <p:cNvSpPr/>
          <p:nvPr/>
        </p:nvSpPr>
        <p:spPr>
          <a:xfrm>
            <a:off x="4645727" y="3986784"/>
            <a:ext cx="1088136" cy="2499823"/>
          </a:xfrm>
          <a:prstGeom prst="rect">
            <a:avLst/>
          </a:prstGeom>
          <a:noFill/>
          <a:ln/>
        </p:spPr>
        <p:txBody>
          <a:bodyPr wrap="square" lIns="0" tIns="0" rIns="0" bIns="0" rtlCol="0" anchor="ctr">
            <a:normAutofit fontScale="92500" lnSpcReduction="10000"/>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Import TXT into DGS Product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Manager.</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Set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revision &amp;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NPM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library.</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Select mount mode / optimizer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options.</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Optimize, simulate</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&amp;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generate recipe.</a:t>
            </a:r>
            <a:endParaRPr lang="en-US" sz="1100" dirty="0">
              <a:latin typeface="Microsoft JhengHei" panose="020B0604030504040204" pitchFamily="34" charset="-120"/>
              <a:ea typeface="Microsoft JhengHei" panose="020B0604030504040204" pitchFamily="34" charset="-120"/>
            </a:endParaRPr>
          </a:p>
        </p:txBody>
      </p:sp>
      <p:sp>
        <p:nvSpPr>
          <p:cNvPr id="35" name="Shape 31"/>
          <p:cNvSpPr/>
          <p:nvPr/>
        </p:nvSpPr>
        <p:spPr>
          <a:xfrm>
            <a:off x="5807015" y="3913632"/>
            <a:ext cx="1234440" cy="2632264"/>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36" name="Text 32"/>
          <p:cNvSpPr/>
          <p:nvPr/>
        </p:nvSpPr>
        <p:spPr>
          <a:xfrm>
            <a:off x="5880167" y="3986784"/>
            <a:ext cx="1088136" cy="2559112"/>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Develop DGS/NPM import module</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part-library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binding</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mount-mode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rule engine</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 </a:t>
            </a:r>
          </a:p>
          <a:p>
            <a:pPr marL="228600" indent="-228600">
              <a:buFont typeface="+mj-lt"/>
              <a:buAutoNum type="arabicPeriod"/>
            </a:pPr>
            <a:endParaRPr lang="en-US" sz="1100">
              <a:solidFill>
                <a:srgbClr val="000000"/>
              </a:solidFill>
              <a:latin typeface="Microsoft JhengHei" panose="020B0604030504040204" pitchFamily="34" charset="-120"/>
              <a:ea typeface="Microsoft JhengHei" panose="020B0604030504040204" pitchFamily="34" charset="-120"/>
              <a:cs typeface="Arial" pitchFamily="34" charset="-120"/>
            </a:endParaRPr>
          </a:p>
          <a:p>
            <a:pPr marL="228600" indent="-228600">
              <a:buFont typeface="+mj-lt"/>
              <a:buAutoNum type="arabicPeriod"/>
            </a:pP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recipe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export workflow.</a:t>
            </a:r>
            <a:endParaRPr lang="en-US" sz="1100" dirty="0">
              <a:latin typeface="Microsoft JhengHei" panose="020B0604030504040204" pitchFamily="34" charset="-120"/>
              <a:ea typeface="Microsoft JhengHei" panose="020B0604030504040204" pitchFamily="34" charset="-120"/>
            </a:endParaRPr>
          </a:p>
        </p:txBody>
      </p:sp>
      <p:sp>
        <p:nvSpPr>
          <p:cNvPr id="37" name="Shape 33"/>
          <p:cNvSpPr/>
          <p:nvPr/>
        </p:nvSpPr>
        <p:spPr>
          <a:xfrm>
            <a:off x="7041455" y="3913632"/>
            <a:ext cx="777240" cy="2632264"/>
          </a:xfrm>
          <a:prstGeom prst="rect">
            <a:avLst/>
          </a:prstGeom>
          <a:solidFill>
            <a:srgbClr val="F1F1F1"/>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38" name="Text 34"/>
          <p:cNvSpPr/>
          <p:nvPr/>
        </p:nvSpPr>
        <p:spPr>
          <a:xfrm>
            <a:off x="7105463" y="3968496"/>
            <a:ext cx="649224" cy="2798064"/>
          </a:xfrm>
          <a:prstGeom prst="rect">
            <a:avLst/>
          </a:prstGeom>
          <a:noFill/>
          <a:ln/>
        </p:spPr>
        <p:txBody>
          <a:bodyPr wrap="square" lIns="0" tIns="0" rIns="0" bIns="0" rtlCol="0" anchor="ctr">
            <a:normAutofit/>
          </a:bodyPr>
          <a:lstStyle/>
          <a:p>
            <a:pPr algn="ct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Feasible</a:t>
            </a:r>
            <a:endParaRPr lang="en-US" sz="1100" dirty="0">
              <a:latin typeface="Microsoft JhengHei" panose="020B0604030504040204" pitchFamily="34" charset="-120"/>
              <a:ea typeface="Microsoft JhengHei" panose="020B0604030504040204" pitchFamily="34" charset="-120"/>
            </a:endParaRPr>
          </a:p>
        </p:txBody>
      </p:sp>
      <p:sp>
        <p:nvSpPr>
          <p:cNvPr id="39" name="Shape 35"/>
          <p:cNvSpPr/>
          <p:nvPr/>
        </p:nvSpPr>
        <p:spPr>
          <a:xfrm>
            <a:off x="7818695" y="3913632"/>
            <a:ext cx="1874520" cy="2632264"/>
          </a:xfrm>
          <a:prstGeom prst="rect">
            <a:avLst/>
          </a:prstGeom>
          <a:solidFill>
            <a:srgbClr val="FFF200"/>
          </a:solidFill>
          <a:ln w="12700">
            <a:solidFill>
              <a:srgbClr val="222222"/>
            </a:solidFill>
            <a:prstDash val="solid"/>
          </a:ln>
        </p:spPr>
        <p:txBody>
          <a:bodyPr/>
          <a:lstStyle/>
          <a:p>
            <a:endParaRPr lang="en-US" sz="1100">
              <a:latin typeface="Microsoft JhengHei" panose="020B0604030504040204" pitchFamily="34" charset="-120"/>
              <a:ea typeface="Microsoft JhengHei" panose="020B0604030504040204" pitchFamily="34" charset="-120"/>
            </a:endParaRPr>
          </a:p>
        </p:txBody>
      </p:sp>
      <p:sp>
        <p:nvSpPr>
          <p:cNvPr id="40" name="Text 36"/>
          <p:cNvSpPr/>
          <p:nvPr/>
        </p:nvSpPr>
        <p:spPr>
          <a:xfrm>
            <a:off x="7891847" y="3986784"/>
            <a:ext cx="1728216" cy="2559112"/>
          </a:xfrm>
          <a:prstGeom prst="rect">
            <a:avLst/>
          </a:prstGeom>
          <a:noFill/>
          <a:ln/>
        </p:spPr>
        <p:txBody>
          <a:bodyPr wrap="square" lIns="0" tIns="0" rIns="0" bIns="0" rtlCol="0" anchor="ctr">
            <a:normAutofit/>
          </a:bodyPr>
          <a:lstStyle/>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DGS / NPM environment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accessible.</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Historical NPM-Library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available.</a:t>
            </a:r>
          </a:p>
          <a:p>
            <a:pPr marL="228600" indent="-228600">
              <a:buFont typeface="+mj-lt"/>
              <a:buAutoNum type="arabicPeriod"/>
            </a:pPr>
            <a:endParaRPr lang="en-US" sz="1100" dirty="0">
              <a:latin typeface="Microsoft JhengHei" panose="020B0604030504040204" pitchFamily="34" charset="-120"/>
              <a:ea typeface="Microsoft JhengHei" panose="020B0604030504040204" pitchFamily="34" charset="-120"/>
            </a:endParaRPr>
          </a:p>
          <a:p>
            <a:pPr marL="228600" indent="-228600">
              <a:buFont typeface="+mj-lt"/>
              <a:buAutoNum type="arabicPeriod"/>
            </a:pP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Optimizer </a:t>
            </a:r>
            <a:r>
              <a:rPr lang="en-US" sz="1100">
                <a:solidFill>
                  <a:srgbClr val="000000"/>
                </a:solidFill>
                <a:latin typeface="Microsoft JhengHei" panose="020B0604030504040204" pitchFamily="34" charset="-120"/>
                <a:ea typeface="Microsoft JhengHei" panose="020B0604030504040204" pitchFamily="34" charset="-120"/>
                <a:cs typeface="Arial" pitchFamily="34" charset="-120"/>
              </a:rPr>
              <a:t>template &amp; </a:t>
            </a:r>
            <a:r>
              <a:rPr lang="en-US" sz="1100" dirty="0">
                <a:solidFill>
                  <a:srgbClr val="000000"/>
                </a:solidFill>
                <a:latin typeface="Microsoft JhengHei" panose="020B0604030504040204" pitchFamily="34" charset="-120"/>
                <a:ea typeface="Microsoft JhengHei" panose="020B0604030504040204" pitchFamily="34" charset="-120"/>
                <a:cs typeface="Arial" pitchFamily="34" charset="-120"/>
              </a:rPr>
              <a:t>machine rules confirmed.</a:t>
            </a:r>
            <a:endParaRPr lang="en-US" sz="1100" dirty="0">
              <a:latin typeface="Microsoft JhengHei" panose="020B0604030504040204" pitchFamily="34" charset="-120"/>
              <a:ea typeface="Microsoft JhengHei" panose="020B0604030504040204" pitchFamily="34" charset="-120"/>
            </a:endParaRPr>
          </a:p>
        </p:txBody>
      </p:sp>
      <p:sp>
        <p:nvSpPr>
          <p:cNvPr id="42" name="Text 8">
            <a:extLst>
              <a:ext uri="{FF2B5EF4-FFF2-40B4-BE49-F238E27FC236}">
                <a16:creationId xmlns:a16="http://schemas.microsoft.com/office/drawing/2014/main" id="{2127D70E-E250-E54B-0DEA-9FD760135343}"/>
              </a:ext>
            </a:extLst>
          </p:cNvPr>
          <p:cNvSpPr/>
          <p:nvPr/>
        </p:nvSpPr>
        <p:spPr>
          <a:xfrm>
            <a:off x="5807015" y="453662"/>
            <a:ext cx="1234440" cy="552175"/>
          </a:xfrm>
          <a:prstGeom prst="rect">
            <a:avLst/>
          </a:prstGeom>
          <a:noFill/>
          <a:ln/>
        </p:spPr>
        <p:txBody>
          <a:bodyPr wrap="square" lIns="0" tIns="0" rIns="0" bIns="0" rtlCol="0" anchor="ctr">
            <a:normAutofit/>
          </a:bodyPr>
          <a:lstStyle/>
          <a:p>
            <a:pPr algn="ctr"/>
            <a:r>
              <a:rPr lang="en-US" sz="1100" b="1">
                <a:solidFill>
                  <a:srgbClr val="FFFFFF"/>
                </a:solidFill>
                <a:latin typeface="Microsoft JhengHei" panose="020B0604030504040204" pitchFamily="34" charset="-120"/>
                <a:ea typeface="Microsoft JhengHei" panose="020B0604030504040204" pitchFamily="34" charset="-120"/>
                <a:cs typeface="Arial" pitchFamily="34" charset="-120"/>
              </a:rPr>
              <a:t>Should be Automated by system </a:t>
            </a:r>
            <a:endParaRPr lang="en-US" sz="1100" dirty="0">
              <a:latin typeface="Microsoft JhengHei" panose="020B0604030504040204" pitchFamily="34" charset="-120"/>
              <a:ea typeface="Microsoft JhengHei" panose="020B0604030504040204" pitchFamily="34" charset="-120"/>
            </a:endParaRPr>
          </a:p>
        </p:txBody>
      </p:sp>
      <p:sp>
        <p:nvSpPr>
          <p:cNvPr id="10" name="TextBox 4">
            <a:extLst>
              <a:ext uri="{FF2B5EF4-FFF2-40B4-BE49-F238E27FC236}">
                <a16:creationId xmlns:a16="http://schemas.microsoft.com/office/drawing/2014/main" id="{120FEC92-88A0-93FD-9965-E878E5C30F64}"/>
              </a:ext>
            </a:extLst>
          </p:cNvPr>
          <p:cNvSpPr txBox="1"/>
          <p:nvPr/>
        </p:nvSpPr>
        <p:spPr>
          <a:xfrm>
            <a:off x="10679502" y="6611779"/>
            <a:ext cx="1512498" cy="246221"/>
          </a:xfrm>
          <a:prstGeom prst="rect">
            <a:avLst/>
          </a:prstGeom>
          <a:noFill/>
        </p:spPr>
        <p:txBody>
          <a:bodyPr wrap="square">
            <a:spAutoFit/>
          </a:bodyPr>
          <a:lstStyle/>
          <a:p>
            <a:pPr algn="ctr"/>
            <a:r>
              <a:rPr lang="en-US" sz="1000">
                <a:solidFill>
                  <a:schemeClr val="bg1"/>
                </a:solidFill>
              </a:rPr>
              <a:t>3</a:t>
            </a:r>
          </a:p>
        </p:txBody>
      </p:sp>
    </p:spTree>
    <p:extLst>
      <p:ext uri="{BB962C8B-B14F-4D97-AF65-F5344CB8AC3E}">
        <p14:creationId xmlns:p14="http://schemas.microsoft.com/office/powerpoint/2010/main" val="2204034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89F73B-8152-C995-1805-9C498A63FB18}"/>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7B3B9272-294D-319F-9A71-98CA123DF099}"/>
              </a:ext>
            </a:extLst>
          </p:cNvPr>
          <p:cNvSpPr/>
          <p:nvPr/>
        </p:nvSpPr>
        <p:spPr>
          <a:xfrm>
            <a:off x="9954883" y="0"/>
            <a:ext cx="2237117"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r>
              <a:rPr lang="en-US" sz="1200" spc="-1" dirty="0">
                <a:solidFill>
                  <a:srgbClr val="000000"/>
                </a:solidFill>
                <a:latin typeface="Microsoft JhengHei" panose="020B0604030504040204" pitchFamily="34" charset="-120"/>
                <a:ea typeface="Microsoft JhengHei" panose="020B0604030504040204" pitchFamily="34" charset="-120"/>
              </a:rPr>
              <a:t>OT： DT </a:t>
            </a:r>
            <a:r>
              <a:rPr lang="zh-CN" altLang="en-US" sz="1200" spc="-1" dirty="0">
                <a:solidFill>
                  <a:srgbClr val="000000"/>
                </a:solidFill>
                <a:latin typeface="Microsoft JhengHei" panose="020B0604030504040204" pitchFamily="34" charset="-120"/>
                <a:ea typeface="Microsoft JhengHei" panose="020B0604030504040204" pitchFamily="34" charset="-120"/>
              </a:rPr>
              <a:t>黃趙五</a:t>
            </a:r>
            <a:r>
              <a:rPr lang="en-US" altLang="zh-CN" sz="1200" spc="-1" dirty="0">
                <a:solidFill>
                  <a:srgbClr val="000000"/>
                </a:solidFill>
                <a:latin typeface="Microsoft JhengHei" panose="020B0604030504040204" pitchFamily="34" charset="-120"/>
                <a:ea typeface="Microsoft JhengHei" panose="020B0604030504040204" pitchFamily="34" charset="-120"/>
              </a:rPr>
              <a:t>; </a:t>
            </a:r>
            <a:r>
              <a:rPr lang="en-US" sz="1200" spc="-1" dirty="0">
                <a:solidFill>
                  <a:srgbClr val="000000"/>
                </a:solidFill>
                <a:latin typeface="Microsoft JhengHei" panose="020B0604030504040204" pitchFamily="34" charset="-120"/>
                <a:ea typeface="Microsoft JhengHei" panose="020B0604030504040204" pitchFamily="34" charset="-120"/>
              </a:rPr>
              <a:t>AT: AI </a:t>
            </a:r>
            <a:r>
              <a:rPr lang="zh-CN" altLang="en-US" sz="1200" spc="-1" dirty="0">
                <a:solidFill>
                  <a:srgbClr val="000000"/>
                </a:solidFill>
                <a:latin typeface="Microsoft JhengHei" panose="020B0604030504040204" pitchFamily="34" charset="-120"/>
                <a:ea typeface="Microsoft JhengHei" panose="020B0604030504040204" pitchFamily="34" charset="-120"/>
              </a:rPr>
              <a:t>潘洛興</a:t>
            </a:r>
            <a:endParaRPr lang="en-US" sz="1200" b="0" strike="noStrike" spc="-1" dirty="0">
              <a:latin typeface="Microsoft JhengHei" panose="020B0604030504040204" pitchFamily="34" charset="-120"/>
              <a:ea typeface="Microsoft JhengHei" panose="020B0604030504040204" pitchFamily="34" charset="-120"/>
            </a:endParaRPr>
          </a:p>
        </p:txBody>
      </p:sp>
      <p:sp>
        <p:nvSpPr>
          <p:cNvPr id="7" name="TextBox 6">
            <a:extLst>
              <a:ext uri="{FF2B5EF4-FFF2-40B4-BE49-F238E27FC236}">
                <a16:creationId xmlns:a16="http://schemas.microsoft.com/office/drawing/2014/main" id="{DA8E1471-308D-DB31-8AB1-4B35567A3D00}"/>
              </a:ext>
            </a:extLst>
          </p:cNvPr>
          <p:cNvSpPr txBox="1"/>
          <p:nvPr/>
        </p:nvSpPr>
        <p:spPr>
          <a:xfrm flipH="1">
            <a:off x="-8150" y="0"/>
            <a:ext cx="8545567" cy="338554"/>
          </a:xfrm>
          <a:prstGeom prst="rect">
            <a:avLst/>
          </a:prstGeom>
          <a:noFill/>
        </p:spPr>
        <p:txBody>
          <a:bodyPr wrap="square" rtlCol="0">
            <a:spAutoFit/>
          </a:bodyPr>
          <a:lstStyle/>
          <a:p>
            <a:pPr>
              <a:buClr>
                <a:srgbClr val="406196"/>
              </a:buClr>
            </a:pPr>
            <a:r>
              <a:rPr lang="en-US" altLang="zh-CN" sz="1600">
                <a:solidFill>
                  <a:srgbClr val="0000CC"/>
                </a:solidFill>
                <a:latin typeface="Microsoft JhengHei" panose="020B0604030504040204" pitchFamily="34" charset="-120"/>
                <a:ea typeface="Microsoft JhengHei" panose="020B0604030504040204" pitchFamily="34" charset="-120"/>
                <a:cs typeface="Times New Roman" panose="02020603050405020304" pitchFamily="18" charset="0"/>
              </a:rPr>
              <a:t>Phase 1: Install usecase 1,2,3,5 on DT's Server_10.72.75.14 (2x GPU-PRO6000)</a:t>
            </a:r>
            <a:endParaRPr lang="en-US" altLang="zh-CN" sz="1600" dirty="0">
              <a:solidFill>
                <a:srgbClr val="0000CC"/>
              </a:solidFill>
              <a:latin typeface="Microsoft JhengHei" panose="020B0604030504040204" pitchFamily="34" charset="-120"/>
              <a:ea typeface="Microsoft JhengHei" panose="020B0604030504040204" pitchFamily="34" charset="-120"/>
              <a:cs typeface="Times New Roman" panose="02020603050405020304" pitchFamily="18" charset="0"/>
            </a:endParaRPr>
          </a:p>
        </p:txBody>
      </p:sp>
      <p:sp>
        <p:nvSpPr>
          <p:cNvPr id="4" name="TextBox 3">
            <a:extLst>
              <a:ext uri="{FF2B5EF4-FFF2-40B4-BE49-F238E27FC236}">
                <a16:creationId xmlns:a16="http://schemas.microsoft.com/office/drawing/2014/main" id="{21FC6E5B-6A26-4E25-8F7A-E4BD3489CD6B}"/>
              </a:ext>
            </a:extLst>
          </p:cNvPr>
          <p:cNvSpPr txBox="1"/>
          <p:nvPr/>
        </p:nvSpPr>
        <p:spPr>
          <a:xfrm flipH="1">
            <a:off x="10658475" y="6581001"/>
            <a:ext cx="1533524" cy="276999"/>
          </a:xfrm>
          <a:prstGeom prst="rect">
            <a:avLst/>
          </a:prstGeom>
          <a:noFill/>
        </p:spPr>
        <p:txBody>
          <a:bodyPr wrap="square" rtlCol="0">
            <a:spAutoFit/>
          </a:bodyPr>
          <a:lstStyle/>
          <a:p>
            <a:pPr algn="ctr">
              <a:buClr>
                <a:srgbClr val="406196"/>
              </a:buClr>
            </a:pPr>
            <a:r>
              <a:rPr lang="en-US" altLang="zh-CN" sz="120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rPr>
              <a:t>2</a:t>
            </a:r>
            <a:endParaRPr lang="en-US" altLang="zh-CN" sz="1200" dirty="0">
              <a:solidFill>
                <a:schemeClr val="bg1"/>
              </a:solidFill>
              <a:latin typeface="Microsoft JhengHei" panose="020B0604030504040204" pitchFamily="34" charset="-120"/>
              <a:ea typeface="Microsoft JhengHei" panose="020B0604030504040204" pitchFamily="34" charset="-12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9D1B683C-4351-8E4C-E79D-562BE952BB09}"/>
              </a:ext>
            </a:extLst>
          </p:cNvPr>
          <p:cNvGraphicFramePr>
            <a:graphicFrameLocks noGrp="1"/>
          </p:cNvGraphicFramePr>
          <p:nvPr/>
        </p:nvGraphicFramePr>
        <p:xfrm>
          <a:off x="1" y="1135674"/>
          <a:ext cx="12191999" cy="4389120"/>
        </p:xfrm>
        <a:graphic>
          <a:graphicData uri="http://schemas.openxmlformats.org/drawingml/2006/table">
            <a:tbl>
              <a:tblPr>
                <a:tableStyleId>{5C22544A-7EE6-4342-B048-85BDC9FD1C3A}</a:tableStyleId>
              </a:tblPr>
              <a:tblGrid>
                <a:gridCol w="839543">
                  <a:extLst>
                    <a:ext uri="{9D8B030D-6E8A-4147-A177-3AD203B41FA5}">
                      <a16:colId xmlns:a16="http://schemas.microsoft.com/office/drawing/2014/main" val="3301111309"/>
                    </a:ext>
                  </a:extLst>
                </a:gridCol>
                <a:gridCol w="656087">
                  <a:extLst>
                    <a:ext uri="{9D8B030D-6E8A-4147-A177-3AD203B41FA5}">
                      <a16:colId xmlns:a16="http://schemas.microsoft.com/office/drawing/2014/main" val="1661291378"/>
                    </a:ext>
                  </a:extLst>
                </a:gridCol>
                <a:gridCol w="1232560">
                  <a:extLst>
                    <a:ext uri="{9D8B030D-6E8A-4147-A177-3AD203B41FA5}">
                      <a16:colId xmlns:a16="http://schemas.microsoft.com/office/drawing/2014/main" val="418241053"/>
                    </a:ext>
                  </a:extLst>
                </a:gridCol>
                <a:gridCol w="1224132">
                  <a:extLst>
                    <a:ext uri="{9D8B030D-6E8A-4147-A177-3AD203B41FA5}">
                      <a16:colId xmlns:a16="http://schemas.microsoft.com/office/drawing/2014/main" val="594005979"/>
                    </a:ext>
                  </a:extLst>
                </a:gridCol>
                <a:gridCol w="716072">
                  <a:extLst>
                    <a:ext uri="{9D8B030D-6E8A-4147-A177-3AD203B41FA5}">
                      <a16:colId xmlns:a16="http://schemas.microsoft.com/office/drawing/2014/main" val="3971821460"/>
                    </a:ext>
                  </a:extLst>
                </a:gridCol>
                <a:gridCol w="1930977">
                  <a:extLst>
                    <a:ext uri="{9D8B030D-6E8A-4147-A177-3AD203B41FA5}">
                      <a16:colId xmlns:a16="http://schemas.microsoft.com/office/drawing/2014/main" val="2254512465"/>
                    </a:ext>
                  </a:extLst>
                </a:gridCol>
                <a:gridCol w="5592628">
                  <a:extLst>
                    <a:ext uri="{9D8B030D-6E8A-4147-A177-3AD203B41FA5}">
                      <a16:colId xmlns:a16="http://schemas.microsoft.com/office/drawing/2014/main" val="1884921257"/>
                    </a:ext>
                  </a:extLst>
                </a:gridCol>
              </a:tblGrid>
              <a:tr h="157865">
                <a:tc>
                  <a:txBody>
                    <a:bodyPr/>
                    <a:lstStyle/>
                    <a:p>
                      <a:pPr algn="ctr" fontAlgn="ctr">
                        <a:buNone/>
                      </a:pPr>
                      <a:r>
                        <a:rPr lang="en-US" sz="1200" b="1" u="none" strike="noStrike" dirty="0">
                          <a:effectLst/>
                        </a:rPr>
                        <a:t>Project</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ctr">
                        <a:buNone/>
                      </a:pPr>
                      <a:r>
                        <a:rPr lang="en-US" sz="1200" b="1" u="none" strike="noStrike" dirty="0">
                          <a:effectLst/>
                        </a:rPr>
                        <a:t>Use case</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ctr">
                        <a:buNone/>
                      </a:pPr>
                      <a:r>
                        <a:rPr lang="en-US" sz="1200" b="1" u="none" strike="noStrike" dirty="0">
                          <a:effectLst/>
                        </a:rPr>
                        <a:t>IP/Port</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ctr">
                        <a:buNone/>
                      </a:pPr>
                      <a:r>
                        <a:rPr lang="vi-VN" sz="1200" b="1" u="none" strike="noStrike" dirty="0">
                          <a:effectLst/>
                        </a:rPr>
                        <a:t>Functionality</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ctr">
                        <a:buNone/>
                      </a:pPr>
                      <a:r>
                        <a:rPr lang="en-US" sz="1200" b="1" u="none" strike="noStrike" dirty="0">
                          <a:effectLst/>
                        </a:rPr>
                        <a:t>Status</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ctr">
                        <a:buNone/>
                      </a:pPr>
                      <a:r>
                        <a:rPr lang="en-US" sz="1200" b="1" u="none" strike="noStrike" dirty="0">
                          <a:effectLst/>
                        </a:rPr>
                        <a:t>Responsible</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ctr">
                        <a:buNone/>
                      </a:pPr>
                      <a:r>
                        <a:rPr lang="en-US" sz="1200" b="1" u="none" strike="noStrike" dirty="0">
                          <a:effectLst/>
                        </a:rPr>
                        <a:t>Describe Current Status</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64601372"/>
                  </a:ext>
                </a:extLst>
              </a:tr>
              <a:tr h="157865">
                <a:tc rowSpan="18">
                  <a:txBody>
                    <a:bodyPr/>
                    <a:lstStyle/>
                    <a:p>
                      <a:pPr algn="ctr" fontAlgn="ctr">
                        <a:buNone/>
                      </a:pPr>
                      <a:r>
                        <a:rPr lang="en-US" sz="1200" u="none" strike="noStrike" dirty="0" err="1">
                          <a:effectLst/>
                        </a:rPr>
                        <a:t>LightHouse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pPr algn="ctr" fontAlgn="ctr">
                        <a:buNone/>
                      </a:pPr>
                      <a:r>
                        <a:rPr lang="en-US" sz="1200" u="none" strike="noStrike" dirty="0">
                          <a:effectLst/>
                        </a:rPr>
                        <a:t>1</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pPr algn="ctr" fontAlgn="ctr">
                        <a:buNone/>
                      </a:pPr>
                      <a:r>
                        <a:rPr lang="en-US" sz="1200" u="none" strike="noStrike" dirty="0">
                          <a:effectLst/>
                        </a:rPr>
                        <a:t>10.72.75.16:443</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a:effectLst/>
                        </a:rPr>
                        <a:t>Login</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rowSpan="6">
                  <a:txBody>
                    <a:bodyPr/>
                    <a:lstStyle/>
                    <a:p>
                      <a:pPr algn="ctr" fontAlgn="b">
                        <a:buNone/>
                      </a:pPr>
                      <a:r>
                        <a:rPr lang="zh-CN" altLang="en-US" sz="1200" u="none" strike="noStrike" dirty="0">
                          <a:effectLst/>
                        </a:rPr>
                        <a:t>文宝</a:t>
                      </a:r>
                      <a:r>
                        <a:rPr lang="en-US" altLang="zh-CN" sz="1200" u="none" strike="noStrike" dirty="0">
                          <a:effectLst/>
                        </a:rPr>
                        <a:t>, </a:t>
                      </a:r>
                      <a:r>
                        <a:rPr lang="en-US" sz="1200" u="none" strike="noStrike" dirty="0">
                          <a:effectLst/>
                        </a:rPr>
                        <a:t>Panda, </a:t>
                      </a:r>
                      <a:r>
                        <a:rPr lang="en-US" sz="1200" u="none" strike="noStrike" dirty="0" err="1">
                          <a:effectLst/>
                        </a:rPr>
                        <a:t>AnyScript</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ctr">
                        <a:buNone/>
                      </a:pP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1390938"/>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LLM</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01191345"/>
                  </a:ext>
                </a:extLst>
              </a:tr>
              <a:tr h="31572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Web UI Interaction</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489182751"/>
                  </a:ext>
                </a:extLst>
              </a:tr>
              <a:tr h="157865">
                <a:tc vMerge="1">
                  <a:txBody>
                    <a:bodyPr/>
                    <a:lstStyle/>
                    <a:p>
                      <a:endParaRPr lang="en-US"/>
                    </a:p>
                  </a:txBody>
                  <a:tcPr/>
                </a:tc>
                <a:tc rowSpan="3">
                  <a:txBody>
                    <a:bodyPr/>
                    <a:lstStyle/>
                    <a:p>
                      <a:pPr algn="ctr" fontAlgn="ctr">
                        <a:buNone/>
                      </a:pPr>
                      <a:r>
                        <a:rPr lang="en-US" sz="1200" u="none" strike="noStrike" dirty="0">
                          <a:effectLst/>
                        </a:rPr>
                        <a:t>3</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pPr algn="ctr" fontAlgn="ctr">
                        <a:buNone/>
                      </a:pPr>
                      <a:r>
                        <a:rPr lang="en-US" sz="1200" u="none" strike="noStrike" dirty="0">
                          <a:effectLst/>
                        </a:rPr>
                        <a:t>10.72.75.16:8081</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a:effectLst/>
                        </a:rPr>
                        <a:t>Login</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rowSpan="3">
                  <a:txBody>
                    <a:bodyPr/>
                    <a:lstStyle/>
                    <a:p>
                      <a:pPr algn="l" fontAlgn="ctr">
                        <a:buNone/>
                      </a:pP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1647669"/>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LLM</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914880819"/>
                  </a:ext>
                </a:extLst>
              </a:tr>
              <a:tr h="31572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Web UI Interaction</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507173919"/>
                  </a:ext>
                </a:extLst>
              </a:tr>
              <a:tr h="157865">
                <a:tc vMerge="1">
                  <a:txBody>
                    <a:bodyPr/>
                    <a:lstStyle/>
                    <a:p>
                      <a:endParaRPr lang="en-US"/>
                    </a:p>
                  </a:txBody>
                  <a:tcPr/>
                </a:tc>
                <a:tc rowSpan="3">
                  <a:txBody>
                    <a:bodyPr/>
                    <a:lstStyle/>
                    <a:p>
                      <a:pPr algn="ctr" fontAlgn="ctr">
                        <a:buNone/>
                      </a:pPr>
                      <a:r>
                        <a:rPr lang="en-US" sz="1200" u="none" strike="noStrike" dirty="0">
                          <a:effectLst/>
                        </a:rPr>
                        <a:t>2</a:t>
                      </a:r>
                      <a:endParaRPr lang="en-US" sz="12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pPr algn="ctr" fontAlgn="ctr">
                        <a:buNone/>
                      </a:pPr>
                      <a:r>
                        <a:rPr lang="en-US" sz="1200" u="none" strike="noStrike">
                          <a:effectLst/>
                        </a:rPr>
                        <a:t>10.72.75.14:8081</a:t>
                      </a:r>
                      <a:endParaRPr lang="en-US" sz="1200" b="1"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a:effectLst/>
                        </a:rPr>
                        <a:t>Login</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rowSpan="3">
                  <a:txBody>
                    <a:bodyPr/>
                    <a:lstStyle/>
                    <a:p>
                      <a:pPr algn="ctr" fontAlgn="ctr">
                        <a:buNone/>
                      </a:pPr>
                      <a:r>
                        <a:rPr lang="zh-CN" altLang="en-US" sz="1200" u="none" strike="noStrike" dirty="0">
                          <a:effectLst/>
                        </a:rPr>
                        <a:t>徐逸兴</a:t>
                      </a:r>
                      <a:r>
                        <a:rPr lang="en-US" altLang="zh-CN" sz="1200" u="none" strike="noStrike" dirty="0">
                          <a:effectLst/>
                        </a:rPr>
                        <a:t>, </a:t>
                      </a:r>
                      <a:r>
                        <a:rPr lang="en-US" sz="1200" u="none" strike="noStrike" dirty="0">
                          <a:effectLst/>
                        </a:rPr>
                        <a:t>Panda, </a:t>
                      </a:r>
                      <a:r>
                        <a:rPr lang="en-US" sz="1200" u="none" strike="noStrike" dirty="0" err="1">
                          <a:effectLst/>
                        </a:rPr>
                        <a:t>AnyScript</a:t>
                      </a:r>
                      <a:r>
                        <a:rPr lang="en-US" sz="1200" u="none" strike="noStrike" dirty="0">
                          <a:effectLst/>
                        </a:rPr>
                        <a:t>, </a:t>
                      </a:r>
                      <a:endParaRPr lang="vi-VN" sz="1200" u="none" strike="noStrike" dirty="0">
                        <a:effectLst/>
                      </a:endParaRPr>
                    </a:p>
                    <a:p>
                      <a:pPr algn="ctr" fontAlgn="ctr">
                        <a:buNone/>
                      </a:pPr>
                      <a:r>
                        <a:rPr lang="zh-CN" altLang="en-US" sz="1200" u="none" strike="noStrike" dirty="0">
                          <a:effectLst/>
                        </a:rPr>
                        <a:t>陳冠瑋</a:t>
                      </a:r>
                      <a:r>
                        <a:rPr lang="en-US" altLang="zh-CN" sz="1200" u="none" strike="noStrike" dirty="0">
                          <a:effectLst/>
                        </a:rPr>
                        <a:t>(</a:t>
                      </a:r>
                      <a:r>
                        <a:rPr lang="en-US" sz="1200" u="none" strike="noStrike" dirty="0">
                          <a:effectLst/>
                        </a:rPr>
                        <a:t>Kuan-Wei Chen) Peter</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ctr">
                        <a:buNone/>
                      </a:pPr>
                      <a:r>
                        <a:rPr lang="en-US" sz="1200" u="none" strike="noStrike" dirty="0" err="1">
                          <a:effectLst/>
                        </a:rPr>
                        <a:t>Onmiverse</a:t>
                      </a:r>
                      <a:r>
                        <a:rPr lang="en-US" sz="1200" u="none" strike="noStrike" dirty="0">
                          <a:effectLst/>
                        </a:rPr>
                        <a:t> data has been moved to the new server (72.75.14)</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03162"/>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err="1">
                          <a:effectLst/>
                        </a:rPr>
                        <a:t>Onmiverse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On-going</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10355996"/>
                  </a:ext>
                </a:extLst>
              </a:tr>
              <a:tr h="31572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Web UI Interaction</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18243172"/>
                  </a:ext>
                </a:extLst>
              </a:tr>
              <a:tr h="157865">
                <a:tc vMerge="1">
                  <a:txBody>
                    <a:bodyPr/>
                    <a:lstStyle/>
                    <a:p>
                      <a:endParaRPr lang="en-US"/>
                    </a:p>
                  </a:txBody>
                  <a:tcPr/>
                </a:tc>
                <a:tc rowSpan="5">
                  <a:txBody>
                    <a:bodyPr/>
                    <a:lstStyle/>
                    <a:p>
                      <a:pPr algn="ctr" fontAlgn="ctr">
                        <a:buNone/>
                      </a:pPr>
                      <a:r>
                        <a:rPr lang="en-US" sz="1200" u="none" strike="noStrike">
                          <a:effectLst/>
                        </a:rPr>
                        <a:t>4</a:t>
                      </a:r>
                      <a:endParaRPr lang="en-US" sz="1200" b="1"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5">
                  <a:txBody>
                    <a:bodyPr/>
                    <a:lstStyle/>
                    <a:p>
                      <a:pPr algn="ctr" fontAlgn="ctr">
                        <a:buNone/>
                      </a:pPr>
                      <a:r>
                        <a:rPr lang="en-US" sz="1200" u="none" strike="noStrike">
                          <a:effectLst/>
                        </a:rPr>
                        <a:t>10.72.75.18:443</a:t>
                      </a:r>
                      <a:endParaRPr lang="en-US" sz="1200" b="1"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Login</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rowSpan="5">
                  <a:txBody>
                    <a:bodyPr/>
                    <a:lstStyle/>
                    <a:p>
                      <a:pPr algn="ctr" fontAlgn="b">
                        <a:buNone/>
                      </a:pPr>
                      <a:r>
                        <a:rPr lang="en-US" sz="1200" u="none" strike="noStrike" dirty="0">
                          <a:effectLst/>
                        </a:rPr>
                        <a:t/>
                      </a:r>
                      <a:br>
                        <a:rPr lang="en-US" sz="1200" u="none" strike="noStrike" dirty="0">
                          <a:effectLst/>
                        </a:rPr>
                      </a:br>
                      <a:endParaRPr lang="en-US" sz="1200" u="none" strike="noStrike" dirty="0">
                        <a:effectLst/>
                      </a:endParaRPr>
                    </a:p>
                    <a:p>
                      <a:pPr algn="ctr" fontAlgn="b">
                        <a:buNone/>
                      </a:pPr>
                      <a:r>
                        <a:rPr lang="zh-CN" altLang="en-US" sz="1200" u="none" strike="noStrike" dirty="0">
                          <a:effectLst/>
                        </a:rPr>
                        <a:t>徐逸兴</a:t>
                      </a:r>
                      <a:r>
                        <a:rPr lang="en-US" altLang="zh-CN" sz="1200" u="none" strike="noStrike" dirty="0">
                          <a:effectLst/>
                        </a:rPr>
                        <a:t>, </a:t>
                      </a:r>
                      <a:r>
                        <a:rPr lang="en-US" sz="1200" u="none" strike="noStrike" dirty="0">
                          <a:effectLst/>
                        </a:rPr>
                        <a:t>Panda,</a:t>
                      </a:r>
                      <a:br>
                        <a:rPr lang="en-US" sz="1200" u="none" strike="noStrike" dirty="0">
                          <a:effectLst/>
                        </a:rPr>
                      </a:br>
                      <a:r>
                        <a:rPr lang="zh-CN" altLang="en-US" sz="1200" u="none" strike="noStrike" dirty="0">
                          <a:effectLst/>
                        </a:rPr>
                        <a:t>陳冠瑋</a:t>
                      </a:r>
                      <a:r>
                        <a:rPr lang="en-US" altLang="zh-CN" sz="1200" u="none" strike="noStrike" dirty="0">
                          <a:effectLst/>
                        </a:rPr>
                        <a:t>(</a:t>
                      </a:r>
                      <a:r>
                        <a:rPr lang="en-US" sz="1200" u="none" strike="noStrike" dirty="0">
                          <a:effectLst/>
                        </a:rPr>
                        <a:t>Kuan-Wei Chen) Peter</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l" fontAlgn="ctr">
                        <a:buNone/>
                      </a:pPr>
                      <a:r>
                        <a:rPr lang="en-US" sz="1200" u="none" strike="noStrike" dirty="0">
                          <a:effectLst/>
                        </a:rPr>
                        <a:t>1. Real-time data is only available on the main </a:t>
                      </a:r>
                      <a:r>
                        <a:rPr lang="vi-VN" sz="1200" u="none" strike="noStrike" dirty="0">
                          <a:effectLst/>
                        </a:rPr>
                        <a:t>UI,</a:t>
                      </a:r>
                      <a:r>
                        <a:rPr lang="en-US" sz="1200" u="none" strike="noStrike" dirty="0">
                          <a:effectLst/>
                        </a:rPr>
                        <a:t> sub-UI do not display this data.</a:t>
                      </a:r>
                    </a:p>
                    <a:p>
                      <a:pPr algn="l" fontAlgn="ctr">
                        <a:buNone/>
                      </a:pPr>
                      <a:r>
                        <a:rPr lang="en-US" sz="1200" u="none" strike="noStrike" dirty="0">
                          <a:effectLst/>
                        </a:rPr>
                        <a:t>2. The LLM currently is not working.(This feature link with Case 5)</a:t>
                      </a:r>
                    </a:p>
                    <a:p>
                      <a:pPr algn="l" fontAlgn="ctr">
                        <a:buNone/>
                      </a:pPr>
                      <a:r>
                        <a:rPr lang="en-US" sz="1200" u="none" strike="noStrike" dirty="0">
                          <a:effectLst/>
                        </a:rPr>
                        <a:t>3. </a:t>
                      </a:r>
                      <a:r>
                        <a:rPr lang="en-US" sz="1200" u="none" strike="noStrike" dirty="0" err="1">
                          <a:effectLst/>
                        </a:rPr>
                        <a:t>Onmiverse</a:t>
                      </a:r>
                      <a:r>
                        <a:rPr lang="en-US" sz="1200" u="none" strike="noStrike" dirty="0">
                          <a:effectLst/>
                        </a:rPr>
                        <a:t> data was transferred to the new server (72.75.14) and then to 72.75.41.</a:t>
                      </a:r>
                      <a:r>
                        <a:rPr lang="vi-VN" sz="1200" u="none" strike="noStrike" dirty="0">
                          <a:effectLst/>
                        </a:rPr>
                        <a:t> The Onmiverse function </a:t>
                      </a:r>
                      <a:r>
                        <a:rPr lang="en-US" sz="1200" u="none" strike="noStrike" dirty="0">
                          <a:effectLst/>
                        </a:rPr>
                        <a:t>is not yet operational.</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4463136"/>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Real-time data</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vi-VN"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816505943"/>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LLM</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On-going</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24334591"/>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err="1">
                          <a:effectLst/>
                        </a:rPr>
                        <a:t>Onmiverse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On-going</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610512849"/>
                  </a:ext>
                </a:extLst>
              </a:tr>
              <a:tr h="31572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Web UI Interaction</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8257250"/>
                  </a:ext>
                </a:extLst>
              </a:tr>
              <a:tr h="157865">
                <a:tc vMerge="1">
                  <a:txBody>
                    <a:bodyPr/>
                    <a:lstStyle/>
                    <a:p>
                      <a:endParaRPr lang="en-US"/>
                    </a:p>
                  </a:txBody>
                  <a:tcPr/>
                </a:tc>
                <a:tc rowSpan="4">
                  <a:txBody>
                    <a:bodyPr/>
                    <a:lstStyle/>
                    <a:p>
                      <a:pPr algn="ctr" fontAlgn="ctr">
                        <a:buNone/>
                      </a:pPr>
                      <a:r>
                        <a:rPr lang="en-US" sz="1200" u="none" strike="noStrike">
                          <a:effectLst/>
                        </a:rPr>
                        <a:t>5</a:t>
                      </a:r>
                      <a:endParaRPr lang="en-US" sz="1200" b="1"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4">
                  <a:txBody>
                    <a:bodyPr/>
                    <a:lstStyle/>
                    <a:p>
                      <a:pPr algn="ctr" fontAlgn="ctr">
                        <a:buNone/>
                      </a:pPr>
                      <a:r>
                        <a:rPr lang="en-US" sz="1200" u="none" strike="noStrike">
                          <a:effectLst/>
                        </a:rPr>
                        <a:t>10.72.75.31:8081</a:t>
                      </a:r>
                      <a:endParaRPr lang="en-US" sz="1200" b="1"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a:effectLst/>
                        </a:rPr>
                        <a:t>Login</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rowSpan="4">
                  <a:txBody>
                    <a:bodyPr/>
                    <a:lstStyle/>
                    <a:p>
                      <a:pPr algn="ctr" fontAlgn="b">
                        <a:buNone/>
                      </a:pPr>
                      <a:r>
                        <a:rPr lang="en-US" sz="1200" u="none" strike="noStrike" dirty="0" err="1">
                          <a:effectLst/>
                        </a:rPr>
                        <a:t>安之君</a:t>
                      </a:r>
                      <a:r>
                        <a:rPr lang="en-US" sz="1200" u="none" strike="noStrike" dirty="0">
                          <a:effectLst/>
                        </a:rPr>
                        <a:t>, Panda, </a:t>
                      </a:r>
                      <a:r>
                        <a:rPr lang="en-US" sz="1200" u="none" strike="noStrike" dirty="0" err="1">
                          <a:effectLst/>
                        </a:rPr>
                        <a:t>AnyScript</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l" fontAlgn="ctr">
                        <a:buNone/>
                      </a:pPr>
                      <a:r>
                        <a:rPr lang="en-US" sz="1200" u="none" strike="noStrike" dirty="0">
                          <a:effectLst/>
                        </a:rPr>
                        <a:t/>
                      </a:r>
                      <a:br>
                        <a:rPr lang="en-US" sz="1200" u="none" strike="noStrike" dirty="0">
                          <a:effectLst/>
                        </a:rPr>
                      </a:br>
                      <a:r>
                        <a:rPr lang="en-US" sz="1200" u="none" strike="noStrike" dirty="0">
                          <a:effectLst/>
                        </a:rPr>
                        <a:t>The requested application for LLM has been approved, we will continue to fix it.</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8006516"/>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a:effectLst/>
                        </a:rPr>
                        <a:t>Real-time data</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57543097"/>
                  </a:ext>
                </a:extLst>
              </a:tr>
              <a:tr h="15786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LLM</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On-going</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321827242"/>
                  </a:ext>
                </a:extLst>
              </a:tr>
              <a:tr h="31572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1200" u="none" strike="noStrike" dirty="0">
                          <a:effectLst/>
                        </a:rPr>
                        <a:t>Web UI Interaction</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sz="1200" u="none" strike="noStrike" dirty="0">
                          <a:effectLst/>
                        </a:rPr>
                        <a:t>Done</a:t>
                      </a:r>
                      <a:endParaRPr lang="en-US" sz="12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97770482"/>
                  </a:ext>
                </a:extLst>
              </a:tr>
            </a:tbl>
          </a:graphicData>
        </a:graphic>
      </p:graphicFrame>
      <p:sp>
        <p:nvSpPr>
          <p:cNvPr id="11" name="TextBox 10">
            <a:extLst>
              <a:ext uri="{FF2B5EF4-FFF2-40B4-BE49-F238E27FC236}">
                <a16:creationId xmlns:a16="http://schemas.microsoft.com/office/drawing/2014/main" id="{33CD4A6E-F259-4164-D711-A8424C8486CD}"/>
              </a:ext>
            </a:extLst>
          </p:cNvPr>
          <p:cNvSpPr txBox="1"/>
          <p:nvPr/>
        </p:nvSpPr>
        <p:spPr>
          <a:xfrm>
            <a:off x="526211" y="536332"/>
            <a:ext cx="1794295" cy="369332"/>
          </a:xfrm>
          <a:prstGeom prst="rect">
            <a:avLst/>
          </a:prstGeom>
          <a:noFill/>
        </p:spPr>
        <p:txBody>
          <a:bodyPr wrap="square">
            <a:spAutoFit/>
          </a:bodyPr>
          <a:lstStyle/>
          <a:p>
            <a:r>
              <a:rPr lang="en-US" altLang="zh-CN" dirty="0">
                <a:latin typeface="Microsoft JhengHei" panose="020B0604030504040204" pitchFamily="34" charset="-120"/>
                <a:ea typeface="Microsoft JhengHei" panose="020B0604030504040204" pitchFamily="34" charset="-120"/>
                <a:cs typeface="Times New Roman" panose="02020603050405020304" pitchFamily="18" charset="0"/>
              </a:rPr>
              <a:t>I. </a:t>
            </a:r>
            <a:r>
              <a:rPr lang="vi-VN" altLang="zh-CN" dirty="0">
                <a:latin typeface="Microsoft JhengHei" panose="020B0604030504040204" pitchFamily="34" charset="-120"/>
                <a:ea typeface="Microsoft JhengHei" panose="020B0604030504040204" pitchFamily="34" charset="-120"/>
                <a:cs typeface="Times New Roman" panose="02020603050405020304" pitchFamily="18" charset="0"/>
              </a:rPr>
              <a:t> Overview</a:t>
            </a:r>
            <a:endParaRPr lang="en-US" dirty="0"/>
          </a:p>
        </p:txBody>
      </p:sp>
    </p:spTree>
    <p:extLst>
      <p:ext uri="{BB962C8B-B14F-4D97-AF65-F5344CB8AC3E}">
        <p14:creationId xmlns:p14="http://schemas.microsoft.com/office/powerpoint/2010/main" val="36179325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647A51-3277-003D-E9FF-07B4B40D09AB}"/>
            </a:ext>
          </a:extLst>
        </p:cNvPr>
        <p:cNvGrpSpPr/>
        <p:nvPr/>
      </p:nvGrpSpPr>
      <p:grpSpPr>
        <a:xfrm>
          <a:off x="0" y="0"/>
          <a:ext cx="0" cy="0"/>
          <a:chOff x="0" y="0"/>
          <a:chExt cx="0" cy="0"/>
        </a:xfrm>
      </p:grpSpPr>
      <p:graphicFrame>
        <p:nvGraphicFramePr>
          <p:cNvPr id="2" name="Table 10">
            <a:extLst>
              <a:ext uri="{FF2B5EF4-FFF2-40B4-BE49-F238E27FC236}">
                <a16:creationId xmlns:a16="http://schemas.microsoft.com/office/drawing/2014/main" id="{81AA8804-D2B0-B9C4-C611-16729E38F163}"/>
              </a:ext>
            </a:extLst>
          </p:cNvPr>
          <p:cNvGraphicFramePr/>
          <p:nvPr/>
        </p:nvGraphicFramePr>
        <p:xfrm>
          <a:off x="1311" y="320041"/>
          <a:ext cx="12190689" cy="6309360"/>
        </p:xfrm>
        <a:graphic>
          <a:graphicData uri="http://schemas.openxmlformats.org/drawingml/2006/table">
            <a:tbl>
              <a:tblPr/>
              <a:tblGrid>
                <a:gridCol w="392180">
                  <a:extLst>
                    <a:ext uri="{9D8B030D-6E8A-4147-A177-3AD203B41FA5}">
                      <a16:colId xmlns:a16="http://schemas.microsoft.com/office/drawing/2014/main" val="20002"/>
                    </a:ext>
                  </a:extLst>
                </a:gridCol>
                <a:gridCol w="996333">
                  <a:extLst>
                    <a:ext uri="{9D8B030D-6E8A-4147-A177-3AD203B41FA5}">
                      <a16:colId xmlns:a16="http://schemas.microsoft.com/office/drawing/2014/main" val="20003"/>
                    </a:ext>
                  </a:extLst>
                </a:gridCol>
                <a:gridCol w="9935401">
                  <a:extLst>
                    <a:ext uri="{9D8B030D-6E8A-4147-A177-3AD203B41FA5}">
                      <a16:colId xmlns:a16="http://schemas.microsoft.com/office/drawing/2014/main" val="20004"/>
                    </a:ext>
                  </a:extLst>
                </a:gridCol>
                <a:gridCol w="866775">
                  <a:extLst>
                    <a:ext uri="{9D8B030D-6E8A-4147-A177-3AD203B41FA5}">
                      <a16:colId xmlns:a16="http://schemas.microsoft.com/office/drawing/2014/main" val="409839024"/>
                    </a:ext>
                  </a:extLst>
                </a:gridCol>
              </a:tblGrid>
              <a:tr h="204322">
                <a:tc>
                  <a:txBody>
                    <a:bodyPr/>
                    <a:lstStyle/>
                    <a:p>
                      <a:pPr algn="ctr">
                        <a:lnSpc>
                          <a:spcPct val="100000"/>
                        </a:lnSpc>
                        <a:buNone/>
                        <a:tabLst>
                          <a:tab pos="0" algn="l"/>
                        </a:tabLst>
                      </a:pPr>
                      <a:r>
                        <a:rPr lang="vi-VN" sz="1200" b="1" strike="noStrike" spc="-1" dirty="0">
                          <a:solidFill>
                            <a:schemeClr val="tx1"/>
                          </a:solidFill>
                          <a:latin typeface="+mj-lt"/>
                          <a:ea typeface="Microsoft JhengHei" panose="020B0604030504040204" pitchFamily="34" charset="-120"/>
                        </a:rPr>
                        <a:t>Case</a:t>
                      </a:r>
                      <a:endParaRPr lang="en-US" sz="1200" b="1" strike="noStrike" spc="-1" dirty="0">
                        <a:solidFill>
                          <a:schemeClr val="tx1"/>
                        </a:solidFill>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00000"/>
                        </a:lnSpc>
                        <a:buNone/>
                      </a:pPr>
                      <a:r>
                        <a:rPr lang="vi-VN" sz="1200" b="1" strike="noStrike" spc="-1" dirty="0">
                          <a:solidFill>
                            <a:schemeClr val="tx1"/>
                          </a:solidFill>
                          <a:latin typeface="+mj-lt"/>
                          <a:ea typeface="Microsoft JhengHei" panose="020B0604030504040204" pitchFamily="34" charset="-120"/>
                        </a:rPr>
                        <a:t>Function</a:t>
                      </a:r>
                      <a:endParaRPr lang="en-US" sz="1200" b="1" strike="noStrike" spc="-1" dirty="0">
                        <a:solidFill>
                          <a:schemeClr val="tx1"/>
                        </a:solidFill>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00000"/>
                        </a:lnSpc>
                        <a:buNone/>
                      </a:pPr>
                      <a:r>
                        <a:rPr lang="vi-VN" sz="1200" b="1" strike="noStrike" spc="-1" dirty="0">
                          <a:solidFill>
                            <a:schemeClr val="tx1"/>
                          </a:solidFill>
                          <a:latin typeface="+mj-lt"/>
                          <a:ea typeface="Microsoft JhengHei" panose="020B0604030504040204" pitchFamily="34" charset="-120"/>
                        </a:rPr>
                        <a:t>Progress </a:t>
                      </a:r>
                      <a:r>
                        <a:rPr lang="en-US" sz="1200" b="1" strike="noStrike" spc="-1" dirty="0">
                          <a:solidFill>
                            <a:schemeClr val="tx1"/>
                          </a:solidFill>
                          <a:latin typeface="+mj-lt"/>
                          <a:ea typeface="Microsoft JhengHei" panose="020B0604030504040204" pitchFamily="34" charset="-120"/>
                        </a:rPr>
                        <a:t>(Green: Done/Closed; Yellow: Ongoing; Other color: Open)</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00000"/>
                        </a:lnSpc>
                        <a:buNone/>
                      </a:pPr>
                      <a:r>
                        <a:rPr lang="en-US" sz="1200" b="1" strike="noStrike" spc="-1" dirty="0">
                          <a:solidFill>
                            <a:schemeClr val="tx1"/>
                          </a:solidFill>
                          <a:latin typeface="+mj-lt"/>
                          <a:ea typeface="Microsoft JhengHei" panose="020B0604030504040204" pitchFamily="34" charset="-120"/>
                        </a:rPr>
                        <a:t>Due </a:t>
                      </a:r>
                      <a:r>
                        <a:rPr lang="vi-VN" sz="1200" b="1" strike="noStrike" spc="-1" dirty="0">
                          <a:solidFill>
                            <a:schemeClr val="tx1"/>
                          </a:solidFill>
                          <a:latin typeface="+mj-lt"/>
                          <a:ea typeface="Microsoft JhengHei" panose="020B0604030504040204" pitchFamily="34" charset="-120"/>
                        </a:rPr>
                        <a:t>date</a:t>
                      </a:r>
                      <a:endParaRPr lang="en-US" sz="1200" b="1" strike="noStrike" spc="-1" dirty="0">
                        <a:solidFill>
                          <a:schemeClr val="tx1"/>
                        </a:solidFill>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76751">
                <a:tc rowSpan="6">
                  <a:txBody>
                    <a:bodyPr/>
                    <a:lstStyle/>
                    <a:p>
                      <a:pPr algn="ctr">
                        <a:lnSpc>
                          <a:spcPct val="100000"/>
                        </a:lnSpc>
                        <a:buNone/>
                      </a:pPr>
                      <a:r>
                        <a:rPr lang="vi-VN" sz="1200" b="0" strike="noStrike" spc="-1" dirty="0">
                          <a:latin typeface="+mj-lt"/>
                          <a:ea typeface="Microsoft JhengHei" panose="020B0604030504040204" pitchFamily="34" charset="-120"/>
                        </a:rPr>
                        <a:t>2</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algn="ctr">
                        <a:lnSpc>
                          <a:spcPct val="100000"/>
                        </a:lnSpc>
                        <a:buNone/>
                      </a:pPr>
                      <a:r>
                        <a:rPr lang="vi-VN" sz="1200" b="0" strike="noStrike" spc="-1" dirty="0">
                          <a:latin typeface="+mj-lt"/>
                          <a:ea typeface="Microsoft JhengHei" panose="020B0604030504040204" pitchFamily="34" charset="-120"/>
                        </a:rPr>
                        <a:t>Onmiverse</a:t>
                      </a:r>
                      <a:endParaRPr lang="en-US" sz="1200" b="0" strike="noStrike" spc="-1" dirty="0">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ct val="100000"/>
                        </a:lnSpc>
                        <a:buNone/>
                      </a:pPr>
                      <a:r>
                        <a:rPr lang="vi-VN" sz="1200" b="0" strike="noStrike" spc="-1" dirty="0">
                          <a:latin typeface="+mj-lt"/>
                          <a:ea typeface="Microsoft JhengHei" panose="020B0604030504040204" pitchFamily="34" charset="-120"/>
                        </a:rPr>
                        <a:t> 1. Create access application to transfer data – </a:t>
                      </a:r>
                      <a:r>
                        <a:rPr lang="vi-VN" sz="1200" b="0" strike="noStrike" spc="-1" dirty="0">
                          <a:highlight>
                            <a:srgbClr val="00FF00"/>
                          </a:highlight>
                          <a:latin typeface="+mj-lt"/>
                          <a:ea typeface="Microsoft JhengHei" panose="020B0604030504040204" pitchFamily="34" charset="-120"/>
                        </a:rPr>
                        <a:t>Done-</a:t>
                      </a:r>
                      <a:r>
                        <a:rPr lang="zh-CN" altLang="en-US" sz="1200" b="0" strike="noStrike" spc="-1" dirty="0">
                          <a:highlight>
                            <a:srgbClr val="00FF00"/>
                          </a:highlight>
                          <a:latin typeface="+mj-lt"/>
                          <a:ea typeface="Microsoft JhengHei" panose="020B0604030504040204" pitchFamily="34" charset="-120"/>
                        </a:rPr>
                        <a:t>阮功俊英</a:t>
                      </a:r>
                      <a:r>
                        <a:rPr lang="vi-VN" altLang="zh-CN" sz="1200" b="0" strike="noStrike" spc="-1" dirty="0">
                          <a:highlight>
                            <a:srgbClr val="00FF00"/>
                          </a:highlight>
                          <a:latin typeface="+mj-lt"/>
                          <a:ea typeface="Microsoft JhengHei" panose="020B0604030504040204" pitchFamily="34" charset="-120"/>
                        </a:rPr>
                        <a:t>,</a:t>
                      </a:r>
                      <a:r>
                        <a:rPr lang="zh-CN" altLang="en-US" sz="1200" b="0" strike="noStrike" spc="-1" dirty="0">
                          <a:highlight>
                            <a:srgbClr val="00FF00"/>
                          </a:highlight>
                          <a:latin typeface="+mj-lt"/>
                          <a:ea typeface="Microsoft JhengHei" panose="020B0604030504040204" pitchFamily="34" charset="-120"/>
                        </a:rPr>
                        <a:t> 潘落興</a:t>
                      </a:r>
                      <a:r>
                        <a:rPr lang="vi-VN" altLang="zh-CN" sz="1200" b="0" strike="noStrike" spc="-1" dirty="0">
                          <a:highlight>
                            <a:srgbClr val="00FF00"/>
                          </a:highlight>
                          <a:latin typeface="+mj-lt"/>
                          <a:ea typeface="Microsoft JhengHei" panose="020B0604030504040204" pitchFamily="34" charset="-120"/>
                        </a:rPr>
                        <a:t>-26/04/08</a:t>
                      </a:r>
                      <a:endParaRPr lang="vi-VN" sz="1200" b="0" strike="noStrike" spc="-1" dirty="0">
                        <a:highlight>
                          <a:srgbClr val="00FF00"/>
                        </a:highlight>
                        <a:latin typeface="+mj-lt"/>
                        <a:ea typeface="Microsoft JhengHei" panose="020B0604030504040204" pitchFamily="34" charset="-120"/>
                      </a:endParaRPr>
                    </a:p>
                    <a:p>
                      <a:pPr marL="0" indent="0" algn="l">
                        <a:lnSpc>
                          <a:spcPct val="100000"/>
                        </a:lnSpc>
                        <a:buNone/>
                      </a:pPr>
                      <a:r>
                        <a:rPr lang="vi-VN" sz="1200" b="0" strike="noStrike" spc="-1" dirty="0">
                          <a:latin typeface="+mj-lt"/>
                          <a:ea typeface="Microsoft JhengHei" panose="020B0604030504040204" pitchFamily="34" charset="-120"/>
                        </a:rPr>
                        <a:t> 2. Setting server and create new VM (75.42) to store data of case 2 OMV – </a:t>
                      </a:r>
                      <a:r>
                        <a:rPr lang="vi-VN" sz="1200" b="0" strike="noStrike" spc="-1" dirty="0">
                          <a:highlight>
                            <a:srgbClr val="00FF00"/>
                          </a:highlight>
                          <a:latin typeface="+mj-lt"/>
                          <a:ea typeface="Microsoft JhengHei" panose="020B0604030504040204" pitchFamily="34" charset="-120"/>
                        </a:rPr>
                        <a:t>Done-Panda-26/04/07</a:t>
                      </a:r>
                    </a:p>
                    <a:p>
                      <a:pPr marL="0" indent="0" algn="l">
                        <a:lnSpc>
                          <a:spcPct val="100000"/>
                        </a:lnSpc>
                        <a:buNone/>
                      </a:pPr>
                      <a:r>
                        <a:rPr lang="vi-VN" sz="1200" dirty="0">
                          <a:latin typeface="+mj-lt"/>
                        </a:rPr>
                        <a:t> 3. </a:t>
                      </a:r>
                      <a:r>
                        <a:rPr lang="en-US" sz="1200" dirty="0">
                          <a:latin typeface="+mj-lt"/>
                        </a:rPr>
                        <a:t>Transfer data from old server (93.48) to new server (75.14) and then to VM42 (</a:t>
                      </a:r>
                      <a:r>
                        <a:rPr lang="vi-VN" sz="1200" dirty="0">
                          <a:latin typeface="+mj-lt"/>
                        </a:rPr>
                        <a:t>75</a:t>
                      </a:r>
                      <a:r>
                        <a:rPr lang="en-US" sz="1200" dirty="0">
                          <a:latin typeface="+mj-lt"/>
                        </a:rPr>
                        <a:t>.42)</a:t>
                      </a:r>
                      <a:r>
                        <a:rPr lang="vi-VN" sz="1200" b="0" strike="noStrike" spc="-1">
                          <a:latin typeface="+mj-lt"/>
                          <a:ea typeface="Microsoft JhengHei" panose="020B0604030504040204" pitchFamily="34" charset="-120"/>
                        </a:rPr>
                        <a:t>–</a:t>
                      </a:r>
                      <a:r>
                        <a:rPr lang="vi-VN" sz="1200" b="0" strike="noStrike" spc="-1">
                          <a:highlight>
                            <a:srgbClr val="00FF00"/>
                          </a:highlight>
                          <a:latin typeface="+mj-lt"/>
                          <a:ea typeface="Microsoft JhengHei" panose="020B0604030504040204" pitchFamily="34" charset="-120"/>
                        </a:rPr>
                        <a:t>Done-</a:t>
                      </a:r>
                      <a:r>
                        <a:rPr lang="en-US" altLang="zh-CN" sz="1200" b="0" strike="noStrike" spc="-1">
                          <a:highlight>
                            <a:srgbClr val="00FF00"/>
                          </a:highlight>
                          <a:latin typeface="+mj-lt"/>
                          <a:ea typeface="Microsoft JhengHei" panose="020B0604030504040204" pitchFamily="34" charset="-120"/>
                        </a:rPr>
                        <a:t>TARG </a:t>
                      </a:r>
                      <a:r>
                        <a:rPr lang="zh-CN" altLang="en-US" sz="1200" b="0" strike="noStrike" spc="-1">
                          <a:highlight>
                            <a:srgbClr val="00FF00"/>
                          </a:highlight>
                          <a:latin typeface="+mj-lt"/>
                          <a:ea typeface="Microsoft JhengHei" panose="020B0604030504040204" pitchFamily="34" charset="-120"/>
                        </a:rPr>
                        <a:t>陳</a:t>
                      </a:r>
                      <a:r>
                        <a:rPr lang="zh-CN" altLang="en-US" sz="1200" b="0" strike="noStrike" spc="-1" dirty="0">
                          <a:highlight>
                            <a:srgbClr val="00FF00"/>
                          </a:highlight>
                          <a:latin typeface="+mj-lt"/>
                          <a:ea typeface="Microsoft JhengHei" panose="020B0604030504040204" pitchFamily="34" charset="-120"/>
                        </a:rPr>
                        <a:t>冠瑋</a:t>
                      </a:r>
                      <a:r>
                        <a:rPr lang="en-US" altLang="zh-CN" sz="1200" b="0" strike="noStrike" spc="-1" dirty="0">
                          <a:highlight>
                            <a:srgbClr val="00FF00"/>
                          </a:highlight>
                          <a:latin typeface="+mj-lt"/>
                          <a:ea typeface="Microsoft JhengHei" panose="020B0604030504040204" pitchFamily="34" charset="-120"/>
                        </a:rPr>
                        <a:t>(</a:t>
                      </a:r>
                      <a:r>
                        <a:rPr lang="vi-VN" sz="1200" b="0" strike="noStrike" spc="-1" dirty="0">
                          <a:highlight>
                            <a:srgbClr val="00FF00"/>
                          </a:highlight>
                          <a:latin typeface="+mj-lt"/>
                          <a:ea typeface="Microsoft JhengHei" panose="020B0604030504040204" pitchFamily="34" charset="-120"/>
                        </a:rPr>
                        <a:t>Kuan-Wei Chen) Peter-26/04/13</a:t>
                      </a:r>
                      <a:endParaRPr lang="vi-VN" sz="1200" b="0" strike="noStrike" spc="-1" dirty="0">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vi-VN" sz="1200" b="0" strike="noStrike" spc="-1" dirty="0">
                          <a:highlight>
                            <a:srgbClr val="00FF00"/>
                          </a:highlight>
                          <a:latin typeface="+mj-lt"/>
                          <a:ea typeface="Microsoft JhengHei" panose="020B0604030504040204" pitchFamily="34" charset="-120"/>
                        </a:rPr>
                        <a:t>26/04/15</a:t>
                      </a:r>
                      <a:endParaRPr lang="en-US" sz="1200" b="0" strike="noStrike" spc="-1" dirty="0">
                        <a:solidFill>
                          <a:srgbClr val="000000"/>
                        </a:solidFill>
                        <a:highlight>
                          <a:srgbClr val="00FF00"/>
                        </a:highlight>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12966">
                <a:tc vMerge="1">
                  <a:txBody>
                    <a:bodyPr/>
                    <a:lstStyle/>
                    <a:p>
                      <a:endParaRPr lang="en-US"/>
                    </a:p>
                  </a:txBody>
                  <a:tcPr/>
                </a:tc>
                <a:tc vMerge="1">
                  <a:txBody>
                    <a:bodyPr/>
                    <a:lstStyle/>
                    <a:p>
                      <a:endParaRPr lang="en-US"/>
                    </a:p>
                  </a:txBody>
                  <a:tcPr/>
                </a:tc>
                <a:tc>
                  <a:txBody>
                    <a:bodyPr/>
                    <a:lstStyle/>
                    <a:p>
                      <a:pPr marL="0" indent="0" algn="l">
                        <a:lnSpc>
                          <a:spcPct val="100000"/>
                        </a:lnSpc>
                        <a:buNone/>
                      </a:pPr>
                      <a:r>
                        <a:rPr lang="vi-VN" sz="1200" dirty="0">
                          <a:latin typeface="+mj-lt"/>
                        </a:rPr>
                        <a:t> 4. </a:t>
                      </a:r>
                      <a:r>
                        <a:rPr lang="en-US" sz="1200" dirty="0">
                          <a:latin typeface="+mj-lt"/>
                        </a:rPr>
                        <a:t>Get chiller MQTT data source address</a:t>
                      </a:r>
                      <a:r>
                        <a:rPr lang="vi-VN" sz="1200" b="0" strike="noStrike" spc="-1" dirty="0">
                          <a:latin typeface="+mj-lt"/>
                          <a:ea typeface="Microsoft JhengHei" panose="020B0604030504040204" pitchFamily="34" charset="-120"/>
                        </a:rPr>
                        <a:t>–</a:t>
                      </a:r>
                      <a:r>
                        <a:rPr lang="vi-VN" sz="1200" b="0" strike="noStrike" spc="-1" dirty="0">
                          <a:highlight>
                            <a:srgbClr val="FFFF00"/>
                          </a:highlight>
                          <a:latin typeface="+mj-lt"/>
                          <a:ea typeface="Microsoft JhengHei" panose="020B0604030504040204" pitchFamily="34" charset="-120"/>
                        </a:rPr>
                        <a:t>On going- </a:t>
                      </a:r>
                      <a:r>
                        <a:rPr lang="zh-CN" altLang="en-US" sz="1200" b="0" strike="noStrike" spc="-1" dirty="0">
                          <a:highlight>
                            <a:srgbClr val="FFFF00"/>
                          </a:highlight>
                          <a:latin typeface="+mj-lt"/>
                          <a:ea typeface="Microsoft JhengHei" panose="020B0604030504040204" pitchFamily="34" charset="-120"/>
                        </a:rPr>
                        <a:t>陳冠瑋</a:t>
                      </a:r>
                      <a:r>
                        <a:rPr lang="en-US" altLang="zh-CN" sz="1200" b="0" strike="noStrike" spc="-1" dirty="0">
                          <a:highlight>
                            <a:srgbClr val="FFFF00"/>
                          </a:highlight>
                          <a:latin typeface="+mj-lt"/>
                          <a:ea typeface="Microsoft JhengHei" panose="020B0604030504040204" pitchFamily="34" charset="-120"/>
                        </a:rPr>
                        <a:t>(</a:t>
                      </a:r>
                      <a:r>
                        <a:rPr lang="vi-VN" sz="1200" b="0" strike="noStrike" spc="-1" dirty="0">
                          <a:highlight>
                            <a:srgbClr val="FFFF00"/>
                          </a:highlight>
                          <a:latin typeface="+mj-lt"/>
                          <a:ea typeface="Microsoft JhengHei" panose="020B0604030504040204" pitchFamily="34" charset="-120"/>
                        </a:rPr>
                        <a:t>Kuan-Wei Chen) Peter, </a:t>
                      </a:r>
                      <a:r>
                        <a:rPr lang="zh-CN" altLang="en-US" sz="1200" b="0" strike="noStrike" spc="-1" dirty="0">
                          <a:highlight>
                            <a:srgbClr val="FFFF00"/>
                          </a:highlight>
                          <a:latin typeface="+mj-lt"/>
                          <a:ea typeface="Microsoft JhengHei" panose="020B0604030504040204" pitchFamily="34" charset="-120"/>
                        </a:rPr>
                        <a:t>阮功俊英</a:t>
                      </a:r>
                      <a:endParaRPr lang="vi-VN" altLang="zh-CN" sz="1200" b="0" strike="noStrike" spc="-1" dirty="0">
                        <a:solidFill>
                          <a:srgbClr val="000000"/>
                        </a:solidFill>
                        <a:highlight>
                          <a:srgbClr val="FFFF00"/>
                        </a:highlight>
                        <a:latin typeface="+mj-lt"/>
                        <a:ea typeface="Microsoft JhengHei" panose="020B0604030504040204" pitchFamily="34" charset="-120"/>
                      </a:endParaRPr>
                    </a:p>
                    <a:p>
                      <a:pPr marL="0" indent="0" algn="l">
                        <a:lnSpc>
                          <a:spcPct val="100000"/>
                        </a:lnSpc>
                        <a:buNone/>
                      </a:pPr>
                      <a:r>
                        <a:rPr lang="vi-VN" sz="1200" b="0" strike="noStrike" spc="-1" dirty="0">
                          <a:solidFill>
                            <a:srgbClr val="000000"/>
                          </a:solidFill>
                          <a:latin typeface="+mj-lt"/>
                          <a:ea typeface="Microsoft JhengHei" panose="020B0604030504040204" pitchFamily="34" charset="-120"/>
                        </a:rPr>
                        <a:t>    (1) </a:t>
                      </a:r>
                      <a:r>
                        <a:rPr lang="en-US" sz="1200" b="0" strike="noStrike" spc="-1" dirty="0">
                          <a:solidFill>
                            <a:srgbClr val="000000"/>
                          </a:solidFill>
                          <a:latin typeface="+mj-lt"/>
                          <a:ea typeface="Microsoft JhengHei" panose="020B0604030504040204" pitchFamily="34" charset="-120"/>
                        </a:rPr>
                        <a:t>OMV Use case 2 receives data from more than 4 different IP addresses; we are compiling</a:t>
                      </a:r>
                      <a:r>
                        <a:rPr lang="vi-VN" sz="1200" b="0" strike="noStrike" spc="-1" dirty="0">
                          <a:solidFill>
                            <a:srgbClr val="000000"/>
                          </a:solidFill>
                          <a:latin typeface="+mj-lt"/>
                          <a:ea typeface="Microsoft JhengHei" panose="020B0604030504040204" pitchFamily="34" charset="-120"/>
                        </a:rPr>
                        <a:t> </a:t>
                      </a:r>
                      <a:r>
                        <a:rPr lang="en-US" sz="1200" b="0" strike="noStrike" spc="-1" dirty="0">
                          <a:solidFill>
                            <a:srgbClr val="000000"/>
                          </a:solidFill>
                          <a:latin typeface="+mj-lt"/>
                          <a:ea typeface="Microsoft JhengHei" panose="020B0604030504040204" pitchFamily="34" charset="-120"/>
                        </a:rPr>
                        <a:t>them into a list </a:t>
                      </a:r>
                      <a:r>
                        <a:rPr lang="vi-VN" sz="1200" b="0" strike="noStrike" spc="-1" dirty="0">
                          <a:solidFill>
                            <a:srgbClr val="000000"/>
                          </a:solidFill>
                          <a:latin typeface="+mj-lt"/>
                          <a:ea typeface="Microsoft JhengHei" panose="020B0604030504040204" pitchFamily="34" charset="-120"/>
                        </a:rPr>
                        <a:t>before </a:t>
                      </a:r>
                      <a:r>
                        <a:rPr lang="en-US" sz="1200" b="0" strike="noStrike" spc="-1" dirty="0">
                          <a:solidFill>
                            <a:srgbClr val="000000"/>
                          </a:solidFill>
                          <a:latin typeface="+mj-lt"/>
                          <a:ea typeface="Microsoft JhengHei" panose="020B0604030504040204" pitchFamily="34" charset="-120"/>
                        </a:rPr>
                        <a:t>submitting it.</a:t>
                      </a:r>
                      <a:r>
                        <a:rPr lang="vi-VN" sz="1200" b="0" strike="noStrike" spc="-1" dirty="0">
                          <a:solidFill>
                            <a:srgbClr val="000000"/>
                          </a:solidFill>
                          <a:latin typeface="+mj-lt"/>
                          <a:ea typeface="Microsoft JhengHei" panose="020B0604030504040204" pitchFamily="34" charset="-120"/>
                        </a:rPr>
                        <a:t> </a:t>
                      </a:r>
                      <a:r>
                        <a:rPr lang="en-US" sz="1200" b="0" strike="noStrike" spc="-1" dirty="0">
                          <a:solidFill>
                            <a:srgbClr val="000000"/>
                          </a:solidFill>
                          <a:latin typeface="+mj-lt"/>
                          <a:ea typeface="Microsoft JhengHei" panose="020B0604030504040204" pitchFamily="34" charset="-120"/>
                        </a:rPr>
                        <a:t>The application has been submitted and is awaiting approval.</a:t>
                      </a:r>
                      <a:r>
                        <a:rPr lang="vi-VN" sz="1200" b="0" strike="noStrike" spc="-1" dirty="0">
                          <a:solidFill>
                            <a:srgbClr val="000000"/>
                          </a:solidFill>
                          <a:latin typeface="+mj-lt"/>
                          <a:ea typeface="Microsoft JhengHei" panose="020B0604030504040204" pitchFamily="34" charset="-120"/>
                        </a:rPr>
                        <a:t>– </a:t>
                      </a:r>
                      <a:r>
                        <a:rPr lang="en-US" sz="1200" b="0" strike="noStrike" spc="-1" dirty="0">
                          <a:solidFill>
                            <a:srgbClr val="000000"/>
                          </a:solidFill>
                          <a:latin typeface="+mj-lt"/>
                          <a:ea typeface="Microsoft JhengHei" panose="020B0604030504040204" pitchFamily="34" charset="-120"/>
                        </a:rPr>
                        <a:t>D</a:t>
                      </a:r>
                      <a:r>
                        <a:rPr lang="vi-VN" sz="1200" b="0" strike="noStrike" spc="-1" dirty="0">
                          <a:solidFill>
                            <a:srgbClr val="000000"/>
                          </a:solidFill>
                          <a:latin typeface="+mj-lt"/>
                          <a:ea typeface="Microsoft JhengHei" panose="020B0604030504040204" pitchFamily="34" charset="-120"/>
                        </a:rPr>
                        <a:t>ue </a:t>
                      </a:r>
                      <a:r>
                        <a:rPr lang="en-US" sz="1200" b="0" strike="noStrike" spc="-1" dirty="0">
                          <a:solidFill>
                            <a:srgbClr val="000000"/>
                          </a:solidFill>
                          <a:latin typeface="+mj-lt"/>
                          <a:ea typeface="Microsoft JhengHei" panose="020B0604030504040204" pitchFamily="34" charset="-120"/>
                        </a:rPr>
                        <a:t>D</a:t>
                      </a:r>
                      <a:r>
                        <a:rPr lang="vi-VN" sz="1200" b="0" strike="noStrike" spc="-1" dirty="0">
                          <a:solidFill>
                            <a:srgbClr val="000000"/>
                          </a:solidFill>
                          <a:latin typeface="+mj-lt"/>
                          <a:ea typeface="Microsoft JhengHei" panose="020B0604030504040204" pitchFamily="34" charset="-120"/>
                        </a:rPr>
                        <a:t>ate</a:t>
                      </a:r>
                      <a:r>
                        <a:rPr lang="en-US" sz="1200" b="0" strike="noStrike" spc="-1" dirty="0">
                          <a:solidFill>
                            <a:srgbClr val="000000"/>
                          </a:solidFill>
                          <a:latin typeface="+mj-lt"/>
                          <a:ea typeface="Microsoft JhengHei" panose="020B0604030504040204" pitchFamily="34" charset="-120"/>
                        </a:rPr>
                        <a:t>:</a:t>
                      </a:r>
                      <a:r>
                        <a:rPr lang="vi-VN" sz="1200" b="0" strike="noStrike" spc="-1" dirty="0">
                          <a:solidFill>
                            <a:srgbClr val="000000"/>
                          </a:solidFill>
                          <a:latin typeface="+mj-lt"/>
                          <a:ea typeface="Microsoft JhengHei" panose="020B0604030504040204" pitchFamily="34" charset="-120"/>
                        </a:rPr>
                        <a:t> </a:t>
                      </a:r>
                      <a:r>
                        <a:rPr lang="en-US" sz="1200" b="0" strike="noStrike" spc="-1" dirty="0">
                          <a:solidFill>
                            <a:srgbClr val="0000CC"/>
                          </a:solidFill>
                          <a:latin typeface="+mj-lt"/>
                          <a:ea typeface="Microsoft JhengHei" panose="020B0604030504040204" pitchFamily="34" charset="-120"/>
                        </a:rPr>
                        <a:t>D days </a:t>
                      </a:r>
                      <a:r>
                        <a:rPr lang="vi-VN" sz="1200" b="0" strike="noStrike" spc="-1" dirty="0">
                          <a:solidFill>
                            <a:srgbClr val="0000CC"/>
                          </a:solidFill>
                          <a:latin typeface="+mj-lt"/>
                          <a:ea typeface="Microsoft JhengHei" panose="020B0604030504040204" pitchFamily="34" charset="-120"/>
                        </a:rPr>
                        <a:t>(</a:t>
                      </a:r>
                      <a:r>
                        <a:rPr lang="en-US" sz="1200" b="0" strike="noStrike" spc="-1" dirty="0">
                          <a:solidFill>
                            <a:srgbClr val="0000CC"/>
                          </a:solidFill>
                          <a:latin typeface="+mj-lt"/>
                          <a:ea typeface="Microsoft JhengHei" panose="020B0604030504040204" pitchFamily="34" charset="-120"/>
                        </a:rPr>
                        <a:t>D is the actual number of days it takes for the application to be approved.</a:t>
                      </a:r>
                      <a:r>
                        <a:rPr lang="vi-VN" sz="1200" b="0" strike="noStrike" spc="-1" dirty="0">
                          <a:solidFill>
                            <a:srgbClr val="0000CC"/>
                          </a:solidFill>
                          <a:latin typeface="+mj-lt"/>
                          <a:ea typeface="Microsoft JhengHei" panose="020B0604030504040204" pitchFamily="34" charset="-120"/>
                        </a:rPr>
                        <a:t>)</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en-US" sz="1200" b="0" strike="noStrike" spc="-1" dirty="0">
                          <a:solidFill>
                            <a:srgbClr val="000000"/>
                          </a:solidFill>
                          <a:latin typeface="+mj-lt"/>
                          <a:ea typeface="Microsoft JhengHei" panose="020B0604030504040204" pitchFamily="34" charset="-120"/>
                        </a:rPr>
                        <a:t>D+5</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7869006"/>
                  </a:ext>
                </a:extLst>
              </a:tr>
              <a:tr h="204322">
                <a:tc vMerge="1">
                  <a:txBody>
                    <a:bodyPr/>
                    <a:lstStyle/>
                    <a:p>
                      <a:endParaRPr lang="en-US"/>
                    </a:p>
                  </a:txBody>
                  <a:tcPr/>
                </a:tc>
                <a:tc vMerge="1">
                  <a:txBody>
                    <a:bodyPr/>
                    <a:lstStyle/>
                    <a:p>
                      <a:pPr algn="ctr">
                        <a:lnSpc>
                          <a:spcPct val="100000"/>
                        </a:lnSpc>
                        <a:buNone/>
                      </a:pPr>
                      <a:endParaRPr lang="en-US" sz="1200" b="0" strike="noStrike" spc="-1" dirty="0">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ct val="100000"/>
                        </a:lnSpc>
                        <a:buNone/>
                      </a:pPr>
                      <a:r>
                        <a:rPr lang="vi-VN" sz="1200" b="0" strike="noStrike" spc="-1" dirty="0">
                          <a:latin typeface="+mj-lt"/>
                          <a:ea typeface="Microsoft JhengHei" panose="020B0604030504040204" pitchFamily="34" charset="-120"/>
                        </a:rPr>
                        <a:t> 5. Re-configure</a:t>
                      </a:r>
                      <a:r>
                        <a:rPr lang="en-US" sz="1200" b="0" strike="noStrike" spc="-1" dirty="0">
                          <a:latin typeface="+mj-lt"/>
                          <a:ea typeface="Microsoft JhengHei" panose="020B0604030504040204" pitchFamily="34" charset="-120"/>
                        </a:rPr>
                        <a:t> and deploy OMV </a:t>
                      </a:r>
                      <a:r>
                        <a:rPr lang="vi-VN" sz="1200" b="0" strike="noStrike" spc="-1">
                          <a:latin typeface="+mj-lt"/>
                          <a:ea typeface="Microsoft JhengHei" panose="020B0604030504040204" pitchFamily="34" charset="-120"/>
                        </a:rPr>
                        <a:t>web- TARG</a:t>
                      </a:r>
                      <a:r>
                        <a:rPr lang="en-US" sz="1200" b="0" strike="noStrike" spc="-1">
                          <a:latin typeface="+mj-lt"/>
                          <a:ea typeface="Microsoft JhengHei" panose="020B0604030504040204" pitchFamily="34" charset="-120"/>
                        </a:rPr>
                        <a:t> </a:t>
                      </a:r>
                      <a:r>
                        <a:rPr lang="zh-CN" altLang="en-US" sz="1200" b="0" strike="noStrike" spc="-1">
                          <a:latin typeface="+mj-lt"/>
                          <a:ea typeface="Microsoft JhengHei" panose="020B0604030504040204" pitchFamily="34" charset="-120"/>
                        </a:rPr>
                        <a:t>陳</a:t>
                      </a:r>
                      <a:r>
                        <a:rPr lang="zh-CN" altLang="en-US" sz="1200" b="0" strike="noStrike" spc="-1" dirty="0">
                          <a:latin typeface="+mj-lt"/>
                          <a:ea typeface="Microsoft JhengHei" panose="020B0604030504040204" pitchFamily="34" charset="-120"/>
                        </a:rPr>
                        <a:t>冠瑋</a:t>
                      </a:r>
                      <a:r>
                        <a:rPr lang="en-US" altLang="zh-CN" sz="1200" b="0" strike="noStrike" spc="-1" dirty="0">
                          <a:latin typeface="+mj-lt"/>
                          <a:ea typeface="Microsoft JhengHei" panose="020B0604030504040204" pitchFamily="34" charset="-120"/>
                        </a:rPr>
                        <a:t>(</a:t>
                      </a:r>
                      <a:r>
                        <a:rPr lang="vi-VN" sz="1200" b="0" strike="noStrike" spc="-1" dirty="0">
                          <a:latin typeface="+mj-lt"/>
                          <a:ea typeface="Microsoft JhengHei" panose="020B0604030504040204" pitchFamily="34" charset="-120"/>
                        </a:rPr>
                        <a:t>Kuan-Wei Chen) Peter, </a:t>
                      </a:r>
                      <a:r>
                        <a:rPr lang="zh-CN" altLang="en-US" sz="1200" b="0" strike="noStrike" spc="-1" dirty="0">
                          <a:latin typeface="+mj-lt"/>
                          <a:ea typeface="Microsoft JhengHei" panose="020B0604030504040204" pitchFamily="34" charset="-120"/>
                        </a:rPr>
                        <a:t>阮功俊英</a:t>
                      </a:r>
                      <a:endParaRPr lang="vi-VN" sz="1200" b="0" strike="noStrike" spc="-1" dirty="0">
                        <a:latin typeface="+mj-lt"/>
                        <a:ea typeface="Microsoft JhengHei" panose="020B0604030504040204" pitchFamily="34" charset="-120"/>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en-US" sz="1200" b="0" strike="noStrike" spc="-1" dirty="0">
                          <a:solidFill>
                            <a:srgbClr val="000000"/>
                          </a:solidFill>
                          <a:latin typeface="+mj-lt"/>
                          <a:ea typeface="Microsoft JhengHei" panose="020B0604030504040204" pitchFamily="34" charset="-120"/>
                        </a:rPr>
                        <a:t>D+8</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735277"/>
                  </a:ext>
                </a:extLst>
              </a:tr>
              <a:tr h="204322">
                <a:tc vMerge="1">
                  <a:txBody>
                    <a:bodyPr/>
                    <a:lstStyle/>
                    <a:p>
                      <a:endParaRPr lang="en-US"/>
                    </a:p>
                  </a:txBody>
                  <a:tcPr/>
                </a:tc>
                <a:tc vMerge="1">
                  <a:txBody>
                    <a:bodyPr/>
                    <a:lstStyle/>
                    <a:p>
                      <a:endParaRPr lang="en-US"/>
                    </a:p>
                  </a:txBody>
                  <a:tcPr/>
                </a:tc>
                <a:tc>
                  <a:txBody>
                    <a:bodyPr/>
                    <a:lstStyle/>
                    <a:p>
                      <a:pPr marL="0" indent="0" algn="l">
                        <a:lnSpc>
                          <a:spcPct val="100000"/>
                        </a:lnSpc>
                        <a:buNone/>
                      </a:pPr>
                      <a:r>
                        <a:rPr lang="vi-VN" sz="1200" b="0" strike="noStrike" kern="1200" spc="-1" dirty="0">
                          <a:solidFill>
                            <a:schemeClr val="tx1"/>
                          </a:solidFill>
                          <a:latin typeface="+mn-lt"/>
                          <a:ea typeface="Microsoft JhengHei" panose="020B0604030504040204" pitchFamily="34" charset="-120"/>
                          <a:cs typeface="+mn-cs"/>
                        </a:rPr>
                        <a:t> 6. Run OMV Kit app service &amp; web service (change port to 8080</a:t>
                      </a:r>
                      <a:r>
                        <a:rPr lang="vi-VN" sz="1200" b="0" strike="noStrike" kern="1200" spc="-1">
                          <a:solidFill>
                            <a:schemeClr val="tx1"/>
                          </a:solidFill>
                          <a:latin typeface="+mn-lt"/>
                          <a:ea typeface="Microsoft JhengHei" panose="020B0604030504040204" pitchFamily="34" charset="-120"/>
                          <a:cs typeface="+mn-cs"/>
                        </a:rPr>
                        <a:t>)- TARG</a:t>
                      </a:r>
                      <a:r>
                        <a:rPr lang="en-US" sz="1200" b="0" strike="noStrike" kern="1200" spc="-1">
                          <a:solidFill>
                            <a:schemeClr val="tx1"/>
                          </a:solidFill>
                          <a:latin typeface="+mn-lt"/>
                          <a:ea typeface="Microsoft JhengHei" panose="020B0604030504040204" pitchFamily="34" charset="-120"/>
                          <a:cs typeface="+mn-cs"/>
                        </a:rPr>
                        <a:t> </a:t>
                      </a:r>
                      <a:r>
                        <a:rPr lang="zh-CN" altLang="en-US" sz="1200" b="0" strike="noStrike" kern="1200" spc="-1">
                          <a:solidFill>
                            <a:schemeClr val="tx1"/>
                          </a:solidFill>
                          <a:latin typeface="+mn-lt"/>
                          <a:ea typeface="Microsoft JhengHei" panose="020B0604030504040204" pitchFamily="34" charset="-120"/>
                          <a:cs typeface="+mn-cs"/>
                        </a:rPr>
                        <a:t>陳</a:t>
                      </a:r>
                      <a:r>
                        <a:rPr lang="zh-CN" altLang="en-US" sz="1200" b="0" strike="noStrike" kern="1200" spc="-1" dirty="0">
                          <a:solidFill>
                            <a:schemeClr val="tx1"/>
                          </a:solidFill>
                          <a:latin typeface="+mn-lt"/>
                          <a:ea typeface="Microsoft JhengHei" panose="020B0604030504040204" pitchFamily="34" charset="-120"/>
                          <a:cs typeface="+mn-cs"/>
                        </a:rPr>
                        <a:t>冠瑋</a:t>
                      </a:r>
                      <a:r>
                        <a:rPr lang="en-US" altLang="zh-CN" sz="1200" b="0" strike="noStrike" kern="1200" spc="-1" dirty="0">
                          <a:solidFill>
                            <a:schemeClr val="tx1"/>
                          </a:solidFill>
                          <a:latin typeface="+mn-lt"/>
                          <a:ea typeface="Microsoft JhengHei" panose="020B0604030504040204" pitchFamily="34" charset="-120"/>
                          <a:cs typeface="+mn-cs"/>
                        </a:rPr>
                        <a:t>(</a:t>
                      </a:r>
                      <a:r>
                        <a:rPr lang="vi-VN" sz="1200" b="0" strike="noStrike" kern="1200" spc="-1" dirty="0">
                          <a:solidFill>
                            <a:schemeClr val="tx1"/>
                          </a:solidFill>
                          <a:latin typeface="+mn-lt"/>
                          <a:ea typeface="Microsoft JhengHei" panose="020B0604030504040204" pitchFamily="34" charset="-120"/>
                          <a:cs typeface="+mn-cs"/>
                        </a:rPr>
                        <a:t>Kuan-Wei Chen) Peter, </a:t>
                      </a:r>
                      <a:r>
                        <a:rPr lang="zh-CN" altLang="en-US" sz="1200" b="0" strike="noStrike" kern="1200" spc="-1" dirty="0">
                          <a:solidFill>
                            <a:schemeClr val="tx1"/>
                          </a:solidFill>
                          <a:latin typeface="+mn-lt"/>
                          <a:ea typeface="Microsoft JhengHei" panose="020B0604030504040204" pitchFamily="34" charset="-120"/>
                          <a:cs typeface="+mn-cs"/>
                        </a:rPr>
                        <a:t>阮功俊英</a:t>
                      </a:r>
                      <a:endParaRPr lang="vi-VN" sz="1200" b="0" strike="noStrike" kern="1200" spc="-1" dirty="0">
                        <a:solidFill>
                          <a:schemeClr val="tx1"/>
                        </a:solidFill>
                        <a:latin typeface="+mn-lt"/>
                        <a:ea typeface="Microsoft JhengHei" panose="020B0604030504040204" pitchFamily="34" charset="-120"/>
                        <a:cs typeface="+mn-cs"/>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1200" b="0" strike="noStrike" kern="1200" spc="-1" dirty="0">
                          <a:solidFill>
                            <a:srgbClr val="000000"/>
                          </a:solidFill>
                          <a:latin typeface="+mn-lt"/>
                          <a:ea typeface="Microsoft JhengHei" panose="020B0604030504040204" pitchFamily="34" charset="-120"/>
                          <a:cs typeface="+mn-cs"/>
                        </a:rPr>
                        <a:t>D+8</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74510920"/>
                  </a:ext>
                </a:extLst>
              </a:tr>
              <a:tr h="204322">
                <a:tc vMerge="1">
                  <a:txBody>
                    <a:bodyPr/>
                    <a:lstStyle/>
                    <a:p>
                      <a:endParaRPr lang="en-US"/>
                    </a:p>
                  </a:txBody>
                  <a:tcPr/>
                </a:tc>
                <a:tc vMerge="1">
                  <a:txBody>
                    <a:bodyPr/>
                    <a:lstStyle/>
                    <a:p>
                      <a:endParaRPr lang="en-US"/>
                    </a:p>
                  </a:txBody>
                  <a:tcPr/>
                </a:tc>
                <a:tc>
                  <a:txBody>
                    <a:bodyPr/>
                    <a:lstStyle/>
                    <a:p>
                      <a:pPr marL="0" indent="0" algn="l">
                        <a:lnSpc>
                          <a:spcPct val="100000"/>
                        </a:lnSpc>
                        <a:buNone/>
                      </a:pPr>
                      <a:r>
                        <a:rPr lang="en-US" sz="1200" b="0" strike="noStrike" kern="1200" spc="-1" dirty="0">
                          <a:solidFill>
                            <a:schemeClr val="tx1"/>
                          </a:solidFill>
                          <a:latin typeface="+mn-lt"/>
                          <a:ea typeface="Microsoft JhengHei" panose="020B0604030504040204" pitchFamily="34" charset="-120"/>
                          <a:cs typeface="+mn-cs"/>
                        </a:rPr>
                        <a:t> </a:t>
                      </a:r>
                      <a:r>
                        <a:rPr lang="vi-VN" sz="1200" b="0" strike="noStrike" kern="1200" spc="-1" dirty="0">
                          <a:solidFill>
                            <a:schemeClr val="tx1"/>
                          </a:solidFill>
                          <a:latin typeface="+mn-lt"/>
                          <a:ea typeface="Microsoft JhengHei" panose="020B0604030504040204" pitchFamily="34" charset="-120"/>
                          <a:cs typeface="+mn-cs"/>
                        </a:rPr>
                        <a:t>7. </a:t>
                      </a:r>
                      <a:r>
                        <a:rPr lang="en-US" sz="1200" b="0" strike="noStrike" kern="1200" spc="-1" dirty="0">
                          <a:solidFill>
                            <a:schemeClr val="tx1"/>
                          </a:solidFill>
                          <a:latin typeface="+mn-lt"/>
                          <a:ea typeface="Microsoft JhengHei" panose="020B0604030504040204" pitchFamily="34" charset="-120"/>
                          <a:cs typeface="+mn-cs"/>
                        </a:rPr>
                        <a:t>Update </a:t>
                      </a:r>
                      <a:r>
                        <a:rPr lang="vi-VN" sz="1200" b="0" strike="noStrike" kern="1200" spc="-1" dirty="0">
                          <a:solidFill>
                            <a:schemeClr val="tx1"/>
                          </a:solidFill>
                          <a:latin typeface="+mn-lt"/>
                          <a:ea typeface="Microsoft JhengHei" panose="020B0604030504040204" pitchFamily="34" charset="-120"/>
                          <a:cs typeface="+mn-cs"/>
                        </a:rPr>
                        <a:t>i-</a:t>
                      </a:r>
                      <a:r>
                        <a:rPr lang="en-US" sz="1200" b="0" strike="noStrike" kern="1200" spc="-1" dirty="0">
                          <a:solidFill>
                            <a:schemeClr val="tx1"/>
                          </a:solidFill>
                          <a:latin typeface="+mn-lt"/>
                          <a:ea typeface="Microsoft JhengHei" panose="020B0604030504040204" pitchFamily="34" charset="-120"/>
                          <a:cs typeface="+mn-cs"/>
                        </a:rPr>
                        <a:t>frame on main website</a:t>
                      </a:r>
                      <a:r>
                        <a:rPr lang="vi-VN" sz="1200" b="0" strike="noStrike" kern="1200" spc="-1" dirty="0">
                          <a:solidFill>
                            <a:schemeClr val="tx1"/>
                          </a:solidFill>
                          <a:latin typeface="+mn-lt"/>
                          <a:ea typeface="Microsoft JhengHei" panose="020B0604030504040204" pitchFamily="34" charset="-120"/>
                          <a:cs typeface="+mn-cs"/>
                        </a:rPr>
                        <a:t>- </a:t>
                      </a:r>
                      <a:r>
                        <a:rPr lang="en-US" altLang="zh-CN" sz="1200" b="0" strike="noStrike" kern="1200" spc="-1" dirty="0" err="1">
                          <a:solidFill>
                            <a:schemeClr val="tx1"/>
                          </a:solidFill>
                          <a:latin typeface="+mn-lt"/>
                          <a:ea typeface="Microsoft JhengHei" panose="020B0604030504040204" pitchFamily="34" charset="-120"/>
                          <a:cs typeface="+mn-cs"/>
                        </a:rPr>
                        <a:t>AnyScript</a:t>
                      </a:r>
                      <a:endParaRPr lang="vi-VN" sz="1200" b="0" strike="noStrike" kern="1200" spc="-1" dirty="0">
                        <a:solidFill>
                          <a:schemeClr val="tx1"/>
                        </a:solidFill>
                        <a:latin typeface="+mn-lt"/>
                        <a:ea typeface="Microsoft JhengHei" panose="020B0604030504040204" pitchFamily="34" charset="-120"/>
                        <a:cs typeface="+mn-cs"/>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1200" b="0" strike="noStrike" kern="1200" spc="-1" dirty="0">
                          <a:solidFill>
                            <a:srgbClr val="000000"/>
                          </a:solidFill>
                          <a:latin typeface="+mn-lt"/>
                          <a:ea typeface="Microsoft JhengHei" panose="020B0604030504040204" pitchFamily="34" charset="-120"/>
                          <a:cs typeface="+mn-cs"/>
                        </a:rPr>
                        <a:t>D+11</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61946"/>
                  </a:ext>
                </a:extLst>
              </a:tr>
              <a:tr h="204322">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strike="noStrike" kern="1200" spc="-1" dirty="0">
                          <a:solidFill>
                            <a:schemeClr val="tx1"/>
                          </a:solidFill>
                          <a:latin typeface="+mn-lt"/>
                          <a:ea typeface="Microsoft JhengHei" panose="020B0604030504040204" pitchFamily="34" charset="-120"/>
                          <a:cs typeface="+mn-cs"/>
                        </a:rPr>
                        <a:t> 8. Test website </a:t>
                      </a:r>
                      <a:r>
                        <a:rPr lang="vi-VN" sz="1200" b="0" strike="noStrike" kern="1200" spc="-1">
                          <a:solidFill>
                            <a:schemeClr val="tx1"/>
                          </a:solidFill>
                          <a:latin typeface="+mn-lt"/>
                          <a:ea typeface="Microsoft JhengHei" panose="020B0604030504040204" pitchFamily="34" charset="-120"/>
                          <a:cs typeface="+mn-cs"/>
                        </a:rPr>
                        <a:t>function- TARG</a:t>
                      </a:r>
                      <a:r>
                        <a:rPr lang="en-US" sz="1200" b="0" strike="noStrike" kern="1200" spc="-1">
                          <a:solidFill>
                            <a:schemeClr val="tx1"/>
                          </a:solidFill>
                          <a:latin typeface="+mn-lt"/>
                          <a:ea typeface="Microsoft JhengHei" panose="020B0604030504040204" pitchFamily="34" charset="-120"/>
                          <a:cs typeface="+mn-cs"/>
                        </a:rPr>
                        <a:t> </a:t>
                      </a:r>
                      <a:r>
                        <a:rPr lang="zh-CN" altLang="en-US" sz="1200" b="0" strike="noStrike" kern="1200" spc="-1">
                          <a:solidFill>
                            <a:schemeClr val="tx1"/>
                          </a:solidFill>
                          <a:latin typeface="+mn-lt"/>
                          <a:ea typeface="Microsoft JhengHei" panose="020B0604030504040204" pitchFamily="34" charset="-120"/>
                          <a:cs typeface="+mn-cs"/>
                        </a:rPr>
                        <a:t>陳</a:t>
                      </a:r>
                      <a:r>
                        <a:rPr lang="zh-CN" altLang="en-US" sz="1200" b="0" strike="noStrike" kern="1200" spc="-1" dirty="0">
                          <a:solidFill>
                            <a:schemeClr val="tx1"/>
                          </a:solidFill>
                          <a:latin typeface="+mn-lt"/>
                          <a:ea typeface="Microsoft JhengHei" panose="020B0604030504040204" pitchFamily="34" charset="-120"/>
                          <a:cs typeface="+mn-cs"/>
                        </a:rPr>
                        <a:t>冠瑋</a:t>
                      </a:r>
                      <a:r>
                        <a:rPr lang="en-US" altLang="zh-CN" sz="1200" b="0" strike="noStrike" kern="1200" spc="-1" dirty="0">
                          <a:solidFill>
                            <a:schemeClr val="tx1"/>
                          </a:solidFill>
                          <a:latin typeface="+mn-lt"/>
                          <a:ea typeface="Microsoft JhengHei" panose="020B0604030504040204" pitchFamily="34" charset="-120"/>
                          <a:cs typeface="+mn-cs"/>
                        </a:rPr>
                        <a:t>(</a:t>
                      </a:r>
                      <a:r>
                        <a:rPr lang="vi-VN" sz="1200" b="0" strike="noStrike" kern="1200" spc="-1" dirty="0">
                          <a:solidFill>
                            <a:schemeClr val="tx1"/>
                          </a:solidFill>
                          <a:latin typeface="+mn-lt"/>
                          <a:ea typeface="Microsoft JhengHei" panose="020B0604030504040204" pitchFamily="34" charset="-120"/>
                          <a:cs typeface="+mn-cs"/>
                        </a:rPr>
                        <a:t>Kuan-Wei Chen) Peter, </a:t>
                      </a:r>
                      <a:r>
                        <a:rPr lang="zh-CN" altLang="en-US" sz="1200" b="0" strike="noStrike" kern="1200" spc="-1" dirty="0">
                          <a:solidFill>
                            <a:schemeClr val="tx1"/>
                          </a:solidFill>
                          <a:latin typeface="+mn-lt"/>
                          <a:ea typeface="Microsoft JhengHei" panose="020B0604030504040204" pitchFamily="34" charset="-120"/>
                          <a:cs typeface="+mn-cs"/>
                        </a:rPr>
                        <a:t>阮功俊英</a:t>
                      </a:r>
                      <a:endParaRPr lang="en-US" sz="1200" b="0" strike="noStrike" kern="1200" spc="-1" dirty="0">
                        <a:solidFill>
                          <a:schemeClr val="tx1"/>
                        </a:solidFill>
                        <a:latin typeface="+mn-lt"/>
                        <a:ea typeface="Microsoft JhengHei" panose="020B0604030504040204" pitchFamily="34" charset="-120"/>
                        <a:cs typeface="+mn-cs"/>
                      </a:endParaRP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1200" b="0" strike="noStrike" kern="1200" spc="-1" dirty="0">
                          <a:solidFill>
                            <a:srgbClr val="000000"/>
                          </a:solidFill>
                          <a:latin typeface="+mn-lt"/>
                          <a:ea typeface="Microsoft JhengHei" panose="020B0604030504040204" pitchFamily="34" charset="-120"/>
                          <a:cs typeface="+mn-cs"/>
                        </a:rPr>
                        <a:t>D+16</a:t>
                      </a:r>
                    </a:p>
                  </a:txBody>
                  <a:tcPr marL="4320" marR="43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2115401"/>
                  </a:ext>
                </a:extLst>
              </a:tr>
              <a:tr h="476751">
                <a:tc rowSpan="5">
                  <a:txBody>
                    <a:bodyPr/>
                    <a:lstStyle/>
                    <a:p>
                      <a:pPr algn="ctr">
                        <a:lnSpc>
                          <a:spcPct val="100000"/>
                        </a:lnSpc>
                        <a:buNone/>
                      </a:pPr>
                      <a:r>
                        <a:rPr lang="vi-VN" sz="1200" b="0" strike="noStrike" spc="-1" dirty="0">
                          <a:latin typeface="+mj-lt"/>
                          <a:ea typeface="Microsoft JhengHei" panose="020B0604030504040204" pitchFamily="34" charset="-12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Onmiverse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ct val="100000"/>
                        </a:lnSpc>
                        <a:buNone/>
                      </a:pPr>
                      <a:r>
                        <a:rPr lang="vi-VN" sz="1200" b="0" strike="noStrike" spc="-1" dirty="0">
                          <a:latin typeface="+mj-lt"/>
                          <a:ea typeface="Microsoft JhengHei" panose="020B0604030504040204" pitchFamily="34" charset="-120"/>
                        </a:rPr>
                        <a:t>1. Create access application to transfer data – </a:t>
                      </a:r>
                      <a:r>
                        <a:rPr lang="vi-VN" sz="1200" b="0" strike="noStrike" spc="-1" dirty="0">
                          <a:highlight>
                            <a:srgbClr val="00FF00"/>
                          </a:highlight>
                          <a:latin typeface="+mj-lt"/>
                          <a:ea typeface="Microsoft JhengHei" panose="020B0604030504040204" pitchFamily="34" charset="-120"/>
                        </a:rPr>
                        <a:t>Done-</a:t>
                      </a:r>
                      <a:r>
                        <a:rPr lang="zh-CN" altLang="en-US" sz="1200" b="0" strike="noStrike" spc="-1" dirty="0">
                          <a:highlight>
                            <a:srgbClr val="00FF00"/>
                          </a:highlight>
                          <a:latin typeface="+mj-lt"/>
                          <a:ea typeface="Microsoft JhengHei" panose="020B0604030504040204" pitchFamily="34" charset="-120"/>
                        </a:rPr>
                        <a:t>阮功俊英</a:t>
                      </a:r>
                      <a:r>
                        <a:rPr lang="vi-VN" altLang="zh-CN" sz="1200" b="0" strike="noStrike" spc="-1" dirty="0">
                          <a:highlight>
                            <a:srgbClr val="00FF00"/>
                          </a:highlight>
                          <a:latin typeface="+mj-lt"/>
                          <a:ea typeface="Microsoft JhengHei" panose="020B0604030504040204" pitchFamily="34" charset="-120"/>
                        </a:rPr>
                        <a:t>,</a:t>
                      </a:r>
                      <a:r>
                        <a:rPr lang="zh-CN" altLang="en-US" sz="1200" b="0" strike="noStrike" spc="-1" dirty="0">
                          <a:highlight>
                            <a:srgbClr val="00FF00"/>
                          </a:highlight>
                          <a:latin typeface="+mj-lt"/>
                          <a:ea typeface="Microsoft JhengHei" panose="020B0604030504040204" pitchFamily="34" charset="-120"/>
                        </a:rPr>
                        <a:t> 潘落興</a:t>
                      </a:r>
                      <a:r>
                        <a:rPr lang="vi-VN" altLang="zh-CN" sz="1200" b="0" strike="noStrike" spc="-1" dirty="0">
                          <a:highlight>
                            <a:srgbClr val="00FF00"/>
                          </a:highlight>
                          <a:latin typeface="+mj-lt"/>
                          <a:ea typeface="Microsoft JhengHei" panose="020B0604030504040204" pitchFamily="34" charset="-120"/>
                        </a:rPr>
                        <a:t>-26/04/08</a:t>
                      </a:r>
                      <a:endParaRPr lang="vi-VN" sz="1200" b="0" strike="noStrike" spc="-1" dirty="0">
                        <a:highlight>
                          <a:srgbClr val="00FF00"/>
                        </a:highlight>
                        <a:latin typeface="+mj-lt"/>
                        <a:ea typeface="Microsoft JhengHei" panose="020B0604030504040204" pitchFamily="34" charset="-120"/>
                      </a:endParaRPr>
                    </a:p>
                    <a:p>
                      <a:pPr marL="0" indent="0" algn="l">
                        <a:lnSpc>
                          <a:spcPct val="100000"/>
                        </a:lnSpc>
                        <a:buNone/>
                      </a:pPr>
                      <a:r>
                        <a:rPr lang="vi-VN" sz="1200" b="0" strike="noStrike" spc="-1" dirty="0">
                          <a:latin typeface="+mj-lt"/>
                          <a:ea typeface="Microsoft JhengHei" panose="020B0604030504040204" pitchFamily="34" charset="-120"/>
                        </a:rPr>
                        <a:t>2. Setting server </a:t>
                      </a:r>
                      <a:r>
                        <a:rPr lang="en-US" sz="1200" b="0" strike="noStrike" spc="-1" dirty="0">
                          <a:latin typeface="+mj-lt"/>
                          <a:ea typeface="Microsoft JhengHei" panose="020B0604030504040204" pitchFamily="34" charset="-120"/>
                        </a:rPr>
                        <a:t>&amp;</a:t>
                      </a:r>
                      <a:r>
                        <a:rPr lang="vi-VN" sz="1200" b="0" strike="noStrike" spc="-1" dirty="0">
                          <a:latin typeface="+mj-lt"/>
                          <a:ea typeface="Microsoft JhengHei" panose="020B0604030504040204" pitchFamily="34" charset="-120"/>
                        </a:rPr>
                        <a:t> create new VM</a:t>
                      </a:r>
                      <a:r>
                        <a:rPr lang="en-US" sz="1200" b="0" strike="noStrike" spc="-1" dirty="0">
                          <a:latin typeface="+mj-lt"/>
                          <a:ea typeface="Microsoft JhengHei" panose="020B0604030504040204" pitchFamily="34" charset="-120"/>
                        </a:rPr>
                        <a:t> (</a:t>
                      </a:r>
                      <a:r>
                        <a:rPr lang="vi-VN" sz="1200" b="0" strike="noStrike" spc="-1" dirty="0">
                          <a:latin typeface="+mj-lt"/>
                          <a:ea typeface="Microsoft JhengHei" panose="020B0604030504040204" pitchFamily="34" charset="-120"/>
                        </a:rPr>
                        <a:t>75.</a:t>
                      </a:r>
                      <a:r>
                        <a:rPr lang="en-US" sz="1200" b="0" strike="noStrike" spc="-1" dirty="0">
                          <a:latin typeface="+mj-lt"/>
                          <a:ea typeface="Microsoft JhengHei" panose="020B0604030504040204" pitchFamily="34" charset="-120"/>
                        </a:rPr>
                        <a:t>41)</a:t>
                      </a:r>
                      <a:r>
                        <a:rPr lang="vi-VN" sz="1200" b="0" strike="noStrike" spc="-1" dirty="0">
                          <a:latin typeface="+mj-lt"/>
                          <a:ea typeface="Microsoft JhengHei" panose="020B0604030504040204" pitchFamily="34" charset="-120"/>
                        </a:rPr>
                        <a:t> to store data of case 4 OMV– </a:t>
                      </a:r>
                      <a:r>
                        <a:rPr lang="vi-VN" sz="1200" b="0" strike="noStrike" spc="-1" dirty="0">
                          <a:highlight>
                            <a:srgbClr val="00FF00"/>
                          </a:highlight>
                          <a:latin typeface="+mj-lt"/>
                          <a:ea typeface="Microsoft JhengHei" panose="020B0604030504040204" pitchFamily="34" charset="-120"/>
                        </a:rPr>
                        <a:t>Done-Panda-26/04/07</a:t>
                      </a:r>
                      <a:endParaRPr lang="vi-VN" sz="1200" b="0" strike="noStrike" spc="-1" dirty="0">
                        <a:latin typeface="+mj-lt"/>
                        <a:ea typeface="Microsoft JhengHei" panose="020B0604030504040204" pitchFamily="34" charset="-120"/>
                      </a:endParaRPr>
                    </a:p>
                    <a:p>
                      <a:pPr marL="0" indent="0" algn="l">
                        <a:lnSpc>
                          <a:spcPct val="100000"/>
                        </a:lnSpc>
                        <a:buNone/>
                      </a:pPr>
                      <a:r>
                        <a:rPr lang="vi-VN" sz="1200" kern="1200" dirty="0">
                          <a:solidFill>
                            <a:schemeClr val="tx1"/>
                          </a:solidFill>
                          <a:latin typeface="+mn-lt"/>
                          <a:ea typeface="+mn-ea"/>
                          <a:cs typeface="+mn-cs"/>
                        </a:rPr>
                        <a:t>3. </a:t>
                      </a:r>
                      <a:r>
                        <a:rPr lang="en-US" sz="1200" kern="1200" dirty="0">
                          <a:solidFill>
                            <a:schemeClr val="tx1"/>
                          </a:solidFill>
                          <a:latin typeface="+mn-lt"/>
                          <a:ea typeface="+mn-ea"/>
                          <a:cs typeface="+mn-cs"/>
                        </a:rPr>
                        <a:t>Transfer data from old server (93.48) to new server (75.14) and then to VM42 (</a:t>
                      </a:r>
                      <a:r>
                        <a:rPr lang="vi-VN" sz="1200" kern="1200" dirty="0">
                          <a:solidFill>
                            <a:schemeClr val="tx1"/>
                          </a:solidFill>
                          <a:latin typeface="+mn-lt"/>
                          <a:ea typeface="+mn-ea"/>
                          <a:cs typeface="+mn-cs"/>
                        </a:rPr>
                        <a:t>75</a:t>
                      </a:r>
                      <a:r>
                        <a:rPr lang="en-US" sz="1200" kern="1200" dirty="0">
                          <a:solidFill>
                            <a:schemeClr val="tx1"/>
                          </a:solidFill>
                          <a:latin typeface="+mn-lt"/>
                          <a:ea typeface="+mn-ea"/>
                          <a:cs typeface="+mn-cs"/>
                        </a:rPr>
                        <a:t>.42)</a:t>
                      </a:r>
                      <a:r>
                        <a:rPr lang="vi-VN" sz="1200" b="0" strike="noStrike" kern="1200" spc="-1" dirty="0">
                          <a:solidFill>
                            <a:schemeClr val="tx1"/>
                          </a:solidFill>
                          <a:latin typeface="+mn-lt"/>
                          <a:ea typeface="Microsoft JhengHei" panose="020B0604030504040204" pitchFamily="34" charset="-120"/>
                          <a:cs typeface="+mn-cs"/>
                        </a:rPr>
                        <a:t>–</a:t>
                      </a:r>
                      <a:r>
                        <a:rPr lang="vi-VN" sz="1200" b="0" strike="noStrike" kern="1200" spc="-1" dirty="0">
                          <a:solidFill>
                            <a:schemeClr val="tx1"/>
                          </a:solidFill>
                          <a:highlight>
                            <a:srgbClr val="00FF00"/>
                          </a:highlight>
                          <a:latin typeface="+mn-lt"/>
                          <a:ea typeface="Microsoft JhengHei" panose="020B0604030504040204" pitchFamily="34" charset="-120"/>
                          <a:cs typeface="+mn-cs"/>
                        </a:rPr>
                        <a:t>Done-</a:t>
                      </a:r>
                      <a:r>
                        <a:rPr lang="vi-VN" sz="1200" b="0" strike="noStrike" kern="1200" spc="-1" dirty="0">
                          <a:solidFill>
                            <a:schemeClr val="tx1"/>
                          </a:solidFill>
                          <a:latin typeface="+mn-lt"/>
                          <a:ea typeface="Microsoft JhengHei" panose="020B0604030504040204" pitchFamily="34" charset="-120"/>
                          <a:cs typeface="+mn-cs"/>
                        </a:rPr>
                        <a:t>TARG</a:t>
                      </a:r>
                      <a:r>
                        <a:rPr lang="zh-CN" altLang="en-US" sz="1200" b="0" strike="noStrike" kern="1200" spc="-1" dirty="0">
                          <a:solidFill>
                            <a:schemeClr val="tx1"/>
                          </a:solidFill>
                          <a:highlight>
                            <a:srgbClr val="00FF00"/>
                          </a:highlight>
                          <a:latin typeface="+mn-lt"/>
                          <a:ea typeface="Microsoft JhengHei" panose="020B0604030504040204" pitchFamily="34" charset="-120"/>
                          <a:cs typeface="+mn-cs"/>
                        </a:rPr>
                        <a:t>陳冠瑋</a:t>
                      </a:r>
                      <a:r>
                        <a:rPr lang="en-US" altLang="zh-CN" sz="1200" b="0" strike="noStrike" kern="1200" spc="-1" dirty="0">
                          <a:solidFill>
                            <a:schemeClr val="tx1"/>
                          </a:solidFill>
                          <a:highlight>
                            <a:srgbClr val="00FF00"/>
                          </a:highlight>
                          <a:latin typeface="+mn-lt"/>
                          <a:ea typeface="Microsoft JhengHei" panose="020B0604030504040204" pitchFamily="34" charset="-120"/>
                          <a:cs typeface="+mn-cs"/>
                        </a:rPr>
                        <a:t>(</a:t>
                      </a:r>
                      <a:r>
                        <a:rPr lang="vi-VN" sz="1200" b="0" strike="noStrike" kern="1200" spc="-1" dirty="0">
                          <a:solidFill>
                            <a:schemeClr val="tx1"/>
                          </a:solidFill>
                          <a:highlight>
                            <a:srgbClr val="00FF00"/>
                          </a:highlight>
                          <a:latin typeface="+mn-lt"/>
                          <a:ea typeface="Microsoft JhengHei" panose="020B0604030504040204" pitchFamily="34" charset="-120"/>
                          <a:cs typeface="+mn-cs"/>
                        </a:rPr>
                        <a:t>Kuan-Wei Chen) Peter-26/04/13</a:t>
                      </a:r>
                      <a:endParaRPr lang="vi-VN"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kern="1200" spc="-1" dirty="0">
                          <a:solidFill>
                            <a:schemeClr val="tx1"/>
                          </a:solidFill>
                          <a:highlight>
                            <a:srgbClr val="00FF00"/>
                          </a:highlight>
                          <a:latin typeface="+mn-lt"/>
                          <a:ea typeface="Microsoft JhengHei" panose="020B0604030504040204" pitchFamily="34" charset="-120"/>
                          <a:cs typeface="+mn-cs"/>
                        </a:rPr>
                        <a:t>26/04/15</a:t>
                      </a:r>
                      <a:endParaRPr lang="en-US" sz="1200" b="0" strike="noStrike" kern="1200" spc="-1" dirty="0">
                        <a:solidFill>
                          <a:srgbClr val="000000"/>
                        </a:solidFill>
                        <a:highlight>
                          <a:srgbClr val="00FF00"/>
                        </a:highlight>
                        <a:latin typeface="+mn-lt"/>
                        <a:ea typeface="Microsoft JhengHei" panose="020B0604030504040204" pitchFamily="34" charset="-120"/>
                        <a:cs typeface="+mn-cs"/>
                      </a:endParaRPr>
                    </a:p>
                    <a:p>
                      <a:pPr algn="ctr">
                        <a:lnSpc>
                          <a:spcPct val="100000"/>
                        </a:lnSpc>
                        <a:buNone/>
                        <a:tabLst>
                          <a:tab pos="0" algn="l"/>
                        </a:tabLst>
                      </a:pPr>
                      <a:endParaRPr lang="vi-VN"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76751">
                <a:tc vMerge="1">
                  <a:txBody>
                    <a:bodyPr/>
                    <a:lstStyle/>
                    <a:p>
                      <a:endParaRPr lang="en-US"/>
                    </a:p>
                  </a:txBody>
                  <a:tcPr/>
                </a:tc>
                <a:tc vMerge="1">
                  <a:txBody>
                    <a:bodyPr/>
                    <a:lstStyle/>
                    <a:p>
                      <a:endParaRPr lang="en-US"/>
                    </a:p>
                  </a:txBody>
                  <a:tcPr/>
                </a:tc>
                <a:tc>
                  <a:txBody>
                    <a:bodyPr/>
                    <a:lstStyle/>
                    <a:p>
                      <a:pPr algn="l">
                        <a:lnSpc>
                          <a:spcPct val="100000"/>
                        </a:lnSpc>
                        <a:buNone/>
                        <a:tabLst>
                          <a:tab pos="0" algn="l"/>
                        </a:tabLst>
                      </a:pPr>
                      <a:r>
                        <a:rPr lang="vi-VN" sz="1200" b="0" strike="noStrike" kern="1200" spc="-1" dirty="0">
                          <a:solidFill>
                            <a:schemeClr val="tx1"/>
                          </a:solidFill>
                          <a:latin typeface="+mn-lt"/>
                          <a:ea typeface="Microsoft JhengHei" panose="020B0604030504040204" pitchFamily="34" charset="-120"/>
                          <a:cs typeface="+mn-cs"/>
                        </a:rPr>
                        <a:t>4. Test website function – </a:t>
                      </a:r>
                      <a:r>
                        <a:rPr lang="vi-VN" sz="1200" b="0" strike="noStrike" kern="1200" spc="-1" dirty="0">
                          <a:solidFill>
                            <a:schemeClr val="tx1"/>
                          </a:solidFill>
                          <a:highlight>
                            <a:srgbClr val="FFFF00"/>
                          </a:highlight>
                          <a:latin typeface="+mn-lt"/>
                          <a:ea typeface="Microsoft JhengHei" panose="020B0604030504040204" pitchFamily="34" charset="-120"/>
                          <a:cs typeface="+mn-cs"/>
                        </a:rPr>
                        <a:t>On going-</a:t>
                      </a:r>
                      <a:r>
                        <a:rPr lang="zh-CN" altLang="en-US" sz="1200" b="0" strike="noStrike" kern="1200" spc="-1" dirty="0">
                          <a:solidFill>
                            <a:schemeClr val="tx1"/>
                          </a:solidFill>
                          <a:highlight>
                            <a:srgbClr val="FFFF00"/>
                          </a:highlight>
                          <a:latin typeface="+mn-lt"/>
                          <a:ea typeface="Microsoft JhengHei" panose="020B0604030504040204" pitchFamily="34" charset="-120"/>
                          <a:cs typeface="+mn-cs"/>
                        </a:rPr>
                        <a:t>鄧潘英</a:t>
                      </a:r>
                      <a:r>
                        <a:rPr lang="vi-VN" altLang="zh-CN" sz="1200" b="0" strike="noStrike" kern="1200" spc="-1" dirty="0">
                          <a:solidFill>
                            <a:schemeClr val="tx1"/>
                          </a:solidFill>
                          <a:highlight>
                            <a:srgbClr val="FFFF00"/>
                          </a:highlight>
                          <a:latin typeface="+mn-lt"/>
                          <a:ea typeface="Microsoft JhengHei" panose="020B0604030504040204" pitchFamily="34" charset="-120"/>
                          <a:cs typeface="+mn-cs"/>
                        </a:rPr>
                        <a:t>, TARG</a:t>
                      </a:r>
                      <a:r>
                        <a:rPr lang="en-US" altLang="zh-CN" sz="1200" b="0" strike="noStrike" kern="1200" spc="-1" dirty="0">
                          <a:solidFill>
                            <a:schemeClr val="tx1"/>
                          </a:solidFill>
                          <a:highlight>
                            <a:srgbClr val="FFFF00"/>
                          </a:highlight>
                          <a:latin typeface="+mn-lt"/>
                          <a:ea typeface="Microsoft JhengHei" panose="020B0604030504040204" pitchFamily="34" charset="-120"/>
                          <a:cs typeface="+mn-cs"/>
                        </a:rPr>
                        <a:t> </a:t>
                      </a:r>
                      <a:r>
                        <a:rPr lang="vi-VN" sz="1200" b="0" strike="noStrike" kern="1200" spc="-1" dirty="0">
                          <a:solidFill>
                            <a:schemeClr val="tx1"/>
                          </a:solidFill>
                          <a:highlight>
                            <a:srgbClr val="FFFF00"/>
                          </a:highlight>
                          <a:latin typeface="+mn-lt"/>
                          <a:ea typeface="Microsoft JhengHei" panose="020B0604030504040204" pitchFamily="34" charset="-120"/>
                          <a:cs typeface="+mn-cs"/>
                        </a:rPr>
                        <a:t>Peter, TARG</a:t>
                      </a:r>
                      <a:r>
                        <a:rPr lang="en-US" sz="1200" b="0" strike="noStrike" kern="1200" spc="-1" dirty="0">
                          <a:solidFill>
                            <a:schemeClr val="tx1"/>
                          </a:solidFill>
                          <a:highlight>
                            <a:srgbClr val="FFFF00"/>
                          </a:highlight>
                          <a:latin typeface="+mn-lt"/>
                          <a:ea typeface="Microsoft JhengHei" panose="020B0604030504040204" pitchFamily="34" charset="-120"/>
                          <a:cs typeface="+mn-cs"/>
                        </a:rPr>
                        <a:t> </a:t>
                      </a:r>
                      <a:r>
                        <a:rPr lang="vi-VN" sz="1200" b="0" strike="noStrike" kern="1200" spc="-1" dirty="0">
                          <a:solidFill>
                            <a:schemeClr val="tx1"/>
                          </a:solidFill>
                          <a:highlight>
                            <a:srgbClr val="FFFF00"/>
                          </a:highlight>
                          <a:latin typeface="+mn-lt"/>
                          <a:ea typeface="Microsoft JhengHei" panose="020B0604030504040204" pitchFamily="34" charset="-120"/>
                          <a:cs typeface="+mn-cs"/>
                        </a:rPr>
                        <a:t>Panda</a:t>
                      </a:r>
                    </a:p>
                    <a:p>
                      <a:pPr algn="l">
                        <a:lnSpc>
                          <a:spcPct val="100000"/>
                        </a:lnSpc>
                        <a:buNone/>
                        <a:tabLst>
                          <a:tab pos="0" algn="l"/>
                        </a:tabLst>
                      </a:pPr>
                      <a:r>
                        <a:rPr lang="vi-VN" sz="1200" b="0" strike="noStrike" kern="1200" spc="-1" dirty="0">
                          <a:solidFill>
                            <a:schemeClr val="tx1"/>
                          </a:solidFill>
                          <a:latin typeface="+mn-lt"/>
                          <a:ea typeface="Microsoft JhengHei" panose="020B0604030504040204" pitchFamily="34" charset="-120"/>
                          <a:cs typeface="+mn-cs"/>
                        </a:rPr>
                        <a:t>    (1) (1) </a:t>
                      </a:r>
                      <a:r>
                        <a:rPr lang="en-US" sz="1200"/>
                        <a:t>Omniverse service </a:t>
                      </a:r>
                      <a:r>
                        <a:rPr lang="en-US" sz="1200" dirty="0"/>
                        <a:t>retrieves data from server 72.75.41 via ports 8080 and 49100.</a:t>
                      </a:r>
                      <a:r>
                        <a:rPr lang="vi-VN" sz="1200" dirty="0"/>
                        <a:t> </a:t>
                      </a:r>
                      <a:r>
                        <a:rPr lang="en-US" sz="1200" dirty="0"/>
                        <a:t>Currently, only port 8080 is</a:t>
                      </a:r>
                      <a:r>
                        <a:rPr lang="vi-VN" sz="1200" dirty="0"/>
                        <a:t> </a:t>
                      </a:r>
                      <a:r>
                        <a:rPr lang="en-US" sz="1200"/>
                        <a:t>accessible </a:t>
                      </a:r>
                    </a:p>
                    <a:p>
                      <a:pPr algn="l">
                        <a:lnSpc>
                          <a:spcPct val="100000"/>
                        </a:lnSpc>
                        <a:buNone/>
                        <a:tabLst>
                          <a:tab pos="0" algn="l"/>
                        </a:tabLst>
                      </a:pPr>
                      <a:r>
                        <a:rPr lang="vi-VN" sz="1200" kern="1200">
                          <a:solidFill>
                            <a:schemeClr val="tx1"/>
                          </a:solidFill>
                          <a:latin typeface="+mn-lt"/>
                          <a:ea typeface="+mn-ea"/>
                          <a:cs typeface="+mn-cs"/>
                          <a:sym typeface="Wingdings" panose="05000000000000000000" pitchFamily="2" charset="2"/>
                        </a:rPr>
                        <a:t> </a:t>
                      </a:r>
                      <a:r>
                        <a:rPr lang="vi-VN" sz="1200" kern="1200" dirty="0">
                          <a:solidFill>
                            <a:schemeClr val="tx1"/>
                          </a:solidFill>
                          <a:latin typeface="+mn-lt"/>
                          <a:ea typeface="+mn-ea"/>
                          <a:cs typeface="+mn-cs"/>
                          <a:sym typeface="Wingdings" panose="05000000000000000000" pitchFamily="2" charset="2"/>
                        </a:rPr>
                        <a:t>Waiting for the access application to open port 49100-</a:t>
                      </a:r>
                      <a:r>
                        <a:rPr lang="vi-VN" sz="1200" b="0" strike="noStrike" kern="1200" spc="-1" dirty="0">
                          <a:solidFill>
                            <a:schemeClr val="tx1"/>
                          </a:solidFill>
                          <a:latin typeface="+mn-lt"/>
                          <a:ea typeface="Microsoft JhengHei" panose="020B0604030504040204" pitchFamily="34" charset="-120"/>
                          <a:cs typeface="+mn-cs"/>
                        </a:rPr>
                        <a:t> </a:t>
                      </a:r>
                      <a:r>
                        <a:rPr lang="en-US" sz="1200" b="0" strike="noStrike" kern="1200" spc="-1" dirty="0">
                          <a:solidFill>
                            <a:srgbClr val="000000"/>
                          </a:solidFill>
                          <a:latin typeface="+mn-lt"/>
                          <a:ea typeface="Microsoft JhengHei" panose="020B0604030504040204" pitchFamily="34" charset="-120"/>
                          <a:cs typeface="+mn-cs"/>
                        </a:rPr>
                        <a:t>D</a:t>
                      </a:r>
                      <a:r>
                        <a:rPr lang="vi-VN" sz="1200" b="0" strike="noStrike" kern="1200" spc="-1" dirty="0">
                          <a:solidFill>
                            <a:srgbClr val="000000"/>
                          </a:solidFill>
                          <a:latin typeface="+mn-lt"/>
                          <a:ea typeface="Microsoft JhengHei" panose="020B0604030504040204" pitchFamily="34" charset="-120"/>
                          <a:cs typeface="+mn-cs"/>
                        </a:rPr>
                        <a:t>ue </a:t>
                      </a:r>
                      <a:r>
                        <a:rPr lang="en-US" sz="1200" b="0" strike="noStrike" kern="1200" spc="-1" dirty="0">
                          <a:solidFill>
                            <a:srgbClr val="000000"/>
                          </a:solidFill>
                          <a:latin typeface="+mn-lt"/>
                          <a:ea typeface="Microsoft JhengHei" panose="020B0604030504040204" pitchFamily="34" charset="-120"/>
                          <a:cs typeface="+mn-cs"/>
                        </a:rPr>
                        <a:t>D</a:t>
                      </a:r>
                      <a:r>
                        <a:rPr lang="vi-VN" sz="1200" b="0" strike="noStrike" kern="1200" spc="-1" dirty="0">
                          <a:solidFill>
                            <a:srgbClr val="000000"/>
                          </a:solidFill>
                          <a:latin typeface="+mn-lt"/>
                          <a:ea typeface="Microsoft JhengHei" panose="020B0604030504040204" pitchFamily="34" charset="-120"/>
                          <a:cs typeface="+mn-cs"/>
                        </a:rPr>
                        <a:t>ate</a:t>
                      </a:r>
                      <a:r>
                        <a:rPr lang="en-US" sz="1200" b="0" strike="noStrike" kern="1200" spc="-1" dirty="0">
                          <a:solidFill>
                            <a:srgbClr val="000000"/>
                          </a:solidFill>
                          <a:latin typeface="+mn-lt"/>
                          <a:ea typeface="Microsoft JhengHei" panose="020B0604030504040204" pitchFamily="34" charset="-120"/>
                          <a:cs typeface="+mn-cs"/>
                        </a:rPr>
                        <a:t>:</a:t>
                      </a:r>
                      <a:r>
                        <a:rPr lang="vi-VN" sz="1200" b="0" strike="noStrike" kern="1200" spc="-1" dirty="0">
                          <a:solidFill>
                            <a:srgbClr val="000000"/>
                          </a:solidFill>
                          <a:latin typeface="+mn-lt"/>
                          <a:ea typeface="Microsoft JhengHei" panose="020B0604030504040204" pitchFamily="34" charset="-120"/>
                          <a:cs typeface="+mn-cs"/>
                        </a:rPr>
                        <a:t> </a:t>
                      </a:r>
                      <a:r>
                        <a:rPr lang="en-US" sz="1200" b="0" strike="noStrike" kern="1200" spc="-1" dirty="0">
                          <a:solidFill>
                            <a:srgbClr val="0000CC"/>
                          </a:solidFill>
                          <a:latin typeface="+mn-lt"/>
                          <a:ea typeface="Microsoft JhengHei" panose="020B0604030504040204" pitchFamily="34" charset="-120"/>
                          <a:cs typeface="+mn-cs"/>
                        </a:rPr>
                        <a:t>D </a:t>
                      </a:r>
                      <a:r>
                        <a:rPr lang="vi-VN" sz="1200" b="0" strike="noStrike" kern="1200" spc="-1" dirty="0">
                          <a:solidFill>
                            <a:srgbClr val="0000CC"/>
                          </a:solidFill>
                          <a:latin typeface="+mn-lt"/>
                          <a:ea typeface="Microsoft JhengHei" panose="020B0604030504040204" pitchFamily="34" charset="-120"/>
                          <a:cs typeface="+mn-cs"/>
                        </a:rPr>
                        <a:t>days</a:t>
                      </a:r>
                      <a:endParaRPr lang="vi-VN" sz="1200" b="0" strike="noStrike" kern="1200" spc="-1" dirty="0">
                        <a:solidFill>
                          <a:schemeClr val="tx1"/>
                        </a:solidFill>
                        <a:latin typeface="+mn-lt"/>
                        <a:ea typeface="Microsoft JhengHei"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D+5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0138256"/>
                  </a:ext>
                </a:extLst>
              </a:tr>
              <a:tr h="340536">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LLM</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tab pos="0" algn="l"/>
                        </a:tabLst>
                        <a:defRPr/>
                      </a:pPr>
                      <a:r>
                        <a:rPr lang="vi-VN" sz="1200" b="0" strike="noStrike" spc="-1" dirty="0">
                          <a:latin typeface="+mj-lt"/>
                          <a:ea typeface="Microsoft JhengHei" panose="020B0604030504040204" pitchFamily="34" charset="-120"/>
                        </a:rPr>
                        <a:t>S</a:t>
                      </a:r>
                      <a:r>
                        <a:rPr lang="en-US" sz="1200" b="0" strike="noStrike" spc="-1" dirty="0" err="1">
                          <a:latin typeface="+mj-lt"/>
                          <a:ea typeface="Microsoft JhengHei" panose="020B0604030504040204" pitchFamily="34" charset="-120"/>
                        </a:rPr>
                        <a:t>ubmit</a:t>
                      </a:r>
                      <a:r>
                        <a:rPr lang="en-US" sz="1200" b="0" strike="noStrike" spc="-1" dirty="0">
                          <a:latin typeface="+mj-lt"/>
                          <a:ea typeface="Microsoft JhengHei" panose="020B0604030504040204" pitchFamily="34" charset="-120"/>
                        </a:rPr>
                        <a:t> internet application for IOC access with updated port</a:t>
                      </a:r>
                      <a:r>
                        <a:rPr lang="vi-VN" sz="1200" b="0" strike="noStrike" spc="-1" dirty="0">
                          <a:latin typeface="+mj-lt"/>
                          <a:ea typeface="Microsoft JhengHei" panose="020B0604030504040204" pitchFamily="34" charset="-120"/>
                        </a:rPr>
                        <a:t>- </a:t>
                      </a:r>
                      <a:r>
                        <a:rPr lang="vi-VN" sz="1200" b="0" strike="noStrike" spc="-1" dirty="0">
                          <a:highlight>
                            <a:srgbClr val="FFFF00"/>
                          </a:highlight>
                          <a:latin typeface="+mj-lt"/>
                          <a:ea typeface="Microsoft JhengHei" panose="020B0604030504040204" pitchFamily="34" charset="-120"/>
                        </a:rPr>
                        <a:t>On-going- </a:t>
                      </a:r>
                      <a:r>
                        <a:rPr lang="zh-CN" altLang="en-US" sz="1200" b="0" strike="noStrike" spc="-1" dirty="0">
                          <a:highlight>
                            <a:srgbClr val="FFFF00"/>
                          </a:highlight>
                          <a:latin typeface="+mj-lt"/>
                          <a:ea typeface="Microsoft JhengHei" panose="020B0604030504040204" pitchFamily="34" charset="-120"/>
                        </a:rPr>
                        <a:t>阮功俊英</a:t>
                      </a:r>
                      <a:r>
                        <a:rPr lang="vi-VN" altLang="zh-CN" sz="1200" b="0" strike="noStrike" spc="-1" dirty="0">
                          <a:highlight>
                            <a:srgbClr val="FFFF00"/>
                          </a:highlight>
                          <a:latin typeface="+mj-lt"/>
                          <a:ea typeface="Microsoft JhengHei" panose="020B0604030504040204" pitchFamily="34" charset="-120"/>
                        </a:rPr>
                        <a:t>,</a:t>
                      </a:r>
                      <a:r>
                        <a:rPr lang="zh-CN" altLang="en-US" sz="1200" b="0" strike="noStrike" spc="-1" dirty="0">
                          <a:highlight>
                            <a:srgbClr val="FFFF00"/>
                          </a:highlight>
                          <a:latin typeface="+mj-lt"/>
                          <a:ea typeface="Microsoft JhengHei" panose="020B0604030504040204" pitchFamily="34" charset="-120"/>
                        </a:rPr>
                        <a:t> 潘落興</a:t>
                      </a:r>
                      <a:endParaRPr lang="vi-VN" altLang="zh-CN" sz="1200" b="0" strike="noStrike" spc="-1" dirty="0">
                        <a:highlight>
                          <a:srgbClr val="FFFF00"/>
                        </a:highlight>
                        <a:latin typeface="+mj-lt"/>
                        <a:ea typeface="Microsoft JhengHei"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vi-VN" altLang="zh-CN" sz="1200" b="0" strike="noStrike" spc="-1" dirty="0">
                          <a:latin typeface="+mj-lt"/>
                          <a:ea typeface="Microsoft JhengHei" panose="020B0604030504040204" pitchFamily="34" charset="-120"/>
                          <a:sym typeface="Wingdings" panose="05000000000000000000" pitchFamily="2" charset="2"/>
                        </a:rPr>
                        <a:t> </a:t>
                      </a:r>
                      <a:r>
                        <a:rPr lang="en-US" sz="1200" b="0" strike="noStrike" kern="1200" spc="-1" dirty="0">
                          <a:solidFill>
                            <a:srgbClr val="000000"/>
                          </a:solidFill>
                          <a:latin typeface="+mn-lt"/>
                          <a:ea typeface="Microsoft JhengHei" panose="020B0604030504040204" pitchFamily="34" charset="-120"/>
                          <a:cs typeface="+mn-cs"/>
                        </a:rPr>
                        <a:t>The application has been submitted and is awaiting approval.</a:t>
                      </a:r>
                      <a:endParaRPr lang="vi-VN" altLang="zh-CN" sz="1200" b="0" strike="noStrike" spc="-1" dirty="0">
                        <a:highlight>
                          <a:srgbClr val="FFFF00"/>
                        </a:highlight>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D</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3592795"/>
                  </a:ext>
                </a:extLst>
              </a:tr>
              <a:tr h="204322">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kern="1200" spc="-1" dirty="0">
                          <a:solidFill>
                            <a:schemeClr val="tx1"/>
                          </a:solidFill>
                          <a:latin typeface="+mn-lt"/>
                          <a:ea typeface="Microsoft JhengHei" panose="020B0604030504040204" pitchFamily="34" charset="-120"/>
                          <a:cs typeface="+mn-cs"/>
                        </a:rPr>
                        <a:t>2. Deploy ioc </a:t>
                      </a:r>
                      <a:r>
                        <a:rPr lang="vi-VN" sz="1200" b="0" strike="noStrike" kern="1200" spc="-1">
                          <a:solidFill>
                            <a:schemeClr val="tx1"/>
                          </a:solidFill>
                          <a:latin typeface="+mn-lt"/>
                          <a:ea typeface="Microsoft JhengHei" panose="020B0604030504040204" pitchFamily="34" charset="-120"/>
                          <a:cs typeface="+mn-cs"/>
                        </a:rPr>
                        <a:t>service- </a:t>
                      </a:r>
                      <a:r>
                        <a:rPr lang="vi-VN" sz="1200" b="0" strike="noStrike" kern="1200" spc="-1">
                          <a:solidFill>
                            <a:schemeClr val="tx1"/>
                          </a:solidFill>
                          <a:highlight>
                            <a:srgbClr val="FFFF00"/>
                          </a:highlight>
                          <a:latin typeface="+mn-lt"/>
                          <a:ea typeface="Microsoft JhengHei" panose="020B0604030504040204" pitchFamily="34" charset="-120"/>
                          <a:cs typeface="+mn-cs"/>
                        </a:rPr>
                        <a:t>Ongoing- </a:t>
                      </a:r>
                      <a:r>
                        <a:rPr lang="en-US" sz="1200" b="0" strike="noStrike" kern="1200" spc="-1">
                          <a:solidFill>
                            <a:schemeClr val="tx1"/>
                          </a:solidFill>
                          <a:highlight>
                            <a:srgbClr val="FFFF00"/>
                          </a:highlight>
                          <a:latin typeface="+mn-lt"/>
                          <a:ea typeface="Microsoft JhengHei" panose="020B0604030504040204" pitchFamily="34" charset="-120"/>
                          <a:cs typeface="+mn-cs"/>
                        </a:rPr>
                        <a:t>TAR</a:t>
                      </a:r>
                      <a:r>
                        <a:rPr lang="en-US" altLang="zh-CN" sz="1200" b="0" strike="noStrike" kern="1200" spc="-1">
                          <a:solidFill>
                            <a:schemeClr val="tx1"/>
                          </a:solidFill>
                          <a:highlight>
                            <a:srgbClr val="FFFF00"/>
                          </a:highlight>
                          <a:latin typeface="+mn-lt"/>
                          <a:ea typeface="Microsoft JhengHei" panose="020B0604030504040204" pitchFamily="34" charset="-120"/>
                          <a:cs typeface="+mn-cs"/>
                        </a:rPr>
                        <a:t>G</a:t>
                      </a:r>
                      <a:r>
                        <a:rPr lang="zh-CN" altLang="en-US" sz="1200" b="0" strike="noStrike" kern="1200" spc="-1">
                          <a:solidFill>
                            <a:schemeClr val="tx1"/>
                          </a:solidFill>
                          <a:highlight>
                            <a:srgbClr val="FFFF00"/>
                          </a:highlight>
                          <a:latin typeface="+mn-lt"/>
                          <a:ea typeface="Microsoft JhengHei" panose="020B0604030504040204" pitchFamily="34" charset="-120"/>
                          <a:cs typeface="+mn-cs"/>
                        </a:rPr>
                        <a:t>袁小利</a:t>
                      </a:r>
                      <a:endParaRPr lang="vi-VN" altLang="zh-CN" sz="1200" b="0" strike="noStrike" kern="1200" spc="-1" dirty="0">
                        <a:solidFill>
                          <a:schemeClr val="tx1"/>
                        </a:solidFill>
                        <a:highlight>
                          <a:srgbClr val="FFFF00"/>
                        </a:highlight>
                        <a:latin typeface="+mn-lt"/>
                        <a:ea typeface="Microsoft JhengHei"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D+7</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0396005"/>
                  </a:ext>
                </a:extLst>
              </a:tr>
              <a:tr h="204322">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kern="1200" spc="-1" dirty="0">
                          <a:solidFill>
                            <a:schemeClr val="tx1"/>
                          </a:solidFill>
                          <a:latin typeface="+mn-lt"/>
                          <a:ea typeface="Microsoft JhengHei" panose="020B0604030504040204" pitchFamily="34" charset="-120"/>
                          <a:cs typeface="+mn-cs"/>
                        </a:rPr>
                        <a:t>3. Test LLM function - </a:t>
                      </a:r>
                      <a:r>
                        <a:rPr lang="zh-CN" altLang="en-US" sz="1200" b="0" strike="noStrike" kern="1200" spc="-1" dirty="0">
                          <a:solidFill>
                            <a:schemeClr val="tx1"/>
                          </a:solidFill>
                          <a:latin typeface="+mn-lt"/>
                          <a:ea typeface="Microsoft JhengHei" panose="020B0604030504040204" pitchFamily="34" charset="-120"/>
                          <a:cs typeface="+mn-cs"/>
                        </a:rPr>
                        <a:t>鄧潘英 </a:t>
                      </a:r>
                      <a:endParaRPr lang="en-US" sz="1200" b="0" strike="noStrike" kern="1200" spc="-1" dirty="0">
                        <a:solidFill>
                          <a:schemeClr val="tx1"/>
                        </a:solidFill>
                        <a:latin typeface="+mn-lt"/>
                        <a:ea typeface="Microsoft JhengHei"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D+12</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8616985"/>
                  </a:ext>
                </a:extLst>
              </a:tr>
              <a:tr h="340536">
                <a:tc rowSpan="3">
                  <a:txBody>
                    <a:bodyPr/>
                    <a:lstStyle/>
                    <a:p>
                      <a:pPr algn="ctr">
                        <a:lnSpc>
                          <a:spcPct val="100000"/>
                        </a:lnSpc>
                        <a:buNone/>
                      </a:pPr>
                      <a:r>
                        <a:rPr lang="vi-VN" sz="1200" b="0" strike="noStrike" spc="-1" dirty="0">
                          <a:latin typeface="+mj-lt"/>
                          <a:ea typeface="Microsoft JhengHei" panose="020B0604030504040204" pitchFamily="34" charset="-120"/>
                        </a:rPr>
                        <a:t>5</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a:lnSpc>
                          <a:spcPct val="100000"/>
                        </a:lnSpc>
                        <a:buNone/>
                        <a:tabLst>
                          <a:tab pos="0" algn="l"/>
                        </a:tabLst>
                      </a:pPr>
                      <a:r>
                        <a:rPr lang="vi-VN" sz="1200" b="0" strike="noStrike" spc="-1" dirty="0">
                          <a:latin typeface="+mj-lt"/>
                          <a:ea typeface="Microsoft JhengHei" panose="020B0604030504040204" pitchFamily="34" charset="-120"/>
                        </a:rPr>
                        <a:t>LLM</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tab pos="0" algn="l"/>
                        </a:tabLst>
                        <a:defRPr/>
                      </a:pPr>
                      <a:r>
                        <a:rPr lang="vi-VN" sz="1200" dirty="0"/>
                        <a:t>S</a:t>
                      </a:r>
                      <a:r>
                        <a:rPr lang="en-US" sz="1200" dirty="0" err="1"/>
                        <a:t>ubmit</a:t>
                      </a:r>
                      <a:r>
                        <a:rPr lang="en-US" sz="1200" dirty="0"/>
                        <a:t> internet application for IOC access with updated port</a:t>
                      </a:r>
                      <a:r>
                        <a:rPr lang="vi-VN" sz="1200" b="0" strike="noStrike" kern="1200" spc="-1" dirty="0">
                          <a:solidFill>
                            <a:schemeClr val="tx1"/>
                          </a:solidFill>
                          <a:latin typeface="+mn-lt"/>
                          <a:ea typeface="Microsoft JhengHei" panose="020B0604030504040204" pitchFamily="34" charset="-120"/>
                          <a:cs typeface="+mn-cs"/>
                        </a:rPr>
                        <a:t>- </a:t>
                      </a:r>
                      <a:r>
                        <a:rPr lang="vi-VN" sz="1200" b="0" strike="noStrike" kern="1200" spc="-1" dirty="0">
                          <a:solidFill>
                            <a:schemeClr val="tx1"/>
                          </a:solidFill>
                          <a:highlight>
                            <a:srgbClr val="FFFF00"/>
                          </a:highlight>
                          <a:latin typeface="+mn-lt"/>
                          <a:ea typeface="Microsoft JhengHei" panose="020B0604030504040204" pitchFamily="34" charset="-120"/>
                          <a:cs typeface="+mn-cs"/>
                        </a:rPr>
                        <a:t>On-going- </a:t>
                      </a:r>
                      <a:r>
                        <a:rPr lang="zh-CN" altLang="en-US" sz="1200" b="0" strike="noStrike" kern="1200" spc="-1" dirty="0">
                          <a:solidFill>
                            <a:schemeClr val="tx1"/>
                          </a:solidFill>
                          <a:highlight>
                            <a:srgbClr val="FFFF00"/>
                          </a:highlight>
                          <a:latin typeface="+mn-lt"/>
                          <a:ea typeface="Microsoft JhengHei" panose="020B0604030504040204" pitchFamily="34" charset="-120"/>
                          <a:cs typeface="+mn-cs"/>
                        </a:rPr>
                        <a:t>阮功俊英</a:t>
                      </a:r>
                      <a:r>
                        <a:rPr lang="vi-VN" altLang="zh-CN" sz="1200" b="0" strike="noStrike" kern="1200" spc="-1" dirty="0">
                          <a:solidFill>
                            <a:schemeClr val="tx1"/>
                          </a:solidFill>
                          <a:highlight>
                            <a:srgbClr val="FFFF00"/>
                          </a:highlight>
                          <a:latin typeface="+mn-lt"/>
                          <a:ea typeface="Microsoft JhengHei" panose="020B0604030504040204" pitchFamily="34" charset="-120"/>
                          <a:cs typeface="+mn-cs"/>
                        </a:rPr>
                        <a:t>,</a:t>
                      </a:r>
                      <a:r>
                        <a:rPr lang="zh-CN" altLang="en-US" sz="1200" b="0" strike="noStrike" kern="1200" spc="-1" dirty="0">
                          <a:solidFill>
                            <a:schemeClr val="tx1"/>
                          </a:solidFill>
                          <a:highlight>
                            <a:srgbClr val="FFFF00"/>
                          </a:highlight>
                          <a:latin typeface="+mn-lt"/>
                          <a:ea typeface="Microsoft JhengHei" panose="020B0604030504040204" pitchFamily="34" charset="-120"/>
                          <a:cs typeface="+mn-cs"/>
                        </a:rPr>
                        <a:t> 潘落興</a:t>
                      </a:r>
                      <a:endParaRPr lang="vi-VN" altLang="zh-CN" sz="1200" b="0" strike="noStrike" kern="1200" spc="-1" dirty="0">
                        <a:solidFill>
                          <a:schemeClr val="tx1"/>
                        </a:solidFill>
                        <a:highlight>
                          <a:srgbClr val="FFFF00"/>
                        </a:highlight>
                        <a:latin typeface="+mn-lt"/>
                        <a:ea typeface="Microsoft JhengHei"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vi-VN" altLang="zh-CN" sz="1200" b="0" strike="noStrike" kern="1200" spc="-1" dirty="0">
                          <a:solidFill>
                            <a:schemeClr val="tx1"/>
                          </a:solidFill>
                          <a:latin typeface="+mn-lt"/>
                          <a:ea typeface="Microsoft JhengHei" panose="020B0604030504040204" pitchFamily="34" charset="-120"/>
                          <a:cs typeface="+mn-cs"/>
                          <a:sym typeface="Wingdings" panose="05000000000000000000" pitchFamily="2" charset="2"/>
                        </a:rPr>
                        <a:t> </a:t>
                      </a:r>
                      <a:r>
                        <a:rPr lang="en-US" sz="1200" b="0" strike="noStrike" kern="1200" spc="-1" dirty="0">
                          <a:solidFill>
                            <a:srgbClr val="000000"/>
                          </a:solidFill>
                          <a:latin typeface="+mn-lt"/>
                          <a:ea typeface="Microsoft JhengHei" panose="020B0604030504040204" pitchFamily="34" charset="-120"/>
                          <a:cs typeface="+mn-cs"/>
                        </a:rPr>
                        <a:t>The application has been submitted and is awaiting approval.</a:t>
                      </a:r>
                      <a:endParaRPr lang="vi-VN" altLang="zh-CN" sz="1200" b="0" strike="noStrike" kern="1200" spc="-1" dirty="0">
                        <a:solidFill>
                          <a:schemeClr val="tx1"/>
                        </a:solidFill>
                        <a:highlight>
                          <a:srgbClr val="FFFF00"/>
                        </a:highlight>
                        <a:latin typeface="+mn-lt"/>
                        <a:ea typeface="Microsoft JhengHei"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spc="-1" dirty="0">
                          <a:latin typeface="+mj-lt"/>
                          <a:ea typeface="Microsoft JhengHei" panose="020B0604030504040204" pitchFamily="34" charset="-120"/>
                        </a:rPr>
                        <a:t>D</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1276119"/>
                  </a:ext>
                </a:extLst>
              </a:tr>
              <a:tr h="204322">
                <a:tc vMerge="1">
                  <a:txBody>
                    <a:bodyPr/>
                    <a:lstStyle/>
                    <a:p>
                      <a:endParaRPr lang="en-US"/>
                    </a:p>
                  </a:txBody>
                  <a:tcPr/>
                </a:tc>
                <a:tc vMerge="1">
                  <a:txBody>
                    <a:bodyPr/>
                    <a:lstStyle/>
                    <a:p>
                      <a:endParaRPr lang="en-US"/>
                    </a:p>
                  </a:txBody>
                  <a:tcPr/>
                </a:tc>
                <a:tc>
                  <a:txBody>
                    <a:bodyPr/>
                    <a:lstStyle/>
                    <a:p>
                      <a:pPr algn="l">
                        <a:lnSpc>
                          <a:spcPct val="100000"/>
                        </a:lnSpc>
                        <a:buNone/>
                        <a:tabLst>
                          <a:tab pos="0" algn="l"/>
                        </a:tabLst>
                      </a:pPr>
                      <a:r>
                        <a:rPr lang="vi-VN" sz="1200" b="0" strike="noStrike" kern="1200" spc="-1" dirty="0">
                          <a:solidFill>
                            <a:schemeClr val="tx1"/>
                          </a:solidFill>
                          <a:latin typeface="+mn-lt"/>
                          <a:ea typeface="Microsoft JhengHei" panose="020B0604030504040204" pitchFamily="34" charset="-120"/>
                          <a:cs typeface="+mn-cs"/>
                        </a:rPr>
                        <a:t>2. Deploy </a:t>
                      </a:r>
                      <a:r>
                        <a:rPr lang="vi-VN" sz="1200" b="0" strike="noStrike" kern="1200" spc="-1">
                          <a:solidFill>
                            <a:schemeClr val="tx1"/>
                          </a:solidFill>
                          <a:latin typeface="+mn-lt"/>
                          <a:ea typeface="Microsoft JhengHei" panose="020B0604030504040204" pitchFamily="34" charset="-120"/>
                          <a:cs typeface="+mn-cs"/>
                        </a:rPr>
                        <a:t>ioc service</a:t>
                      </a:r>
                      <a:r>
                        <a:rPr lang="en-US" sz="1200" b="0" strike="noStrike" kern="1200" spc="-1">
                          <a:solidFill>
                            <a:schemeClr val="tx1"/>
                          </a:solidFill>
                          <a:latin typeface="+mn-lt"/>
                          <a:ea typeface="Microsoft JhengHei" panose="020B0604030504040204" pitchFamily="34" charset="-120"/>
                          <a:cs typeface="+mn-cs"/>
                        </a:rPr>
                        <a:t> </a:t>
                      </a:r>
                      <a:r>
                        <a:rPr lang="vi-VN" sz="1200" b="0" strike="noStrike" kern="1200" spc="-1">
                          <a:solidFill>
                            <a:schemeClr val="tx1"/>
                          </a:solidFill>
                          <a:latin typeface="+mn-lt"/>
                          <a:ea typeface="Microsoft JhengHei" panose="020B0604030504040204" pitchFamily="34" charset="-120"/>
                          <a:cs typeface="+mn-cs"/>
                        </a:rPr>
                        <a:t>- </a:t>
                      </a:r>
                      <a:r>
                        <a:rPr lang="vi-VN" sz="1200" b="0" strike="noStrike" kern="1200" spc="-1">
                          <a:solidFill>
                            <a:schemeClr val="tx1"/>
                          </a:solidFill>
                          <a:highlight>
                            <a:srgbClr val="FFFF00"/>
                          </a:highlight>
                          <a:latin typeface="+mn-lt"/>
                          <a:ea typeface="Microsoft JhengHei" panose="020B0604030504040204" pitchFamily="34" charset="-120"/>
                          <a:cs typeface="+mn-cs"/>
                        </a:rPr>
                        <a:t>Ongoing- </a:t>
                      </a:r>
                      <a:r>
                        <a:rPr lang="en-US" sz="1200" b="0" strike="noStrike" kern="1200" spc="-1">
                          <a:solidFill>
                            <a:schemeClr val="tx1"/>
                          </a:solidFill>
                          <a:highlight>
                            <a:srgbClr val="FFFF00"/>
                          </a:highlight>
                          <a:latin typeface="+mn-lt"/>
                          <a:ea typeface="Microsoft JhengHei" panose="020B0604030504040204" pitchFamily="34" charset="-120"/>
                          <a:cs typeface="+mn-cs"/>
                        </a:rPr>
                        <a:t>TAR</a:t>
                      </a:r>
                      <a:r>
                        <a:rPr lang="en-US" altLang="zh-CN" sz="1200" b="0" strike="noStrike" kern="1200" spc="-1">
                          <a:solidFill>
                            <a:schemeClr val="tx1"/>
                          </a:solidFill>
                          <a:highlight>
                            <a:srgbClr val="FFFF00"/>
                          </a:highlight>
                          <a:latin typeface="+mn-lt"/>
                          <a:ea typeface="Microsoft JhengHei" panose="020B0604030504040204" pitchFamily="34" charset="-120"/>
                          <a:cs typeface="+mn-cs"/>
                        </a:rPr>
                        <a:t>G</a:t>
                      </a:r>
                      <a:r>
                        <a:rPr lang="zh-CN" altLang="en-US" sz="1200" b="0" strike="noStrike" kern="1200" spc="-1">
                          <a:solidFill>
                            <a:schemeClr val="tx1"/>
                          </a:solidFill>
                          <a:highlight>
                            <a:srgbClr val="FFFF00"/>
                          </a:highlight>
                          <a:latin typeface="+mn-lt"/>
                          <a:ea typeface="Microsoft JhengHei" panose="020B0604030504040204" pitchFamily="34" charset="-120"/>
                          <a:cs typeface="+mn-cs"/>
                        </a:rPr>
                        <a:t>袁小利</a:t>
                      </a:r>
                      <a:endParaRPr lang="vi-VN" altLang="zh-CN" sz="1200" b="0" strike="noStrike" kern="1200" spc="-1" dirty="0">
                        <a:solidFill>
                          <a:schemeClr val="tx1"/>
                        </a:solidFill>
                        <a:highlight>
                          <a:srgbClr val="FFFF00"/>
                        </a:highlight>
                        <a:latin typeface="+mn-lt"/>
                        <a:ea typeface="Microsoft JhengHei"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spc="-1" dirty="0">
                          <a:latin typeface="+mj-lt"/>
                          <a:ea typeface="Microsoft JhengHei" panose="020B0604030504040204" pitchFamily="34" charset="-120"/>
                        </a:rPr>
                        <a:t>D+7</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73405660"/>
                  </a:ext>
                </a:extLst>
              </a:tr>
              <a:tr h="204322">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kern="1200" spc="-1" dirty="0">
                          <a:solidFill>
                            <a:schemeClr val="tx1"/>
                          </a:solidFill>
                          <a:latin typeface="+mn-lt"/>
                          <a:ea typeface="Microsoft JhengHei" panose="020B0604030504040204" pitchFamily="34" charset="-120"/>
                          <a:cs typeface="+mn-cs"/>
                        </a:rPr>
                        <a:t>3. Test LLM function -</a:t>
                      </a:r>
                      <a:r>
                        <a:rPr lang="zh-CN" altLang="en-US" sz="1200" b="0" strike="noStrike" kern="1200" spc="-1" dirty="0">
                          <a:solidFill>
                            <a:schemeClr val="tx1"/>
                          </a:solidFill>
                          <a:latin typeface="+mn-lt"/>
                          <a:ea typeface="Microsoft JhengHei" panose="020B0604030504040204" pitchFamily="34" charset="-120"/>
                          <a:cs typeface="+mn-cs"/>
                        </a:rPr>
                        <a:t>阮功俊英</a:t>
                      </a:r>
                      <a:endParaRPr lang="en-US" sz="1200" b="0" strike="noStrike" kern="1200" spc="-1" dirty="0">
                        <a:solidFill>
                          <a:schemeClr val="tx1"/>
                        </a:solidFill>
                        <a:latin typeface="+mn-lt"/>
                        <a:ea typeface="Microsoft JhengHei"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vi-VN" sz="1200" b="0" strike="noStrike" spc="-1" dirty="0">
                          <a:latin typeface="+mj-lt"/>
                          <a:ea typeface="Microsoft JhengHei" panose="020B0604030504040204" pitchFamily="34" charset="-120"/>
                        </a:rPr>
                        <a:t>D+12</a:t>
                      </a:r>
                      <a:endParaRPr lang="en-US" sz="1200" b="0" strike="noStrike" spc="-1" dirty="0">
                        <a:latin typeface="+mj-lt"/>
                        <a:ea typeface="Microsoft JhengHei"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3785805"/>
                  </a:ext>
                </a:extLst>
              </a:tr>
            </a:tbl>
          </a:graphicData>
        </a:graphic>
      </p:graphicFrame>
      <p:sp>
        <p:nvSpPr>
          <p:cNvPr id="5" name="TextBox 1">
            <a:extLst>
              <a:ext uri="{FF2B5EF4-FFF2-40B4-BE49-F238E27FC236}">
                <a16:creationId xmlns:a16="http://schemas.microsoft.com/office/drawing/2014/main" id="{275C97E4-0265-7162-D193-862814B8655F}"/>
              </a:ext>
            </a:extLst>
          </p:cNvPr>
          <p:cNvSpPr/>
          <p:nvPr/>
        </p:nvSpPr>
        <p:spPr>
          <a:xfrm>
            <a:off x="9954882" y="0"/>
            <a:ext cx="2237117"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r>
              <a:rPr lang="en-US" sz="1200" spc="-1" dirty="0">
                <a:solidFill>
                  <a:srgbClr val="000000"/>
                </a:solidFill>
                <a:latin typeface="Microsoft JhengHei" panose="020B0604030504040204" pitchFamily="34" charset="-120"/>
                <a:ea typeface="Microsoft JhengHei" panose="020B0604030504040204" pitchFamily="34" charset="-120"/>
              </a:rPr>
              <a:t>OT： DT </a:t>
            </a:r>
            <a:r>
              <a:rPr lang="zh-CN" altLang="en-US" sz="1200" spc="-1" dirty="0">
                <a:solidFill>
                  <a:srgbClr val="000000"/>
                </a:solidFill>
                <a:latin typeface="Microsoft JhengHei" panose="020B0604030504040204" pitchFamily="34" charset="-120"/>
                <a:ea typeface="Microsoft JhengHei" panose="020B0604030504040204" pitchFamily="34" charset="-120"/>
              </a:rPr>
              <a:t>黃趙五</a:t>
            </a:r>
            <a:r>
              <a:rPr lang="en-US" altLang="zh-CN" sz="1200" spc="-1" dirty="0">
                <a:solidFill>
                  <a:srgbClr val="000000"/>
                </a:solidFill>
                <a:latin typeface="Microsoft JhengHei" panose="020B0604030504040204" pitchFamily="34" charset="-120"/>
                <a:ea typeface="Microsoft JhengHei" panose="020B0604030504040204" pitchFamily="34" charset="-120"/>
              </a:rPr>
              <a:t>; </a:t>
            </a:r>
            <a:r>
              <a:rPr lang="en-US" sz="1200" spc="-1" dirty="0">
                <a:solidFill>
                  <a:srgbClr val="000000"/>
                </a:solidFill>
                <a:latin typeface="Microsoft JhengHei" panose="020B0604030504040204" pitchFamily="34" charset="-120"/>
                <a:ea typeface="Microsoft JhengHei" panose="020B0604030504040204" pitchFamily="34" charset="-120"/>
              </a:rPr>
              <a:t>AT: AI </a:t>
            </a:r>
            <a:r>
              <a:rPr lang="zh-CN" altLang="en-US" sz="1200" spc="-1" dirty="0">
                <a:solidFill>
                  <a:srgbClr val="000000"/>
                </a:solidFill>
                <a:latin typeface="Microsoft JhengHei" panose="020B0604030504040204" pitchFamily="34" charset="-120"/>
                <a:ea typeface="Microsoft JhengHei" panose="020B0604030504040204" pitchFamily="34" charset="-120"/>
              </a:rPr>
              <a:t>潘洛興</a:t>
            </a:r>
            <a:endParaRPr lang="en-US" sz="1200" b="0" strike="noStrike" spc="-1" dirty="0">
              <a:latin typeface="Microsoft JhengHei" panose="020B0604030504040204" pitchFamily="34" charset="-120"/>
              <a:ea typeface="Microsoft JhengHei" panose="020B0604030504040204" pitchFamily="34" charset="-120"/>
            </a:endParaRPr>
          </a:p>
        </p:txBody>
      </p:sp>
      <p:sp>
        <p:nvSpPr>
          <p:cNvPr id="12" name="TextBox 11">
            <a:extLst>
              <a:ext uri="{FF2B5EF4-FFF2-40B4-BE49-F238E27FC236}">
                <a16:creationId xmlns:a16="http://schemas.microsoft.com/office/drawing/2014/main" id="{A15C9A3E-CB50-1690-7C1B-855D5D94C448}"/>
              </a:ext>
            </a:extLst>
          </p:cNvPr>
          <p:cNvSpPr txBox="1"/>
          <p:nvPr/>
        </p:nvSpPr>
        <p:spPr>
          <a:xfrm flipH="1">
            <a:off x="-8149" y="0"/>
            <a:ext cx="10533274" cy="276999"/>
          </a:xfrm>
          <a:prstGeom prst="rect">
            <a:avLst/>
          </a:prstGeom>
          <a:noFill/>
        </p:spPr>
        <p:txBody>
          <a:bodyPr wrap="square" rtlCol="0">
            <a:spAutoFit/>
          </a:bodyPr>
          <a:lstStyle/>
          <a:p>
            <a:pPr>
              <a:buClr>
                <a:srgbClr val="406196"/>
              </a:buClr>
            </a:pPr>
            <a:r>
              <a:rPr lang="en-US" altLang="zh-CN" sz="1200">
                <a:solidFill>
                  <a:srgbClr val="0000CC"/>
                </a:solidFill>
                <a:latin typeface="Microsoft JhengHei" panose="020B0604030504040204" pitchFamily="34" charset="-120"/>
                <a:ea typeface="Microsoft JhengHei" panose="020B0604030504040204" pitchFamily="34" charset="-120"/>
                <a:cs typeface="Times New Roman" panose="02020603050405020304" pitchFamily="18" charset="0"/>
              </a:rPr>
              <a:t>Phase 1: Install usecase 1,2,3,5 on DT's Server_10.72.75.14 (2x GPU-PRO6000)</a:t>
            </a:r>
            <a:endParaRPr lang="en-US" altLang="zh-CN" sz="1200" dirty="0">
              <a:solidFill>
                <a:srgbClr val="0000CC"/>
              </a:solidFill>
              <a:latin typeface="Microsoft JhengHei" panose="020B0604030504040204" pitchFamily="34" charset="-12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732455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9DB2F8-87E4-5CC9-66BB-F6A3C2A7F0A0}"/>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1E06B5D4-40D4-005D-EA69-CCDA71C9BA48}"/>
              </a:ext>
            </a:extLst>
          </p:cNvPr>
          <p:cNvSpPr/>
          <p:nvPr/>
        </p:nvSpPr>
        <p:spPr>
          <a:xfrm>
            <a:off x="9954882" y="0"/>
            <a:ext cx="2237117"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r>
              <a:rPr lang="en-US" sz="1200" spc="-1" dirty="0">
                <a:solidFill>
                  <a:srgbClr val="000000"/>
                </a:solidFill>
                <a:latin typeface="Microsoft JhengHei" panose="020B0604030504040204" pitchFamily="34" charset="-120"/>
                <a:ea typeface="Microsoft JhengHei" panose="020B0604030504040204" pitchFamily="34" charset="-120"/>
              </a:rPr>
              <a:t>OT： DT </a:t>
            </a:r>
            <a:r>
              <a:rPr lang="zh-CN" altLang="en-US" sz="1200" spc="-1" dirty="0">
                <a:solidFill>
                  <a:srgbClr val="000000"/>
                </a:solidFill>
                <a:latin typeface="Microsoft JhengHei" panose="020B0604030504040204" pitchFamily="34" charset="-120"/>
                <a:ea typeface="Microsoft JhengHei" panose="020B0604030504040204" pitchFamily="34" charset="-120"/>
              </a:rPr>
              <a:t>黃趙五</a:t>
            </a:r>
            <a:r>
              <a:rPr lang="en-US" altLang="zh-CN" sz="1200" spc="-1" dirty="0">
                <a:solidFill>
                  <a:srgbClr val="000000"/>
                </a:solidFill>
                <a:latin typeface="Microsoft JhengHei" panose="020B0604030504040204" pitchFamily="34" charset="-120"/>
                <a:ea typeface="Microsoft JhengHei" panose="020B0604030504040204" pitchFamily="34" charset="-120"/>
              </a:rPr>
              <a:t>; </a:t>
            </a:r>
            <a:r>
              <a:rPr lang="en-US" sz="1200" spc="-1" dirty="0">
                <a:solidFill>
                  <a:srgbClr val="000000"/>
                </a:solidFill>
                <a:latin typeface="Microsoft JhengHei" panose="020B0604030504040204" pitchFamily="34" charset="-120"/>
                <a:ea typeface="Microsoft JhengHei" panose="020B0604030504040204" pitchFamily="34" charset="-120"/>
              </a:rPr>
              <a:t>AT: AI </a:t>
            </a:r>
            <a:r>
              <a:rPr lang="zh-CN" altLang="en-US" sz="1200" spc="-1" dirty="0">
                <a:solidFill>
                  <a:srgbClr val="000000"/>
                </a:solidFill>
                <a:latin typeface="Microsoft JhengHei" panose="020B0604030504040204" pitchFamily="34" charset="-120"/>
                <a:ea typeface="Microsoft JhengHei" panose="020B0604030504040204" pitchFamily="34" charset="-120"/>
              </a:rPr>
              <a:t>潘洛興</a:t>
            </a:r>
            <a:endParaRPr lang="en-US" sz="1200" b="0" strike="noStrike" spc="-1" dirty="0">
              <a:latin typeface="Microsoft JhengHei" panose="020B0604030504040204" pitchFamily="34" charset="-120"/>
              <a:ea typeface="Microsoft JhengHei" panose="020B0604030504040204" pitchFamily="34" charset="-120"/>
            </a:endParaRPr>
          </a:p>
        </p:txBody>
      </p:sp>
      <p:pic>
        <p:nvPicPr>
          <p:cNvPr id="4" name="Picture 3">
            <a:extLst>
              <a:ext uri="{FF2B5EF4-FFF2-40B4-BE49-F238E27FC236}">
                <a16:creationId xmlns:a16="http://schemas.microsoft.com/office/drawing/2014/main" id="{AFF62445-E7EF-5744-C4A6-F05487032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6964"/>
            <a:ext cx="12192000" cy="2408572"/>
          </a:xfrm>
          <a:prstGeom prst="rect">
            <a:avLst/>
          </a:prstGeom>
          <a:ln>
            <a:solidFill>
              <a:srgbClr val="0000CC"/>
            </a:solidFill>
          </a:ln>
        </p:spPr>
      </p:pic>
      <p:sp>
        <p:nvSpPr>
          <p:cNvPr id="6" name="TextBox 5">
            <a:extLst>
              <a:ext uri="{FF2B5EF4-FFF2-40B4-BE49-F238E27FC236}">
                <a16:creationId xmlns:a16="http://schemas.microsoft.com/office/drawing/2014/main" id="{774176C1-CA24-6889-9377-D4CD18E5994B}"/>
              </a:ext>
            </a:extLst>
          </p:cNvPr>
          <p:cNvSpPr txBox="1"/>
          <p:nvPr/>
        </p:nvSpPr>
        <p:spPr>
          <a:xfrm>
            <a:off x="5135350" y="3762375"/>
            <a:ext cx="2294149" cy="276999"/>
          </a:xfrm>
          <a:prstGeom prst="rect">
            <a:avLst/>
          </a:prstGeom>
          <a:noFill/>
        </p:spPr>
        <p:txBody>
          <a:bodyPr wrap="square" rtlCol="0">
            <a:spAutoFit/>
          </a:bodyPr>
          <a:lstStyle/>
          <a:p>
            <a:r>
              <a:rPr lang="vi-VN" sz="1200" dirty="0">
                <a:latin typeface="+mn-ea"/>
              </a:rPr>
              <a:t>Fig 1. Acess Application Form</a:t>
            </a:r>
            <a:endParaRPr lang="en-US" sz="1200" dirty="0">
              <a:latin typeface="+mn-ea"/>
            </a:endParaRPr>
          </a:p>
        </p:txBody>
      </p:sp>
      <p:sp>
        <p:nvSpPr>
          <p:cNvPr id="2" name="TextBox 11">
            <a:extLst>
              <a:ext uri="{FF2B5EF4-FFF2-40B4-BE49-F238E27FC236}">
                <a16:creationId xmlns:a16="http://schemas.microsoft.com/office/drawing/2014/main" id="{5DA78981-7711-0CCA-A689-6DCFC4AF3118}"/>
              </a:ext>
            </a:extLst>
          </p:cNvPr>
          <p:cNvSpPr txBox="1"/>
          <p:nvPr/>
        </p:nvSpPr>
        <p:spPr>
          <a:xfrm flipH="1">
            <a:off x="-8149" y="0"/>
            <a:ext cx="6499484" cy="276999"/>
          </a:xfrm>
          <a:prstGeom prst="rect">
            <a:avLst/>
          </a:prstGeom>
          <a:noFill/>
        </p:spPr>
        <p:txBody>
          <a:bodyPr wrap="square" rtlCol="0">
            <a:spAutoFit/>
          </a:bodyPr>
          <a:lstStyle/>
          <a:p>
            <a:pPr>
              <a:buClr>
                <a:srgbClr val="406196"/>
              </a:buClr>
            </a:pPr>
            <a:r>
              <a:rPr lang="en-US" altLang="zh-CN" sz="1200">
                <a:solidFill>
                  <a:srgbClr val="0000CC"/>
                </a:solidFill>
                <a:latin typeface="Microsoft JhengHei" panose="020B0604030504040204" pitchFamily="34" charset="-120"/>
                <a:ea typeface="Microsoft JhengHei" panose="020B0604030504040204" pitchFamily="34" charset="-120"/>
                <a:cs typeface="Times New Roman" panose="02020603050405020304" pitchFamily="18" charset="0"/>
              </a:rPr>
              <a:t>Phase 1: Install usecase 1,2,3,5 on DT's Server_10.72.75.14 (2x GPU-PRO6000)</a:t>
            </a:r>
            <a:endParaRPr lang="en-US" altLang="zh-CN" sz="1200" dirty="0">
              <a:solidFill>
                <a:srgbClr val="0000CC"/>
              </a:solidFill>
              <a:latin typeface="Microsoft JhengHei" panose="020B0604030504040204" pitchFamily="34" charset="-12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9357942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gwYTcyMWZjMWI3NDZiYzEyNTk1MjVjNjNjMGYwOG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陈文俊 Foxconn 报告模板">
      <a:majorFont>
        <a:latin typeface="Microsoft JhengHei"/>
        <a:ea typeface="Microsoft JhengHei"/>
        <a:cs typeface=""/>
      </a:majorFont>
      <a:minorFont>
        <a:latin typeface="Microsoft JhengHe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sz="120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4ccf059-af5d-4b92-932d-3690a1231c55}" enabled="1" method="Standard" siteId="{cb3d8dcd-2ed2-4bad-89a5-e0a7195fb643}" contentBits="0" removed="0"/>
</clbl:labelList>
</file>

<file path=docProps/app.xml><?xml version="1.0" encoding="utf-8"?>
<Properties xmlns="http://schemas.openxmlformats.org/officeDocument/2006/extended-properties" xmlns:vt="http://schemas.openxmlformats.org/officeDocument/2006/docPropsVTypes">
  <Template/>
  <TotalTime>2215</TotalTime>
  <Words>2959</Words>
  <Application>Microsoft Office PowerPoint</Application>
  <PresentationFormat>Widescreen</PresentationFormat>
  <Paragraphs>422</Paragraphs>
  <Slides>13</Slides>
  <Notes>5</Notes>
  <HiddenSlides>7</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等线</vt:lpstr>
      <vt:lpstr>Microsoft JhengHei</vt:lpstr>
      <vt:lpstr>Microsoft JhengHei</vt:lpstr>
      <vt:lpstr>微软雅黑</vt:lpstr>
      <vt:lpstr>宋体</vt:lpstr>
      <vt:lpstr>思源黑体 CN Heavy</vt:lpstr>
      <vt:lpstr>思源黑体 CN Normal</vt:lpstr>
      <vt:lpstr>Arial</vt:lpstr>
      <vt:lpstr>Calibri</vt:lpstr>
      <vt:lpstr>Microsoft Himalaya</vt:lpstr>
      <vt:lpstr>Times New Roman</vt:lpstr>
      <vt:lpstr>Wingdings</vt:lpstr>
      <vt:lpstr>1_Office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 TUAN TRAN</dc:creator>
  <cp:lastModifiedBy>Nguyen Thi Lan Anh</cp:lastModifiedBy>
  <cp:revision>611</cp:revision>
  <dcterms:created xsi:type="dcterms:W3CDTF">2026-02-07T01:58:58Z</dcterms:created>
  <dcterms:modified xsi:type="dcterms:W3CDTF">2026-05-06T02:34:44Z</dcterms:modified>
</cp:coreProperties>
</file>